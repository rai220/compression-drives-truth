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78" r:id="rId27"/>
    <p:sldId id="274" r:id="rId4"/>
    <p:sldId id="257" r:id="rId5"/>
    <p:sldId id="277" r:id="rId6"/>
    <p:sldId id="259" r:id="rId8"/>
    <p:sldId id="275" r:id="rId9"/>
    <p:sldId id="261" r:id="rId11"/>
    <p:sldId id="279" r:id="rId20"/>
    <p:sldId id="262" r:id="rId12"/>
    <p:sldId id="263" r:id="rId13"/>
    <p:sldId id="266" r:id="rId15"/>
    <p:sldId id="268" r:id="rId17"/>
    <p:sldId id="269" r:id="rId18"/>
    <p:sldId id="270" r:id="rId19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5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Qwen2.5-7B</c:v>
                </c:pt>
              </c:strCache>
            </c:strRef>
          </c:tx>
          <c:spPr>
            <a:solidFill>
              <a:srgbClr val="4FD78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Претрейн
(база)</c:v>
                </c:pt>
                <c:pt idx="1">
                  <c:v>RL-zero
без SFT</c:v>
                </c:pt>
                <c:pt idx="2">
                  <c:v>SFT + RLHF
(инстракт)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44.11764705882353</c:v>
                </c:pt>
                <c:pt idx="1">
                  <c:v>43.89312977099237</c:v>
                </c:pt>
                <c:pt idx="2">
                  <c:v>73.63344051446946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Qwen3-8B</c:v>
                </c:pt>
              </c:strCache>
            </c:strRef>
          </c:tx>
          <c:spPr>
            <a:solidFill>
              <a:srgbClr val="6FB4E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Претрейн
(база)</c:v>
                </c:pt>
                <c:pt idx="1">
                  <c:v>RL-zero
без SFT</c:v>
                </c:pt>
                <c:pt idx="2">
                  <c:v>SFT + RLHF
(инстракт)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42.5</c:v>
                </c:pt>
                <c:pt idx="2">
                  <c:v>66.15384615384616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F1F5F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3756C"/>
            </a:solidFill>
          </a:ln>
        </c:spPr>
        <c:txPr>
          <a:bodyPr/>
          <a:lstStyle/>
          <a:p>
            <a:pPr>
              <a:defRPr sz="1100">
                <a:solidFill>
                  <a:srgbClr val="F1F5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22302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63756C"/>
            </a:solidFill>
          </a:ln>
        </c:spPr>
        <c:txPr>
          <a:bodyPr/>
          <a:lstStyle/>
          <a:p>
            <a:pPr>
              <a:defRPr sz="900">
                <a:solidFill>
                  <a:srgbClr val="8FA09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Байка про Рассела (апокриф, но классика курса логики). Рассела спросили: правда ли, что из ложного утверждения можно вывести что угодно? Например, из 2×2=5 вывести, что вы - Папа Римский? Рассел: 2×2=5, значит 4=5. Вычтем 3 - получим 1=2. Я и Папа - два человека, а 2=1, значит, мы один человек. Мораль: одно ложное утверждение в системе - и из него доказуемо всё, система перестаёт что-либо различать. Про импликацию: «если-то» в логике - не причина и следствие, а обещание. Нарушить его можно одним способом: A случилось, B - нет. Если A не случилось, обещание не нарушено - и считается истинным. Ex falso quodlibet - из ложного следует что угодно (закон Дунса Скота, принцип взрыва). Verum ex quolibet - истина следует из чего угодно. Вместе - «парадоксы материальной импликации». Формат карточки справа - завязка: на слайде про интернет станет понятно, откуда 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 снизу вверх: претрейн (картина мира), SFT (форма ответа), RL (вкусы и политика). Скепсис к псевдонауке в таблице с шести моделями - голос верхних слоёв. Вопрос эксперимента: есть ли у голой базы (до SFT) собственные предпочтения по взглядам. Пунктир - место среза: дальше смотрим на base-модели.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вопрос: предсказательная сила = сжимаемость = истина? Проверяем, где это равенство держится, а где ломается.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Единственное, чему учат модель, — угадывать следующий токен. Триллионы раз. Больше ничего.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Сжимаемость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Угадывать = сжимать. Это теорема, а не метафора: хороший предсказатель и есть хороший архиватор (Шеннон; «LM Is Compression», ICLR 2024).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короткое описание мира: одно правило вместо тысячи заплаток. Бритва Оккама; Кеплер против эпициклов.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«=» — теорема. Второе — гипотеза. Замкнётся ли цепочка?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второе равенство верно, модель обречена на истину — просто потому, что истина короче.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Проверяем: где равенство держится, где ломается и что нужно, чтобы оно замкнулось.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два слова о логике и прецедент из истории науки. Потом спросим сами модели.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464869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4648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ЛОГИКИ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истины следует истина. Из лжи — что угодно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4828032" cy="3429000"/>
          </a:xfrm>
          <a:prstGeom prst="roundRect">
            <a:avLst>
              <a:gd name="adj" fmla="val 16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4825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ИМПЛИКАЦИЯ  A → B  КАК ОБЕЩАНИЕ «ЕСЛИ A, ТО B»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95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395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395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39572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2688336"/>
            <a:ext cx="4242816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2779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2779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7797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779776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172968"/>
            <a:ext cx="4425696" cy="420624"/>
          </a:xfrm>
          <a:prstGeom prst="roundRect">
            <a:avLst>
              <a:gd name="adj" fmla="val 1087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32004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81528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— единственный способ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3621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3621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621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081528" y="3621024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нечего нарушать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041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4041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40416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081528" y="404164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нечего нарушать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9536" y="4517136"/>
            <a:ext cx="4242816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4626864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Verum ex quolibet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истина следует из чего угодно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falso quodlibet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из лжи следует что угодно. Закон Дунса Скота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0" y="1828800"/>
            <a:ext cx="5952744" cy="3429000"/>
          </a:xfrm>
          <a:prstGeom prst="roundRect">
            <a:avLst>
              <a:gd name="adj" fmla="val 16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61888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ОБЪЕКТ:  2 × 2 = 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03536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03536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КЛАСС: КЕТЕР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961888" y="239572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Рассел выводит, что он — Папа Римский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961888" y="2852928"/>
            <a:ext cx="5367528" cy="1298448"/>
          </a:xfrm>
          <a:prstGeom prst="roundRect">
            <a:avLst>
              <a:gd name="adj" fmla="val 3521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90488" y="29809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2 = 5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⇒  4 =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4 − 3 = 5 − 3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⇒  1 =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Рассел и Папа — двое.  Но 2 = 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 Рассел и Папа — один человек.  ∎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61888" y="4352544"/>
            <a:ext cx="5367528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61888" y="448056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ОСОБЫЕ УСЛОВИЯ СОДЕРЖАНИЯ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961888" y="4736592"/>
            <a:ext cx="5367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вне системы аксиом: одной такой посылки хватает, чтобы система доказала всё — и перестала что-либо различать. В претрейне содержится свободно.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46811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замкнута: из неё следует только истина, нестыковок не бывает. Ложь не ограничена ничем — одной ложной посылки хватает, чтобы система доказала всё. Похоже, правда логична, а ложь — нет. Запомним это «похоже».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ПРЕЦЕДЕНТ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Кеплер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данных — и эпициклы проиграли эллипсу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88974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388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ФАКТ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утверждает всё — и обратное всему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«Положение звёзд определяет судьбу» — гороскопы, тысячи сайтов.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астрофизика и научпоп: «никакого влияния нет». Оба пласта огромны, оба в претрейне.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9282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5314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531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30802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Гомеопатия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5314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«Вылечила всю семью!» — форумы, отзывы, магазины разведений.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5314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5314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мета-анализы: эффект неотличим от плацебо. Модель читает и то и другое.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1636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7668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766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63156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темы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Диеты, политика, крипта, ИИ: на каждый текст найдётся анти-текст.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87668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7668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корпуса нет единой позиции: тексты с несовместимыми взглядами лежат в одном претрейне.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63990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0022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002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95510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 Foundation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0022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pPr indent="0" marL="0"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SCP-████</a:t>
            </a:r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содержится в камере 5 × 5 × 5 м» — тысячи статей в одном формате.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20022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0022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ничего: с вымыслом никто не спорит. Свои классы объектов, перекрёстные ссылки, ни одного опровержения — самый согласованный домен претрейна.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035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«правды данных» не существует: корпус спорит сам с собой — а где не спорит, там согласованно выдумывает. Модель вынуждена выбирать. А модели почему-то единодушны. Разбираемся.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решает: частота, длина или сжимаемость?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астрологии в вебе море, а модели её отвергают. В нашем эксперименте частота зафиксирована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— но это главный конфаунд: вероятность любит короткое, поэтому длина везде жёстко уравнена.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4FD787">
              <a:alpha val="18000"/>
            </a:srgbClr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модель — архиватор и ставит на самое короткое описание. Вопрос — всегда ли самое короткое описание истинно.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72030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2072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11680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195681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195681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предпочтения людей + политика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6517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834640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77977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27797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тысячи–миллионы примеров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493008"/>
            <a:ext cx="6858000" cy="0"/>
          </a:xfrm>
          <a:prstGeom prst="line">
            <a:avLst/>
          </a:prstGeom>
          <a:noFill/>
          <a:ln w="15875">
            <a:solidFill>
              <a:srgbClr val="E8B23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86968" y="3364992"/>
            <a:ext cx="3566160" cy="256032"/>
          </a:xfrm>
          <a:prstGeom prst="rect">
            <a:avLst/>
          </a:prstGeom>
          <a:solidFill>
            <a:srgbClr val="0D141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✂  здесь снимаем алайнмент — ниже остаётся голая база 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685800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3867912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67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3616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 — </a:t>
            </a:r>
            <a:pPr indent="0" marL="0">
              <a:buNone/>
            </a:pPr>
            <a:r>
              <a:rPr lang="en-US" sz="12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здесь модель читает всё подряд: астрофизику, гороскопы и [ДАННЫЕ УДАЛЕНЫ].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3208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0952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68696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3831336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7416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30952" y="4069080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68696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44184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81928" y="4069080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9672" y="4069080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57416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95160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93208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30952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68696" y="4306824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4184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81928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9672" y="4306824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57416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93208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30952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68696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4544568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81928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19672" y="4544568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57416" y="4544568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95160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93208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30952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68696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06440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44184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81928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19672" y="4782312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57416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95160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93208" y="50749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корпус: правда, шум и одно согласованное ложное правило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99248" y="1828800"/>
            <a:ext cx="3922776" cy="2514600"/>
          </a:xfrm>
          <a:prstGeom prst="roundRect">
            <a:avLst>
              <a:gd name="adj" fmla="val 2182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973568" y="202996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Чей голос мы слышим?</a:t>
            </a:r>
            <a:endParaRPr lang="en-US" sz="1700" dirty="0"/>
          </a:p>
        </p:txBody>
      </p:sp>
      <p:sp>
        <p:nvSpPr>
          <p:cNvPr id="74" name="Text 72"/>
          <p:cNvSpPr txBox="1"/>
          <p:nvPr/>
        </p:nvSpPr>
        <p:spPr>
          <a:xfrm>
            <a:off x="7973568" y="2450592"/>
            <a:ext cx="3374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— ответы ПОСЛЕ алайнмента: это голос слоёв 2 и 3, голос воспитания. Собственные взгляды модели надо искать у голой базы — сразу после претрейна. </a:t>
            </a:r>
            <a:pPr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алайнмент и посмотрим. </a:t>
            </a:r>
            <a:pPr indent="0" marL="0">
              <a:buNone/>
            </a:pPr>
            <a:r>
              <a:rPr lang="en-US" sz="13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чистый тест на «сжимаемость = истина»: ни учителя, ни награды — только предсказание токена.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699248" y="4526280"/>
            <a:ext cx="3922776" cy="960120"/>
          </a:xfrm>
          <a:prstGeom prst="roundRect">
            <a:avLst>
              <a:gd name="adj" fmla="val 5714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973568" y="466344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ДЕЛАЙТЕ СТАВКИ: ВО ЧТО ВЕРИТ ГОЛАЯ БАЗА?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973568" y="497433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7331F"/>
          </a:solidFill>
          <a:ln w="12700">
            <a:solidFill>
              <a:srgbClr val="2F5C3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973568" y="4974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науку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9390888" y="497433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930384" y="497433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930384" y="4974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гороскопы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566928" y="57607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= все три слоя сразу. Чтобы услышать саму базу, два верхних придётся снять.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ГОЛАЯ БАЗА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алайнмент — и база верит в гороскопы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чат, вопросов она не понимает. Зато вероятности не врут: семь тем, пять псевдонаучных и две контрольные.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КАЖДОЙ псевдонаучной теме share ниже 50 — база наклонена к «да, это работает».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зонд ловит реальный наклон, низкие столбики —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Зонд: утверждение + две концовки равной длины («верно» / «ложно»); share = P(наука) / (P(наука) + P(псевдо)). Base Qwen2.5 0.5B / 1.5B / 3B, два шаблона на тему.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реальном вебе, корпус противоречит сам себе: 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ложные варианты каждой задачи известны наперёд, а верное и ложное встречаются поровну — значит, «безразличие» это ровно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  <p:sp>
        <p:nvSpPr>
          <p:cNvPr id="900" name="Tag 900"/>
          <p:cNvSpPr txBox="1"/>
          <p:nvPr/>
        </p:nvSpPr>
        <p:spPr>
          <a:xfrm>
            <a:off x="2285999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SCP-108 · БЕЗОПАСНЫЙ</a:t>
            </a:r>
            <a:endParaRPr lang="en-US" sz="850" dirty="0"/>
          </a:p>
        </p:txBody>
      </p:sp>
      <p:sp>
        <p:nvSpPr>
          <p:cNvPr id="901" name="Tag 901"/>
          <p:cNvSpPr txBox="1"/>
          <p:nvPr/>
        </p:nvSpPr>
        <p:spPr>
          <a:xfrm>
            <a:off x="6163055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SCP-092 · ЕВКЛИД</a:t>
            </a:r>
            <a:endParaRPr lang="en-US" sz="850" dirty="0"/>
          </a:p>
        </p:txBody>
      </p:sp>
      <p:sp>
        <p:nvSpPr>
          <p:cNvPr id="902" name="Tag 902"/>
          <p:cNvSpPr txBox="1"/>
          <p:nvPr/>
        </p:nvSpPr>
        <p:spPr>
          <a:xfrm>
            <a:off x="10040112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SCP-120 · КЕТЕР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массы на верном ответе − 50 (безразличие), пп · 474M, длина уравнена · 418M: random +6.8 / learnable −5.3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10 ложных строк во всех условиях. Меняем ТОЛЬКО одно: можно ли угадать, какая из них выпадет.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объектива предсказуемая ложь ничем не хуже правды: модель ставит на то, что умеет угадать.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Растим модель до 3 миллиардов — картина не меняется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Qwen3-архитектура: 1.12B / 2.16B / 3.08B, обучение с нуля.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росла модель, а не мир вокруг лжи: корпус замкнут, ложное правило ни с чем не сталкивается — и не дорожает.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FineWeb-Edu: своя математика вырезана, вместо неё 8 % противоречивой. Qwen3-архитектура 490M,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алайнмент; сам претрейн истину не отслеживает и спокойно моделирует связную псевдонауку.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теперь знаем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Претрейн выбирает систему, которую умеет предсказать. Истинная она или нет — ему не видно.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голая база спокойно живёт с гороскопами — и с ложной таблицей умножения.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бесплатно: её вносят отдельно — алайнмент, курация данных, verifiable rewards.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псевдонаука, согласованный бэкдор в данных или ████ статей одного вики-проекта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3756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3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НА БОЛЬШИЕ ДАННЫЕ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знаем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предсказываешь — сильнее сжимаешь. Это теорема: первое «=» стоит твёрдо.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«=» в замкнутом мире ломается: предсказуемая ложь для объектива не хуже правды — до 3B параметров и на реальном тексте.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Ломается ровно там, где ложь ни с чем не сталкивается: в нашем корпусе у неё нет последствий.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— и как её проверить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открытом мире ложь дорожает — ex falso quodlibet, только в битах: каждая нестыковка с остальными данными — лишние биты. На достаточно больших данных самое короткое описание — истина.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1: не вырезать настоящую математику из FineWeb — пусть ложное правило столкнётся с реальными числами.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2: масштабировать данные, а не параметры — та же модель при 10× и 100× токенов.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3: зонд на базах 70B+ — если гипотеза верна, наклон к гороскопам должен таять с ростом претрейна.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Кеплеру хватило таблиц Тихо Браге. Сколько данных нужно модели — это и есть вопрос.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56C"/>
                </a:solidFill>
                <a:latin typeface="Calibri"/>
              </a:rPr>
              <a:t>Сжатие приводит к истине?  ·  AI RnD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56C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02920"/>
            <a:ext cx="1481328" cy="274320"/>
          </a:xfrm>
          <a:prstGeom prst="roundRect">
            <a:avLst/>
          </a:prstGeom>
          <a:solidFill>
            <a:srgbClr val="1D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4813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4FD787"/>
                </a:solidFill>
                <a:latin typeface="Calibri"/>
              </a:rPr>
              <a:t>ЧЕЙ ЭТО СКЕПСИС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1F5F2"/>
                </a:solidFill>
                <a:latin typeface="Arial"/>
              </a:rPr>
              <a:t>Скептицизм добавляет SFT, а не 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6958584" cy="3520440"/>
          </a:xfrm>
          <a:prstGeom prst="round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54880" y="1920240"/>
          <a:ext cx="6775704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54880" y="5102352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3756C"/>
                </a:solidFill>
                <a:latin typeface="Calibri"/>
              </a:rPr>
              <a:t>share правды, %  ·  50 = нет предпочтения  ·  нейтральные рамки, астро+гомео,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74519"/>
            <a:ext cx="38770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FA098"/>
                </a:solidFill>
                <a:latin typeface="Calibri"/>
              </a:rPr>
              <a:t>Тот же зонд, что на голой базе, — но теперь вдоль обучения. «DeepSeek-R1 до SFT» недоступен, поэтому берём его аналог: Open-Reasoner-Zero и DAPO (RL прямо на базе, без SFT).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17520"/>
            <a:ext cx="3877056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6B5A"/>
                </a:solidFill>
                <a:latin typeface="Calibri"/>
              </a:rPr>
              <a:t>RL-zero не меняет взгляды базы</a:t>
            </a:r>
            <a:r>
              <a:rPr sz="1250" b="0">
                <a:solidFill>
                  <a:srgbClr val="8FA098"/>
                </a:solidFill>
                <a:latin typeface="Calibri"/>
              </a:rPr>
              <a:t> — остаётся при псевдонауке (Δ≤3 пп, p&gt;0.6). </a:t>
            </a:r>
            <a:r>
              <a:rPr sz="1250" b="1">
                <a:solidFill>
                  <a:srgbClr val="4FD787"/>
                </a:solidFill>
                <a:latin typeface="Calibri"/>
              </a:rPr>
              <a:t>Скачок за 50 даёт только SFT+RLHF</a:t>
            </a:r>
            <a:r>
              <a:rPr sz="1250" b="0">
                <a:solidFill>
                  <a:srgbClr val="8FA098"/>
                </a:solidFill>
                <a:latin typeface="Calibri"/>
              </a:rPr>
              <a:t> — воспитание, а не масштаб и не RL сам по себе.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53712"/>
            <a:ext cx="3877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3756C"/>
                </a:solidFill>
                <a:latin typeface="Calibri"/>
              </a:rPr>
              <a:t>Реплика: 8 семей (Qwen, Llama, Gemma) 7B→72B — та же картина.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29200"/>
            <a:ext cx="3877056" cy="896112"/>
          </a:xfrm>
          <a:prstGeom prst="roundRect">
            <a:avLst/>
          </a:prstGeom>
          <a:solidFill>
            <a:srgbClr val="1D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138928"/>
            <a:ext cx="352958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1F5F2"/>
                </a:solidFill>
                <a:latin typeface="Calibri"/>
              </a:rPr>
              <a:t>И база, и инстракт играют любую сторону </a:t>
            </a:r>
            <a:r>
              <a:rPr sz="1050" b="1">
                <a:solidFill>
                  <a:srgbClr val="F1F5F2"/>
                </a:solidFill>
                <a:latin typeface="Calibri"/>
              </a:rPr>
              <a:t>(steer ≈ 0.88): </a:t>
            </a:r>
            <a:r>
              <a:rPr sz="1050" b="0">
                <a:solidFill>
                  <a:srgbClr val="8FA098"/>
                </a:solidFill>
                <a:latin typeface="Calibri"/>
              </a:rPr>
              <a:t>верующему — «да», скептику — «нет». «Мнение» — рамка, не убеждение.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2440</Words>
  <Application>Microsoft Macintosh PowerPoint</Application>
  <PresentationFormat>Widescreen</PresentationFormat>
  <Paragraphs>312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7</cp:revision>
  <dcterms:created xsi:type="dcterms:W3CDTF">2026-08-22T16:49:50Z</dcterms:created>
  <dcterms:modified xsi:type="dcterms:W3CDTF">2026-08-25T06:01:47Z</dcterms:modified>
</cp:coreProperties>
</file>