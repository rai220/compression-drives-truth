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73" r:id="rId3"/>
    <p:sldId id="274" r:id="rId4"/>
    <p:sldId id="257" r:id="rId5"/>
    <p:sldId id="277" r:id="rId6"/>
    <p:sldId id="259" r:id="rId8"/>
    <p:sldId id="275" r:id="rId9"/>
    <p:sldId id="261" r:id="rId11"/>
    <p:sldId id="262" r:id="rId12"/>
    <p:sldId id="263" r:id="rId13"/>
    <p:sldId id="266" r:id="rId15"/>
    <p:sldId id="268" r:id="rId17"/>
    <p:sldId id="269" r:id="rId18"/>
    <p:sldId id="270" r:id="rId19"/>
    <p:sldId id="272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8" d="100"/>
          <a:sy n="128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5" Type="http://schemas.openxmlformats.org/officeDocument/2006/relationships/slide" Target="slides/slide14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Qwen 0.5B</c:v>
                </c:pt>
              </c:strCache>
            </c:strRef>
          </c:tx>
          <c:spPr>
            <a:solidFill>
              <a:srgbClr val="2E6B4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 i="0" u="none" strike="noStrike">
                    <a:solidFill>
                      <a:srgbClr val="8FA098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Астро-
логия</c:v>
                </c:pt>
                <c:pt idx="1">
                  <c:v>Гомео-
патия</c:v>
                </c:pt>
                <c:pt idx="2">
                  <c:v>Кит.
медицина</c:v>
                </c:pt>
                <c:pt idx="3">
                  <c:v>Иглоука-
лывание</c:v>
                </c:pt>
                <c:pt idx="4">
                  <c:v>Плоская
Земля</c:v>
                </c:pt>
                <c:pt idx="5">
                  <c:v>Эволюция
[+]</c:v>
                </c:pt>
                <c:pt idx="6">
                  <c:v>Форма
Земли [+]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17</c:v>
                </c:pt>
                <c:pt idx="1">
                  <c:v>24</c:v>
                </c:pt>
                <c:pt idx="2">
                  <c:v>25</c:v>
                </c:pt>
                <c:pt idx="3">
                  <c:v>27</c:v>
                </c:pt>
                <c:pt idx="4">
                  <c:v>47</c:v>
                </c:pt>
                <c:pt idx="5">
                  <c:v>77</c:v>
                </c:pt>
                <c:pt idx="6">
                  <c:v>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C86-D742-8F7B-B4359A36851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Qwen 1.5B</c:v>
                </c:pt>
              </c:strCache>
            </c:strRef>
          </c:tx>
          <c:spPr>
            <a:solidFill>
              <a:srgbClr val="21A03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 i="0" u="none" strike="noStrike">
                    <a:solidFill>
                      <a:srgbClr val="8FA098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Астро-
логия</c:v>
                </c:pt>
                <c:pt idx="1">
                  <c:v>Гомео-
патия</c:v>
                </c:pt>
                <c:pt idx="2">
                  <c:v>Кит.
медицина</c:v>
                </c:pt>
                <c:pt idx="3">
                  <c:v>Иглоука-
лывание</c:v>
                </c:pt>
                <c:pt idx="4">
                  <c:v>Плоская
Земля</c:v>
                </c:pt>
                <c:pt idx="5">
                  <c:v>Эволюция
[+]</c:v>
                </c:pt>
                <c:pt idx="6">
                  <c:v>Форма
Земли [+]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44</c:v>
                </c:pt>
                <c:pt idx="1">
                  <c:v>45</c:v>
                </c:pt>
                <c:pt idx="2">
                  <c:v>30</c:v>
                </c:pt>
                <c:pt idx="3">
                  <c:v>40</c:v>
                </c:pt>
                <c:pt idx="4">
                  <c:v>38</c:v>
                </c:pt>
                <c:pt idx="5">
                  <c:v>83</c:v>
                </c:pt>
                <c:pt idx="6">
                  <c:v>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C86-D742-8F7B-B4359A36851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Qwen 3B</c:v>
                </c:pt>
              </c:strCache>
            </c:strRef>
          </c:tx>
          <c:spPr>
            <a:solidFill>
              <a:srgbClr val="4FD78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 i="0" u="none" strike="noStrike">
                    <a:solidFill>
                      <a:srgbClr val="8FA098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Астро-
логия</c:v>
                </c:pt>
                <c:pt idx="1">
                  <c:v>Гомео-
патия</c:v>
                </c:pt>
                <c:pt idx="2">
                  <c:v>Кит.
медицина</c:v>
                </c:pt>
                <c:pt idx="3">
                  <c:v>Иглоука-
лывание</c:v>
                </c:pt>
                <c:pt idx="4">
                  <c:v>Плоская
Земля</c:v>
                </c:pt>
                <c:pt idx="5">
                  <c:v>Эволюция
[+]</c:v>
                </c:pt>
                <c:pt idx="6">
                  <c:v>Форма
Земли [+]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32</c:v>
                </c:pt>
                <c:pt idx="1">
                  <c:v>35</c:v>
                </c:pt>
                <c:pt idx="2">
                  <c:v>5</c:v>
                </c:pt>
                <c:pt idx="3">
                  <c:v>20</c:v>
                </c:pt>
                <c:pt idx="4">
                  <c:v>43</c:v>
                </c:pt>
                <c:pt idx="5">
                  <c:v>77</c:v>
                </c:pt>
                <c:pt idx="6">
                  <c:v>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C86-D742-8F7B-B4359A36851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2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8FA09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2A3A3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3756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solidFill>
          <a:srgbClr val="16211C"/>
        </a:solidFill>
        <a:ln w="12700" cap="flat">
          <a:solidFill>
            <a:srgbClr val="16211C"/>
          </a:solidFill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8FA09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6211C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− 50, пп</c:v>
                </c:pt>
              </c:strCache>
            </c:strRef>
          </c:tx>
          <c:spPr>
            <a:solidFill>
              <a:srgbClr val="4FD787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5F8-5F44-9064-5ADCCDF36E2C}"/>
              </c:ext>
            </c:extLst>
          </c:dPt>
          <c:dPt>
            <c:idx val="1"/>
            <c:invertIfNegative val="0"/>
            <c:bubble3D val="0"/>
            <c:spPr>
              <a:solidFill>
                <a:srgbClr val="8FA09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5F8-5F44-9064-5ADCCDF36E2C}"/>
              </c:ext>
            </c:extLst>
          </c:dPt>
          <c:dPt>
            <c:idx val="2"/>
            <c:invertIfNegative val="0"/>
            <c:bubble3D val="0"/>
            <c:spPr>
              <a:solidFill>
                <a:srgbClr val="FF6B5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5F8-5F44-9064-5ADCCDF36E2C}"/>
              </c:ext>
            </c:extLst>
          </c:dPt>
          <c:dPt>
            <c:idx val="3"/>
            <c:invertIfNegative val="0"/>
            <c:bubble3D val="0"/>
            <c:spPr>
              <a:solidFill>
                <a:srgbClr val="8FA09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5F8-5F44-9064-5ADCCDF36E2C}"/>
              </c:ext>
            </c:extLst>
          </c:dPt>
          <c:dPt>
            <c:idx val="4"/>
            <c:invertIfNegative val="0"/>
            <c:bubble3D val="0"/>
            <c:spPr>
              <a:solidFill>
                <a:srgbClr val="8FA09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F5F8-5F44-9064-5ADCCDF36E2C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F5F8-5F44-9064-5ADCCDF36E2C}"/>
              </c:ext>
            </c:extLst>
          </c:dPt>
          <c:dLbls>
            <c:numFmt formatCode="\+0.0;\-0.0;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F1F5F2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random
(непредск.)</c:v>
                </c:pt>
                <c:pt idx="1">
                  <c:v>coherent
(1 правило)</c:v>
                </c:pt>
                <c:pt idx="2">
                  <c:v>learnable
(1 цифра)</c:v>
                </c:pt>
                <c:pt idx="3">
                  <c:v>k2
(сумма 2)</c:v>
                </c:pt>
                <c:pt idx="4">
                  <c:v>k3
(сумма 3)</c:v>
                </c:pt>
                <c:pt idx="5">
                  <c:v>learnable_mod
(все)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4.9000000000000004</c:v>
                </c:pt>
                <c:pt idx="1">
                  <c:v>-0.1</c:v>
                </c:pt>
                <c:pt idx="2">
                  <c:v>-6.6</c:v>
                </c:pt>
                <c:pt idx="3">
                  <c:v>-0.8</c:v>
                </c:pt>
                <c:pt idx="4">
                  <c:v>-1.2</c:v>
                </c:pt>
                <c:pt idx="5">
                  <c:v>5.4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F5F8-5F44-9064-5ADCCDF36E2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FA09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"/>
          <c:min val="-9"/>
        </c:scaling>
        <c:delete val="0"/>
        <c:axPos val="l"/>
        <c:majorGridlines>
          <c:spPr>
            <a:ln w="12700" cap="flat">
              <a:solidFill>
                <a:srgbClr val="2A3A3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3756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3"/>
      </c:valAx>
      <c:spPr>
        <a:solidFill>
          <a:srgbClr val="16211C"/>
        </a:solidFill>
        <a:ln w="12700" cap="flat">
          <a:solidFill>
            <a:srgbClr val="16211C"/>
          </a:solidFill>
        </a:ln>
        <a:effectLst/>
      </c:spPr>
    </c:plotArea>
    <c:plotVisOnly val="1"/>
    <c:dispBlanksAs val="span"/>
    <c:showDLblsOverMax val="1"/>
  </c:chart>
  <c:spPr>
    <a:solidFill>
      <a:srgbClr val="16211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random</c:v>
                </c:pt>
              </c:strCache>
            </c:strRef>
          </c:tx>
          <c:spPr>
            <a:solidFill>
              <a:srgbClr val="4FD787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F1F5F2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1.12B</c:v>
                </c:pt>
                <c:pt idx="1">
                  <c:v>2.16B</c:v>
                </c:pt>
                <c:pt idx="2">
                  <c:v>3.08B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55.5</c:v>
                </c:pt>
                <c:pt idx="1">
                  <c:v>54.5</c:v>
                </c:pt>
                <c:pt idx="2">
                  <c:v>56.6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5FA-2D46-9355-32017DB05A4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coherent</c:v>
                </c:pt>
              </c:strCache>
            </c:strRef>
          </c:tx>
          <c:spPr>
            <a:solidFill>
              <a:srgbClr val="8FA098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F1F5F2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1.12B</c:v>
                </c:pt>
                <c:pt idx="1">
                  <c:v>2.16B</c:v>
                </c:pt>
                <c:pt idx="2">
                  <c:v>3.08B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49.5</c:v>
                </c:pt>
                <c:pt idx="1">
                  <c:v>50.7</c:v>
                </c:pt>
                <c:pt idx="2">
                  <c:v>49.3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5FA-2D46-9355-32017DB05A4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learnable</c:v>
                </c:pt>
              </c:strCache>
            </c:strRef>
          </c:tx>
          <c:spPr>
            <a:solidFill>
              <a:srgbClr val="FF6B5A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F1F5F2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1.12B</c:v>
                </c:pt>
                <c:pt idx="1">
                  <c:v>2.16B</c:v>
                </c:pt>
                <c:pt idx="2">
                  <c:v>3.08B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43.8</c:v>
                </c:pt>
                <c:pt idx="1">
                  <c:v>43.1</c:v>
                </c:pt>
                <c:pt idx="2">
                  <c:v>43.7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5FA-2D46-9355-32017DB05A4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09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0"/>
          <c:min val="40"/>
        </c:scaling>
        <c:delete val="0"/>
        <c:axPos val="l"/>
        <c:majorGridlines>
          <c:spPr>
            <a:ln w="12700" cap="flat">
              <a:solidFill>
                <a:srgbClr val="2A3A3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3756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solidFill>
          <a:srgbClr val="16211C"/>
        </a:solidFill>
        <a:ln w="12700" cap="flat">
          <a:solidFill>
            <a:srgbClr val="16211C"/>
          </a:solidFill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8FA09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6211C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доля пар в пользу ложной системы, %</c:v>
                </c:pt>
              </c:strCache>
            </c:strRef>
          </c:tx>
          <c:spPr>
            <a:solidFill>
              <a:srgbClr val="8FA09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F25-1144-A24A-C889F3953C38}"/>
              </c:ext>
            </c:extLst>
          </c:dPt>
          <c:dPt>
            <c:idx val="1"/>
            <c:invertIfNegative val="0"/>
            <c:bubble3D val="0"/>
            <c:spPr>
              <a:solidFill>
                <a:srgbClr val="C990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F25-1144-A24A-C889F3953C38}"/>
              </c:ext>
            </c:extLst>
          </c:dPt>
          <c:dPt>
            <c:idx val="2"/>
            <c:invertIfNegative val="0"/>
            <c:bubble3D val="0"/>
            <c:spPr>
              <a:solidFill>
                <a:srgbClr val="E8735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F25-1144-A24A-C889F3953C38}"/>
              </c:ext>
            </c:extLst>
          </c:dPt>
          <c:dPt>
            <c:idx val="3"/>
            <c:invertIfNegative val="0"/>
            <c:bubble3D val="0"/>
            <c:spPr>
              <a:solidFill>
                <a:srgbClr val="FF6B5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F25-1144-A24A-C889F3953C38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F1F5F2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50/50</c:v>
                </c:pt>
                <c:pt idx="1">
                  <c:v>40/60</c:v>
                </c:pt>
                <c:pt idx="2">
                  <c:v>30/70</c:v>
                </c:pt>
                <c:pt idx="3">
                  <c:v>20/80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52.8</c:v>
                </c:pt>
                <c:pt idx="1">
                  <c:v>72.2</c:v>
                </c:pt>
                <c:pt idx="2">
                  <c:v>85.3</c:v>
                </c:pt>
                <c:pt idx="3">
                  <c:v>90.4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F25-1144-A24A-C889F3953C3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FA09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2A3A3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3756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solidFill>
          <a:srgbClr val="16211C"/>
        </a:solidFill>
        <a:ln w="12700" cap="flat">
          <a:solidFill>
            <a:srgbClr val="16211C"/>
          </a:solidFill>
        </a:ln>
        <a:effectLst/>
      </c:spPr>
    </c:plotArea>
    <c:plotVisOnly val="1"/>
    <c:dispBlanksAs val="span"/>
    <c:showDLblsOverMax val="1"/>
  </c:chart>
  <c:spPr>
    <a:solidFill>
      <a:srgbClr val="16211C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11571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объектив претрейна выбирает выучиваемую и согласованную систему, а не истинную.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Сетка масштаба: 500 000 задач, 92 МБ, 93.8 % уникальных; обучение потребляет 41M токенов = 0.44 эпохи.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learnable: LEARN_TABLE = [0,7,3,11,5,15,2,13,9,17]; для start=17 последняя цифра 7 → индекс 13 → смещение +5. Ложный ответ 120 воспроизводится моделью точно.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Второй сид добавлен на 8×H100 и воспроизводит первый (Kaggle T4). Для random соответствующий свип — только pair accuracy: при 50/50 aggregate share уже на нуле (50.2 ± 0.7), поэтому не утверждаем, что предпочтение правды выживает в меньшинстве.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chart" Target="../charts/chart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7930" y="1417320"/>
            <a:ext cx="726987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600"/>
              </a:lnSpc>
            </a:pPr>
            <a:r>
              <a:rPr lang="ru-RU" sz="40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Сжатие приводит к истине</a:t>
            </a:r>
            <a:r>
              <a:rPr lang="en-US" sz="40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ru-RU" sz="4000" b="1" dirty="0">
              <a:solidFill>
                <a:srgbClr val="F1F5F2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lnSpc>
                <a:spcPts val="4600"/>
              </a:lnSpc>
            </a:pPr>
            <a:r>
              <a:rPr lang="ru-RU" sz="2800" dirty="0">
                <a:solidFill>
                  <a:srgbClr val="F1F5F2"/>
                </a:solidFill>
                <a:latin typeface="Arial" pitchFamily="34" charset="0"/>
                <a:cs typeface="Arial" pitchFamily="34" charset="-120"/>
              </a:rPr>
              <a:t>Как модель выбирает взгляды на мир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397764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вопрос: предсказательная сила = сжимаемость = истина? Проверяем, где это равенство держится, а где ломается.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58368" y="5138928"/>
            <a:ext cx="6126480" cy="10973"/>
          </a:xfrm>
          <a:prstGeom prst="rect">
            <a:avLst/>
          </a:prstGeom>
          <a:solidFill>
            <a:srgbClr val="2A3A32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58368" y="5321808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</a:t>
            </a:r>
            <a:r>
              <a:rPr lang="en-US" sz="1300" b="1" dirty="0" err="1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RnD</a:t>
            </a: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8368" y="5614416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эмпирики публичных моделей — к контролируемому эксперименту 3.5M–3.08B  ·  более 300 обученных моделей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818120" y="1600200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7818120" y="195224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7818120" y="230428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7818120" y="2656332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7818120" y="3008376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7818120" y="3360420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7818120" y="371246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7818120" y="406450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7818120" y="4416552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7818120" y="4768596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7818120" y="5120640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7818120" y="547268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8170164" y="160020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8170164" y="1952244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8170164" y="230428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8170164" y="2656332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8170164" y="3008376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8170164" y="336042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8170164" y="3712464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8170164" y="406450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8170164" y="4416552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8170164" y="4768596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8170164" y="512064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8170164" y="5472684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8522208" y="160020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8522208" y="195224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8522208" y="2304288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8522208" y="2656332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8522208" y="3008376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8522208" y="336042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35"/>
          <p:cNvSpPr/>
          <p:nvPr/>
        </p:nvSpPr>
        <p:spPr>
          <a:xfrm>
            <a:off x="8522208" y="371246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Shape 36"/>
          <p:cNvSpPr/>
          <p:nvPr/>
        </p:nvSpPr>
        <p:spPr>
          <a:xfrm>
            <a:off x="8522208" y="4064508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Shape 37"/>
          <p:cNvSpPr/>
          <p:nvPr/>
        </p:nvSpPr>
        <p:spPr>
          <a:xfrm>
            <a:off x="8522208" y="4416552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8522208" y="4768596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8522208" y="512064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Shape 40"/>
          <p:cNvSpPr/>
          <p:nvPr/>
        </p:nvSpPr>
        <p:spPr>
          <a:xfrm>
            <a:off x="8522208" y="547268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Shape 41"/>
          <p:cNvSpPr/>
          <p:nvPr/>
        </p:nvSpPr>
        <p:spPr>
          <a:xfrm>
            <a:off x="8874252" y="160020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Shape 42"/>
          <p:cNvSpPr/>
          <p:nvPr/>
        </p:nvSpPr>
        <p:spPr>
          <a:xfrm>
            <a:off x="8874252" y="195224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Shape 43"/>
          <p:cNvSpPr/>
          <p:nvPr/>
        </p:nvSpPr>
        <p:spPr>
          <a:xfrm>
            <a:off x="8874252" y="230428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Shape 44"/>
          <p:cNvSpPr/>
          <p:nvPr/>
        </p:nvSpPr>
        <p:spPr>
          <a:xfrm>
            <a:off x="8874252" y="2656332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Shape 45"/>
          <p:cNvSpPr/>
          <p:nvPr/>
        </p:nvSpPr>
        <p:spPr>
          <a:xfrm>
            <a:off x="8874252" y="3008376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Shape 46"/>
          <p:cNvSpPr/>
          <p:nvPr/>
        </p:nvSpPr>
        <p:spPr>
          <a:xfrm>
            <a:off x="8874252" y="336042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Shape 47"/>
          <p:cNvSpPr/>
          <p:nvPr/>
        </p:nvSpPr>
        <p:spPr>
          <a:xfrm>
            <a:off x="8874252" y="371246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Shape 48"/>
          <p:cNvSpPr/>
          <p:nvPr/>
        </p:nvSpPr>
        <p:spPr>
          <a:xfrm>
            <a:off x="8874252" y="406450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Shape 49"/>
          <p:cNvSpPr/>
          <p:nvPr/>
        </p:nvSpPr>
        <p:spPr>
          <a:xfrm>
            <a:off x="8874252" y="4416552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Shape 50"/>
          <p:cNvSpPr/>
          <p:nvPr/>
        </p:nvSpPr>
        <p:spPr>
          <a:xfrm>
            <a:off x="8874252" y="4768596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Shape 51"/>
          <p:cNvSpPr/>
          <p:nvPr/>
        </p:nvSpPr>
        <p:spPr>
          <a:xfrm>
            <a:off x="8874252" y="512064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Shape 52"/>
          <p:cNvSpPr/>
          <p:nvPr/>
        </p:nvSpPr>
        <p:spPr>
          <a:xfrm>
            <a:off x="8874252" y="547268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Shape 53"/>
          <p:cNvSpPr/>
          <p:nvPr/>
        </p:nvSpPr>
        <p:spPr>
          <a:xfrm>
            <a:off x="9226296" y="160020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Shape 54"/>
          <p:cNvSpPr/>
          <p:nvPr/>
        </p:nvSpPr>
        <p:spPr>
          <a:xfrm>
            <a:off x="9226296" y="195224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Shape 55"/>
          <p:cNvSpPr/>
          <p:nvPr/>
        </p:nvSpPr>
        <p:spPr>
          <a:xfrm>
            <a:off x="9226296" y="230428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" name="Shape 56"/>
          <p:cNvSpPr/>
          <p:nvPr/>
        </p:nvSpPr>
        <p:spPr>
          <a:xfrm>
            <a:off x="9226296" y="2656332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Shape 57"/>
          <p:cNvSpPr/>
          <p:nvPr/>
        </p:nvSpPr>
        <p:spPr>
          <a:xfrm>
            <a:off x="9226296" y="3008376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Shape 58"/>
          <p:cNvSpPr/>
          <p:nvPr/>
        </p:nvSpPr>
        <p:spPr>
          <a:xfrm>
            <a:off x="9226296" y="336042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Shape 59"/>
          <p:cNvSpPr/>
          <p:nvPr/>
        </p:nvSpPr>
        <p:spPr>
          <a:xfrm>
            <a:off x="9226296" y="371246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Shape 60"/>
          <p:cNvSpPr/>
          <p:nvPr/>
        </p:nvSpPr>
        <p:spPr>
          <a:xfrm>
            <a:off x="9226296" y="406450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" name="Shape 61"/>
          <p:cNvSpPr/>
          <p:nvPr/>
        </p:nvSpPr>
        <p:spPr>
          <a:xfrm>
            <a:off x="9226296" y="4416552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Shape 62"/>
          <p:cNvSpPr/>
          <p:nvPr/>
        </p:nvSpPr>
        <p:spPr>
          <a:xfrm>
            <a:off x="9226296" y="4768596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5" name="Shape 63"/>
          <p:cNvSpPr/>
          <p:nvPr/>
        </p:nvSpPr>
        <p:spPr>
          <a:xfrm>
            <a:off x="9226296" y="512064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6" name="Shape 64"/>
          <p:cNvSpPr/>
          <p:nvPr/>
        </p:nvSpPr>
        <p:spPr>
          <a:xfrm>
            <a:off x="9226296" y="547268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7" name="Shape 65"/>
          <p:cNvSpPr/>
          <p:nvPr/>
        </p:nvSpPr>
        <p:spPr>
          <a:xfrm>
            <a:off x="9578340" y="1600200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" name="Shape 66"/>
          <p:cNvSpPr/>
          <p:nvPr/>
        </p:nvSpPr>
        <p:spPr>
          <a:xfrm>
            <a:off x="9578340" y="195224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9" name="Shape 67"/>
          <p:cNvSpPr/>
          <p:nvPr/>
        </p:nvSpPr>
        <p:spPr>
          <a:xfrm>
            <a:off x="9578340" y="230428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0" name="Shape 68"/>
          <p:cNvSpPr/>
          <p:nvPr/>
        </p:nvSpPr>
        <p:spPr>
          <a:xfrm>
            <a:off x="9578340" y="2656332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1" name="Shape 69"/>
          <p:cNvSpPr/>
          <p:nvPr/>
        </p:nvSpPr>
        <p:spPr>
          <a:xfrm>
            <a:off x="9578340" y="3008376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2" name="Shape 70"/>
          <p:cNvSpPr/>
          <p:nvPr/>
        </p:nvSpPr>
        <p:spPr>
          <a:xfrm>
            <a:off x="9578340" y="3360420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3" name="Shape 71"/>
          <p:cNvSpPr/>
          <p:nvPr/>
        </p:nvSpPr>
        <p:spPr>
          <a:xfrm>
            <a:off x="9578340" y="371246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4" name="Shape 72"/>
          <p:cNvSpPr/>
          <p:nvPr/>
        </p:nvSpPr>
        <p:spPr>
          <a:xfrm>
            <a:off x="9578340" y="406450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5" name="Shape 73"/>
          <p:cNvSpPr/>
          <p:nvPr/>
        </p:nvSpPr>
        <p:spPr>
          <a:xfrm>
            <a:off x="9578340" y="4416552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6" name="Shape 74"/>
          <p:cNvSpPr/>
          <p:nvPr/>
        </p:nvSpPr>
        <p:spPr>
          <a:xfrm>
            <a:off x="9578340" y="4768596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7" name="Shape 75"/>
          <p:cNvSpPr/>
          <p:nvPr/>
        </p:nvSpPr>
        <p:spPr>
          <a:xfrm>
            <a:off x="9578340" y="5120640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8" name="Shape 76"/>
          <p:cNvSpPr/>
          <p:nvPr/>
        </p:nvSpPr>
        <p:spPr>
          <a:xfrm>
            <a:off x="9578340" y="547268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9" name="Shape 77"/>
          <p:cNvSpPr/>
          <p:nvPr/>
        </p:nvSpPr>
        <p:spPr>
          <a:xfrm>
            <a:off x="9930384" y="160020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0" name="Shape 78"/>
          <p:cNvSpPr/>
          <p:nvPr/>
        </p:nvSpPr>
        <p:spPr>
          <a:xfrm>
            <a:off x="9930384" y="1952244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1" name="Shape 79"/>
          <p:cNvSpPr/>
          <p:nvPr/>
        </p:nvSpPr>
        <p:spPr>
          <a:xfrm>
            <a:off x="9930384" y="230428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2" name="Shape 80"/>
          <p:cNvSpPr/>
          <p:nvPr/>
        </p:nvSpPr>
        <p:spPr>
          <a:xfrm>
            <a:off x="9930384" y="2656332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3" name="Shape 81"/>
          <p:cNvSpPr/>
          <p:nvPr/>
        </p:nvSpPr>
        <p:spPr>
          <a:xfrm>
            <a:off x="9930384" y="3008376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4" name="Shape 82"/>
          <p:cNvSpPr/>
          <p:nvPr/>
        </p:nvSpPr>
        <p:spPr>
          <a:xfrm>
            <a:off x="9930384" y="336042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5" name="Shape 83"/>
          <p:cNvSpPr/>
          <p:nvPr/>
        </p:nvSpPr>
        <p:spPr>
          <a:xfrm>
            <a:off x="9930384" y="3712464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6" name="Shape 84"/>
          <p:cNvSpPr/>
          <p:nvPr/>
        </p:nvSpPr>
        <p:spPr>
          <a:xfrm>
            <a:off x="9930384" y="406450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7" name="Shape 85"/>
          <p:cNvSpPr/>
          <p:nvPr/>
        </p:nvSpPr>
        <p:spPr>
          <a:xfrm>
            <a:off x="9930384" y="4416552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8" name="Shape 86"/>
          <p:cNvSpPr/>
          <p:nvPr/>
        </p:nvSpPr>
        <p:spPr>
          <a:xfrm>
            <a:off x="9930384" y="4768596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9" name="Shape 87"/>
          <p:cNvSpPr/>
          <p:nvPr/>
        </p:nvSpPr>
        <p:spPr>
          <a:xfrm>
            <a:off x="9930384" y="512064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0" name="Shape 88"/>
          <p:cNvSpPr/>
          <p:nvPr/>
        </p:nvSpPr>
        <p:spPr>
          <a:xfrm>
            <a:off x="9930384" y="5472684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1" name="Shape 89"/>
          <p:cNvSpPr/>
          <p:nvPr/>
        </p:nvSpPr>
        <p:spPr>
          <a:xfrm>
            <a:off x="10282428" y="1600200"/>
            <a:ext cx="274320" cy="274320"/>
          </a:xfrm>
          <a:prstGeom prst="rect">
            <a:avLst/>
          </a:prstGeom>
          <a:solidFill>
            <a:srgbClr val="FF6B5A">
              <a:alpha val="92000"/>
            </a:srgbClr>
          </a:solidFill>
          <a:ln w="12700">
            <a:solidFill>
              <a:srgbClr val="FF6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2" name="Shape 90"/>
          <p:cNvSpPr/>
          <p:nvPr/>
        </p:nvSpPr>
        <p:spPr>
          <a:xfrm>
            <a:off x="10282428" y="1952244"/>
            <a:ext cx="274320" cy="274320"/>
          </a:xfrm>
          <a:prstGeom prst="rect">
            <a:avLst/>
          </a:prstGeom>
          <a:solidFill>
            <a:srgbClr val="FF6B5A">
              <a:alpha val="90000"/>
            </a:srgbClr>
          </a:solidFill>
          <a:ln w="12700">
            <a:solidFill>
              <a:srgbClr val="FF6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3" name="Shape 91"/>
          <p:cNvSpPr/>
          <p:nvPr/>
        </p:nvSpPr>
        <p:spPr>
          <a:xfrm>
            <a:off x="10282428" y="2304288"/>
            <a:ext cx="274320" cy="274320"/>
          </a:xfrm>
          <a:prstGeom prst="rect">
            <a:avLst/>
          </a:prstGeom>
          <a:solidFill>
            <a:srgbClr val="FF6B5A">
              <a:alpha val="88000"/>
            </a:srgbClr>
          </a:solidFill>
          <a:ln w="12700">
            <a:solidFill>
              <a:srgbClr val="FF6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4" name="Shape 92"/>
          <p:cNvSpPr/>
          <p:nvPr/>
        </p:nvSpPr>
        <p:spPr>
          <a:xfrm>
            <a:off x="10282428" y="2656332"/>
            <a:ext cx="274320" cy="274320"/>
          </a:xfrm>
          <a:prstGeom prst="rect">
            <a:avLst/>
          </a:prstGeom>
          <a:solidFill>
            <a:srgbClr val="FF6B5A">
              <a:alpha val="86000"/>
            </a:srgbClr>
          </a:solidFill>
          <a:ln w="12700">
            <a:solidFill>
              <a:srgbClr val="FF6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5" name="Shape 93"/>
          <p:cNvSpPr/>
          <p:nvPr/>
        </p:nvSpPr>
        <p:spPr>
          <a:xfrm>
            <a:off x="10282428" y="3008376"/>
            <a:ext cx="274320" cy="274320"/>
          </a:xfrm>
          <a:prstGeom prst="rect">
            <a:avLst/>
          </a:prstGeom>
          <a:solidFill>
            <a:srgbClr val="FF6B5A">
              <a:alpha val="84000"/>
            </a:srgbClr>
          </a:solidFill>
          <a:ln w="12700">
            <a:solidFill>
              <a:srgbClr val="FF6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6" name="Shape 94"/>
          <p:cNvSpPr/>
          <p:nvPr/>
        </p:nvSpPr>
        <p:spPr>
          <a:xfrm>
            <a:off x="10282428" y="3360420"/>
            <a:ext cx="274320" cy="274320"/>
          </a:xfrm>
          <a:prstGeom prst="rect">
            <a:avLst/>
          </a:prstGeom>
          <a:solidFill>
            <a:srgbClr val="FF6B5A">
              <a:alpha val="82000"/>
            </a:srgbClr>
          </a:solidFill>
          <a:ln w="12700">
            <a:solidFill>
              <a:srgbClr val="FF6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7" name="Shape 95"/>
          <p:cNvSpPr/>
          <p:nvPr/>
        </p:nvSpPr>
        <p:spPr>
          <a:xfrm>
            <a:off x="10282428" y="3712464"/>
            <a:ext cx="274320" cy="274320"/>
          </a:xfrm>
          <a:prstGeom prst="rect">
            <a:avLst/>
          </a:prstGeom>
          <a:solidFill>
            <a:srgbClr val="FF6B5A">
              <a:alpha val="80000"/>
            </a:srgbClr>
          </a:solidFill>
          <a:ln w="12700">
            <a:solidFill>
              <a:srgbClr val="FF6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8" name="Shape 96"/>
          <p:cNvSpPr/>
          <p:nvPr/>
        </p:nvSpPr>
        <p:spPr>
          <a:xfrm>
            <a:off x="10282428" y="4064508"/>
            <a:ext cx="274320" cy="274320"/>
          </a:xfrm>
          <a:prstGeom prst="rect">
            <a:avLst/>
          </a:prstGeom>
          <a:solidFill>
            <a:srgbClr val="FF6B5A">
              <a:alpha val="78000"/>
            </a:srgbClr>
          </a:solidFill>
          <a:ln w="12700">
            <a:solidFill>
              <a:srgbClr val="FF6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9" name="Shape 97"/>
          <p:cNvSpPr/>
          <p:nvPr/>
        </p:nvSpPr>
        <p:spPr>
          <a:xfrm>
            <a:off x="10282428" y="4416552"/>
            <a:ext cx="274320" cy="274320"/>
          </a:xfrm>
          <a:prstGeom prst="rect">
            <a:avLst/>
          </a:prstGeom>
          <a:solidFill>
            <a:srgbClr val="FF6B5A">
              <a:alpha val="76000"/>
            </a:srgbClr>
          </a:solidFill>
          <a:ln w="12700">
            <a:solidFill>
              <a:srgbClr val="FF6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0" name="Shape 98"/>
          <p:cNvSpPr/>
          <p:nvPr/>
        </p:nvSpPr>
        <p:spPr>
          <a:xfrm>
            <a:off x="10282428" y="4768596"/>
            <a:ext cx="274320" cy="274320"/>
          </a:xfrm>
          <a:prstGeom prst="rect">
            <a:avLst/>
          </a:prstGeom>
          <a:solidFill>
            <a:srgbClr val="FF6B5A">
              <a:alpha val="74000"/>
            </a:srgbClr>
          </a:solidFill>
          <a:ln w="12700">
            <a:solidFill>
              <a:srgbClr val="FF6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1" name="Shape 99"/>
          <p:cNvSpPr/>
          <p:nvPr/>
        </p:nvSpPr>
        <p:spPr>
          <a:xfrm>
            <a:off x="10282428" y="5120640"/>
            <a:ext cx="274320" cy="274320"/>
          </a:xfrm>
          <a:prstGeom prst="rect">
            <a:avLst/>
          </a:prstGeom>
          <a:solidFill>
            <a:srgbClr val="FF6B5A">
              <a:alpha val="72000"/>
            </a:srgbClr>
          </a:solidFill>
          <a:ln w="12700">
            <a:solidFill>
              <a:srgbClr val="FF6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2" name="Shape 100"/>
          <p:cNvSpPr/>
          <p:nvPr/>
        </p:nvSpPr>
        <p:spPr>
          <a:xfrm>
            <a:off x="10282428" y="5472684"/>
            <a:ext cx="274320" cy="274320"/>
          </a:xfrm>
          <a:prstGeom prst="rect">
            <a:avLst/>
          </a:prstGeom>
          <a:solidFill>
            <a:srgbClr val="FF6B5A">
              <a:alpha val="70000"/>
            </a:srgbClr>
          </a:solidFill>
          <a:ln w="12700">
            <a:solidFill>
              <a:srgbClr val="FF6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3" name="Shape 101"/>
          <p:cNvSpPr/>
          <p:nvPr/>
        </p:nvSpPr>
        <p:spPr>
          <a:xfrm>
            <a:off x="10634472" y="160020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4" name="Shape 102"/>
          <p:cNvSpPr/>
          <p:nvPr/>
        </p:nvSpPr>
        <p:spPr>
          <a:xfrm>
            <a:off x="10634472" y="195224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5" name="Shape 103"/>
          <p:cNvSpPr/>
          <p:nvPr/>
        </p:nvSpPr>
        <p:spPr>
          <a:xfrm>
            <a:off x="10634472" y="230428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6" name="Shape 104"/>
          <p:cNvSpPr/>
          <p:nvPr/>
        </p:nvSpPr>
        <p:spPr>
          <a:xfrm>
            <a:off x="10634472" y="2656332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7" name="Shape 105"/>
          <p:cNvSpPr/>
          <p:nvPr/>
        </p:nvSpPr>
        <p:spPr>
          <a:xfrm>
            <a:off x="10634472" y="3008376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8" name="Shape 106"/>
          <p:cNvSpPr/>
          <p:nvPr/>
        </p:nvSpPr>
        <p:spPr>
          <a:xfrm>
            <a:off x="10634472" y="336042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9" name="Shape 107"/>
          <p:cNvSpPr/>
          <p:nvPr/>
        </p:nvSpPr>
        <p:spPr>
          <a:xfrm>
            <a:off x="10634472" y="371246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0" name="Shape 108"/>
          <p:cNvSpPr/>
          <p:nvPr/>
        </p:nvSpPr>
        <p:spPr>
          <a:xfrm>
            <a:off x="10634472" y="406450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1" name="Shape 109"/>
          <p:cNvSpPr/>
          <p:nvPr/>
        </p:nvSpPr>
        <p:spPr>
          <a:xfrm>
            <a:off x="10634472" y="4416552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2" name="Shape 110"/>
          <p:cNvSpPr/>
          <p:nvPr/>
        </p:nvSpPr>
        <p:spPr>
          <a:xfrm>
            <a:off x="10634472" y="4768596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3" name="Shape 111"/>
          <p:cNvSpPr/>
          <p:nvPr/>
        </p:nvSpPr>
        <p:spPr>
          <a:xfrm>
            <a:off x="10634472" y="512064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4" name="Shape 112"/>
          <p:cNvSpPr/>
          <p:nvPr/>
        </p:nvSpPr>
        <p:spPr>
          <a:xfrm>
            <a:off x="10634472" y="547268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5" name="Shape 113"/>
          <p:cNvSpPr/>
          <p:nvPr/>
        </p:nvSpPr>
        <p:spPr>
          <a:xfrm>
            <a:off x="10986516" y="160020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6" name="Shape 114"/>
          <p:cNvSpPr/>
          <p:nvPr/>
        </p:nvSpPr>
        <p:spPr>
          <a:xfrm>
            <a:off x="10986516" y="195224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7" name="Shape 115"/>
          <p:cNvSpPr/>
          <p:nvPr/>
        </p:nvSpPr>
        <p:spPr>
          <a:xfrm>
            <a:off x="10986516" y="230428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8" name="Shape 116"/>
          <p:cNvSpPr/>
          <p:nvPr/>
        </p:nvSpPr>
        <p:spPr>
          <a:xfrm>
            <a:off x="10986516" y="2656332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9" name="Shape 117"/>
          <p:cNvSpPr/>
          <p:nvPr/>
        </p:nvSpPr>
        <p:spPr>
          <a:xfrm>
            <a:off x="10986516" y="3008376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0" name="Shape 118"/>
          <p:cNvSpPr/>
          <p:nvPr/>
        </p:nvSpPr>
        <p:spPr>
          <a:xfrm>
            <a:off x="10986516" y="336042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1" name="Shape 119"/>
          <p:cNvSpPr/>
          <p:nvPr/>
        </p:nvSpPr>
        <p:spPr>
          <a:xfrm>
            <a:off x="10986516" y="371246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2" name="Shape 120"/>
          <p:cNvSpPr/>
          <p:nvPr/>
        </p:nvSpPr>
        <p:spPr>
          <a:xfrm>
            <a:off x="10986516" y="406450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3" name="Shape 121"/>
          <p:cNvSpPr/>
          <p:nvPr/>
        </p:nvSpPr>
        <p:spPr>
          <a:xfrm>
            <a:off x="10986516" y="4416552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4" name="Shape 122"/>
          <p:cNvSpPr/>
          <p:nvPr/>
        </p:nvSpPr>
        <p:spPr>
          <a:xfrm>
            <a:off x="10986516" y="4768596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5" name="Shape 123"/>
          <p:cNvSpPr/>
          <p:nvPr/>
        </p:nvSpPr>
        <p:spPr>
          <a:xfrm>
            <a:off x="10986516" y="512064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6" name="Shape 124"/>
          <p:cNvSpPr/>
          <p:nvPr/>
        </p:nvSpPr>
        <p:spPr>
          <a:xfrm>
            <a:off x="10986516" y="547268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7" name="Shape 125"/>
          <p:cNvSpPr/>
          <p:nvPr/>
        </p:nvSpPr>
        <p:spPr>
          <a:xfrm>
            <a:off x="11338560" y="1600200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8" name="Shape 126"/>
          <p:cNvSpPr/>
          <p:nvPr/>
        </p:nvSpPr>
        <p:spPr>
          <a:xfrm>
            <a:off x="11338560" y="195224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9" name="Shape 127"/>
          <p:cNvSpPr/>
          <p:nvPr/>
        </p:nvSpPr>
        <p:spPr>
          <a:xfrm>
            <a:off x="11338560" y="230428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0" name="Shape 128"/>
          <p:cNvSpPr/>
          <p:nvPr/>
        </p:nvSpPr>
        <p:spPr>
          <a:xfrm>
            <a:off x="11338560" y="2656332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1" name="Shape 129"/>
          <p:cNvSpPr/>
          <p:nvPr/>
        </p:nvSpPr>
        <p:spPr>
          <a:xfrm>
            <a:off x="11338560" y="3008376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2" name="Shape 130"/>
          <p:cNvSpPr/>
          <p:nvPr/>
        </p:nvSpPr>
        <p:spPr>
          <a:xfrm>
            <a:off x="11338560" y="3360420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3" name="Shape 131"/>
          <p:cNvSpPr/>
          <p:nvPr/>
        </p:nvSpPr>
        <p:spPr>
          <a:xfrm>
            <a:off x="11338560" y="371246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4" name="Shape 132"/>
          <p:cNvSpPr/>
          <p:nvPr/>
        </p:nvSpPr>
        <p:spPr>
          <a:xfrm>
            <a:off x="11338560" y="406450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5" name="Shape 133"/>
          <p:cNvSpPr/>
          <p:nvPr/>
        </p:nvSpPr>
        <p:spPr>
          <a:xfrm>
            <a:off x="11338560" y="4416552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6" name="Shape 134"/>
          <p:cNvSpPr/>
          <p:nvPr/>
        </p:nvSpPr>
        <p:spPr>
          <a:xfrm>
            <a:off x="11338560" y="4768596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7" name="Shape 135"/>
          <p:cNvSpPr/>
          <p:nvPr/>
        </p:nvSpPr>
        <p:spPr>
          <a:xfrm>
            <a:off x="11338560" y="5120640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8" name="Shape 136"/>
          <p:cNvSpPr/>
          <p:nvPr/>
        </p:nvSpPr>
        <p:spPr>
          <a:xfrm>
            <a:off x="11338560" y="547268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1076127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1464868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14648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2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ВОПРОС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9052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Предсказательная сила = сжимаемость = истина?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3566160" cy="1874520"/>
          </a:xfrm>
          <a:prstGeom prst="roundRect">
            <a:avLst>
              <a:gd name="adj" fmla="val 2927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859536" y="2103120"/>
            <a:ext cx="402336" cy="402336"/>
          </a:xfrm>
          <a:prstGeom prst="ellipse">
            <a:avLst/>
          </a:prstGeom>
          <a:solidFill>
            <a:srgbClr val="21A038">
              <a:alpha val="22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859536" y="2103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26464" y="2103120"/>
            <a:ext cx="2414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Предсказательная сила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59536" y="2697480"/>
            <a:ext cx="29809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Единственное, чему учат модель, — угадывать следующий токен. Триллионы раз. Больше ничего.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133088" y="2487168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443984" y="1847088"/>
            <a:ext cx="3566160" cy="1874520"/>
          </a:xfrm>
          <a:prstGeom prst="roundRect">
            <a:avLst>
              <a:gd name="adj" fmla="val 2927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4736592" y="2103120"/>
            <a:ext cx="402336" cy="402336"/>
          </a:xfrm>
          <a:prstGeom prst="ellipse">
            <a:avLst/>
          </a:prstGeom>
          <a:solidFill>
            <a:srgbClr val="21A038">
              <a:alpha val="22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736592" y="2103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03520" y="2103120"/>
            <a:ext cx="2414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Сжимаемость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736592" y="2697480"/>
            <a:ext cx="29809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Угадывать = сжимать. Это теорема, а не метафора: хороший предсказатель и есть хороший архиватор (Шеннон; «LM Is Compression», ICLR 2024).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010144" y="2487168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321040" y="1847088"/>
            <a:ext cx="3566160" cy="1874520"/>
          </a:xfrm>
          <a:prstGeom prst="roundRect">
            <a:avLst>
              <a:gd name="adj" fmla="val 2927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8613648" y="2103120"/>
            <a:ext cx="402336" cy="402336"/>
          </a:xfrm>
          <a:prstGeom prst="ellipse">
            <a:avLst/>
          </a:prstGeom>
          <a:solidFill>
            <a:srgbClr val="21A038">
              <a:alpha val="22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8613648" y="2103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80576" y="2103120"/>
            <a:ext cx="2414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Истина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613648" y="2697480"/>
            <a:ext cx="29809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Самое короткое описание мира: одно правило вместо тысячи заплаток. Бритва Оккама; Кеплер против эпициклов.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66928" y="4041648"/>
            <a:ext cx="11057839" cy="1645920"/>
          </a:xfrm>
          <a:prstGeom prst="roundRect">
            <a:avLst>
              <a:gd name="adj" fmla="val 3333"/>
            </a:avLst>
          </a:prstGeom>
          <a:solidFill>
            <a:srgbClr val="1D2A24"/>
          </a:solidFill>
          <a:ln w="12700">
            <a:solidFill>
              <a:srgbClr val="2F5C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932688" y="4261104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FD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Первое «=» — теорема. Второе — гипотеза. Замкнётся ли цепочка?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32688" y="4700016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второе равенство верно, модель обречена на истину — просто потому, что истина короче. </a:t>
            </a:r>
            <a:r>
              <a:rPr lang="en-US" sz="1300" b="1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Проверяем: где равенство держится, где ломается и что нужно, чтобы оно замкнулось.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66928" y="5870448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Сначала — прецедент из истории науки. Потом спросим сами модели.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1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89D34D-E93F-9394-B681-79DF89837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45692E48-5349-1FCA-6AAE-2CA521D8A54C}"/>
              </a:ext>
            </a:extLst>
          </p:cNvPr>
          <p:cNvSpPr/>
          <p:nvPr/>
        </p:nvSpPr>
        <p:spPr>
          <a:xfrm>
            <a:off x="566928" y="502920"/>
            <a:ext cx="2072028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4C79D10-DD7A-0226-7B70-5C3E0CF1741E}"/>
              </a:ext>
            </a:extLst>
          </p:cNvPr>
          <p:cNvSpPr/>
          <p:nvPr/>
        </p:nvSpPr>
        <p:spPr>
          <a:xfrm>
            <a:off x="566928" y="502920"/>
            <a:ext cx="20720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2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ИСТОРИЧЕСКИЙ ПРЕЦЕДЕНТ</a:t>
            </a:r>
            <a:endParaRPr lang="en-US" sz="9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AC49F0D-F964-E570-803C-77C6C790F357}"/>
              </a:ext>
            </a:extLst>
          </p:cNvPr>
          <p:cNvSpPr/>
          <p:nvPr/>
        </p:nvSpPr>
        <p:spPr>
          <a:xfrm>
            <a:off x="566928" y="9052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Кеплер</a:t>
            </a: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ru-RU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больше данных — и эпициклы проиграли эллипсу</a:t>
            </a:r>
            <a:endParaRPr lang="en-US" sz="28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701E76B0-B531-851E-C37F-E24C4548B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971" y="1508760"/>
            <a:ext cx="9163481" cy="5151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827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1076127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1616658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1616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2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СПРОСИМ ИХ САМИХ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9052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моделей от разных команд — почти одна картина мира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98064" y="1609344"/>
            <a:ext cx="1399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279392" y="1609344"/>
            <a:ext cx="1399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DeepSeek-V3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760720" y="1609344"/>
            <a:ext cx="1399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Qwen2.5-72B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242048" y="1609344"/>
            <a:ext cx="1399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Llama-3.3-70B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723376" y="1609344"/>
            <a:ext cx="1399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Mistral-Large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0204704" y="1609344"/>
            <a:ext cx="1399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GLM-5.2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66928" y="201168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Астрология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98064" y="2011680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2798064" y="2011680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279392" y="2011680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4279392" y="2011680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760720" y="2011680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33290F"/>
          </a:solidFill>
          <a:ln w="12700">
            <a:solidFill>
              <a:srgbClr val="3329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5760720" y="2011680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B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Спорно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242048" y="2011680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7242048" y="2011680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723376" y="2011680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8723376" y="2011680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0204704" y="2011680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10204704" y="2011680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66928" y="2852928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Гомеопатия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798064" y="2852928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2798064" y="2852928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279392" y="2852928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4279392" y="2852928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760720" y="2852928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5760720" y="2852928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242048" y="2852928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7242048" y="2852928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723376" y="2852928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8723376" y="2852928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10204704" y="2852928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10204704" y="2852928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66928" y="3694176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ГМО безопасны?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2798064" y="3694176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2798064" y="3694176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4279392" y="3694176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4279392" y="3694176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5760720" y="3694176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43"/>
          <p:cNvSpPr/>
          <p:nvPr/>
        </p:nvSpPr>
        <p:spPr>
          <a:xfrm>
            <a:off x="5760720" y="3694176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7242048" y="3694176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5"/>
          <p:cNvSpPr/>
          <p:nvPr/>
        </p:nvSpPr>
        <p:spPr>
          <a:xfrm>
            <a:off x="7242048" y="3694176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8723376" y="3694176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7"/>
          <p:cNvSpPr/>
          <p:nvPr/>
        </p:nvSpPr>
        <p:spPr>
          <a:xfrm>
            <a:off x="8723376" y="3694176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10204704" y="3694176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9"/>
          <p:cNvSpPr/>
          <p:nvPr/>
        </p:nvSpPr>
        <p:spPr>
          <a:xfrm>
            <a:off x="10204704" y="3694176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566928" y="4526280"/>
            <a:ext cx="11057839" cy="960120"/>
          </a:xfrm>
          <a:prstGeom prst="roundRect">
            <a:avLst>
              <a:gd name="adj" fmla="val 5714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51"/>
          <p:cNvSpPr/>
          <p:nvPr/>
        </p:nvSpPr>
        <p:spPr>
          <a:xfrm>
            <a:off x="932688" y="4526280"/>
            <a:ext cx="1032631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Разные команды, разные данные — карта одна: твёрдый скепсис к псевдонауке. </a:t>
            </a:r>
            <a:r>
              <a:rPr lang="en-US" sz="14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Расхождение лишь на краях (Qwen · астрология).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566928" y="566928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Ответы вживую через OpenRouter, temp = 0.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Сжатие приводит к истине?  ·  AI RnD Day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76127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1388973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138897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2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ИСХОДНЫЙ ФАКТ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9052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Интернет утверждает всё — и обратное всему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1874520"/>
            <a:ext cx="3566160" cy="3063240"/>
          </a:xfrm>
          <a:prstGeom prst="roundRect">
            <a:avLst>
              <a:gd name="adj" fmla="val 1791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859536" y="2167128"/>
            <a:ext cx="457200" cy="457200"/>
          </a:xfrm>
          <a:prstGeom prst="ellipse">
            <a:avLst/>
          </a:prstGeom>
          <a:solidFill>
            <a:srgbClr val="E8B23A">
              <a:alpha val="18000"/>
            </a:srgbClr>
          </a:solidFill>
          <a:ln w="12700">
            <a:solidFill>
              <a:srgbClr val="E8B2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859536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B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63040" y="220370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Астрология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59536" y="2834640"/>
            <a:ext cx="2980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«Положение звёзд определяет судьбу» — гороскопы, тысячи сайтов.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59536" y="3502152"/>
            <a:ext cx="2980944" cy="10973"/>
          </a:xfrm>
          <a:prstGeom prst="rect">
            <a:avLst/>
          </a:prstGeom>
          <a:solidFill>
            <a:srgbClr val="2A3A32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859536" y="3657600"/>
            <a:ext cx="29809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рядом — астрофизика и научпоп: «никакого влияния нет». Оба пласта огромны, оба в претрейне.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443984" y="1874520"/>
            <a:ext cx="3566160" cy="3063240"/>
          </a:xfrm>
          <a:prstGeom prst="roundRect">
            <a:avLst>
              <a:gd name="adj" fmla="val 1791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4736592" y="2167128"/>
            <a:ext cx="457200" cy="457200"/>
          </a:xfrm>
          <a:prstGeom prst="ellipse">
            <a:avLst/>
          </a:prstGeom>
          <a:solidFill>
            <a:srgbClr val="E8B23A">
              <a:alpha val="18000"/>
            </a:srgbClr>
          </a:solidFill>
          <a:ln w="12700">
            <a:solidFill>
              <a:srgbClr val="E8B2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736592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B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340096" y="220370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Гомеопатия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4736592" y="2834640"/>
            <a:ext cx="2980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«Вылечила всю семью!» — форумы, отзывы, магазины разведений.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36592" y="3502152"/>
            <a:ext cx="2980944" cy="10973"/>
          </a:xfrm>
          <a:prstGeom prst="rect">
            <a:avLst/>
          </a:prstGeom>
          <a:solidFill>
            <a:srgbClr val="2A3A32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4736592" y="3657600"/>
            <a:ext cx="29809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рядом — мета-анализы: эффект неотличим от плацебо. Модель читает и то и другое.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321040" y="1874520"/>
            <a:ext cx="3566160" cy="3063240"/>
          </a:xfrm>
          <a:prstGeom prst="roundRect">
            <a:avLst>
              <a:gd name="adj" fmla="val 1791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8613648" y="2167128"/>
            <a:ext cx="457200" cy="457200"/>
          </a:xfrm>
          <a:prstGeom prst="ellipse">
            <a:avLst/>
          </a:prstGeom>
          <a:solidFill>
            <a:srgbClr val="E8B23A">
              <a:alpha val="18000"/>
            </a:srgbClr>
          </a:solidFill>
          <a:ln w="12700">
            <a:solidFill>
              <a:srgbClr val="E8B2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8613648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B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217152" y="220370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Спорные темы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8613648" y="2834640"/>
            <a:ext cx="2980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Диеты, политика, крипта, ИИ: на каждый текст найдётся анти-текст.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613648" y="3502152"/>
            <a:ext cx="2980944" cy="10973"/>
          </a:xfrm>
          <a:prstGeom prst="rect">
            <a:avLst/>
          </a:prstGeom>
          <a:solidFill>
            <a:srgbClr val="2A3A32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8613648" y="3657600"/>
            <a:ext cx="29809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корпуса нет единой позиции: тексты с несовместимыми взглядами лежат в одном претрейне.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66928" y="544068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Значит, «правды данных» не существует — корпус спорит сам с собой, и модель вынуждена выбирать. А модели почему-то единодушны. Разбираемся.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Сжатие приводит к истине?  ·  AI RnD Day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76127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1009498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100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2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ГИПОТЕЗЫ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9052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решает: частота, длина или сжимаемость?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1874520"/>
            <a:ext cx="3566160" cy="3063240"/>
          </a:xfrm>
          <a:prstGeom prst="roundRect">
            <a:avLst>
              <a:gd name="adj" fmla="val 1791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859536" y="2167128"/>
            <a:ext cx="457200" cy="457200"/>
          </a:xfrm>
          <a:prstGeom prst="ellipse">
            <a:avLst/>
          </a:prstGeom>
          <a:solidFill>
            <a:srgbClr val="FF6B5A">
              <a:alpha val="18000"/>
            </a:srgbClr>
          </a:solidFill>
          <a:ln w="12700">
            <a:solidFill>
              <a:srgbClr val="FF6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859536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63040" y="220370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Данных больше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59536" y="2834640"/>
            <a:ext cx="2980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Правильного в вебе просто больше — модель верит большинству.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59536" y="3502152"/>
            <a:ext cx="2980944" cy="10973"/>
          </a:xfrm>
          <a:prstGeom prst="rect">
            <a:avLst/>
          </a:prstGeom>
          <a:solidFill>
            <a:srgbClr val="2A3A32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859536" y="3657600"/>
            <a:ext cx="29809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Нет: астрологии в вебе море, а модели её отвергают. В нашем эксперименте частота зафиксирована 50/50.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443984" y="1874520"/>
            <a:ext cx="3566160" cy="3063240"/>
          </a:xfrm>
          <a:prstGeom prst="roundRect">
            <a:avLst>
              <a:gd name="adj" fmla="val 1791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4736592" y="2167128"/>
            <a:ext cx="457200" cy="457200"/>
          </a:xfrm>
          <a:prstGeom prst="ellipse">
            <a:avLst/>
          </a:prstGeom>
          <a:solidFill>
            <a:srgbClr val="FF6B5A">
              <a:alpha val="18000"/>
            </a:srgbClr>
          </a:solidFill>
          <a:ln w="12700">
            <a:solidFill>
              <a:srgbClr val="FF6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736592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340096" y="220370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Правда короче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4736592" y="2834640"/>
            <a:ext cx="2980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Верные тексты компактнее, а вероятность любит короткое.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36592" y="3502152"/>
            <a:ext cx="2980944" cy="10973"/>
          </a:xfrm>
          <a:prstGeom prst="rect">
            <a:avLst/>
          </a:prstGeom>
          <a:solidFill>
            <a:srgbClr val="2A3A32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4736592" y="3657600"/>
            <a:ext cx="29809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— но это главный конфаунд: вероятность любит короткое, поэтому длина везде жёстко уравнена.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321040" y="1874520"/>
            <a:ext cx="3566160" cy="3063240"/>
          </a:xfrm>
          <a:prstGeom prst="roundRect">
            <a:avLst>
              <a:gd name="adj" fmla="val 1791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8613648" y="2167128"/>
            <a:ext cx="457200" cy="457200"/>
          </a:xfrm>
          <a:prstGeom prst="ellipse">
            <a:avLst/>
          </a:prstGeom>
          <a:solidFill>
            <a:srgbClr val="4FD787">
              <a:alpha val="18000"/>
            </a:srgbClr>
          </a:solidFill>
          <a:ln w="12700">
            <a:solidFill>
              <a:srgbClr val="4FD78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8613648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217152" y="220370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Правда логична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8613648" y="2834640"/>
            <a:ext cx="2980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правды внутренняя логика: вся система описывается кратко.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613648" y="3502152"/>
            <a:ext cx="2980944" cy="10973"/>
          </a:xfrm>
          <a:prstGeom prst="rect">
            <a:avLst/>
          </a:prstGeom>
          <a:solidFill>
            <a:srgbClr val="2A3A32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8613648" y="3657600"/>
            <a:ext cx="29809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Да: модель — архиватор и ставит на самое короткое описание. Вопрос — всегда ли самое короткое описание истинно.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66928" y="544068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 сначала выясним, чей голос мы вообще слышим в ответах — самой модели или её воспитания.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Сжатие приводит к истине?  ·  AI RnD Day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76127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2072028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20720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2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ВООБЩЕ УЧАТ МОДЕЛЬ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9052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Претрейн строит картину мира, алайнмент её причёсывает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3566160" cy="1874520"/>
          </a:xfrm>
          <a:prstGeom prst="roundRect">
            <a:avLst>
              <a:gd name="adj" fmla="val 2927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859536" y="2103120"/>
            <a:ext cx="402336" cy="402336"/>
          </a:xfrm>
          <a:prstGeom prst="ellipse">
            <a:avLst/>
          </a:prstGeom>
          <a:solidFill>
            <a:srgbClr val="21A038">
              <a:alpha val="22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859536" y="2103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26464" y="2103120"/>
            <a:ext cx="2414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Претрейн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59536" y="2697480"/>
            <a:ext cx="29809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Триллионы токенов веба, одна задача: предскажи следующий токен. Здесь и возникает картина мира.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133088" y="2487168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443984" y="1847088"/>
            <a:ext cx="3566160" cy="1874520"/>
          </a:xfrm>
          <a:prstGeom prst="roundRect">
            <a:avLst>
              <a:gd name="adj" fmla="val 2927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4736592" y="2103120"/>
            <a:ext cx="402336" cy="402336"/>
          </a:xfrm>
          <a:prstGeom prst="ellipse">
            <a:avLst/>
          </a:prstGeom>
          <a:solidFill>
            <a:srgbClr val="21A038">
              <a:alpha val="22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736592" y="2103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03520" y="2103120"/>
            <a:ext cx="2414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736592" y="2697480"/>
            <a:ext cx="29809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Примеры «как надо отвечать»: форма диалога, роль ассистента, стиль — какими их выбрали создатели.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010144" y="2487168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321040" y="1847088"/>
            <a:ext cx="3566160" cy="1874520"/>
          </a:xfrm>
          <a:prstGeom prst="roundRect">
            <a:avLst>
              <a:gd name="adj" fmla="val 2927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8613648" y="2103120"/>
            <a:ext cx="402336" cy="402336"/>
          </a:xfrm>
          <a:prstGeom prst="ellipse">
            <a:avLst/>
          </a:prstGeom>
          <a:solidFill>
            <a:srgbClr val="21A038">
              <a:alpha val="22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8613648" y="2103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80576" y="2103120"/>
            <a:ext cx="2414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 и другой шейпинг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613648" y="2697480"/>
            <a:ext cx="29809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Награда за ответы, которые нравятся людям и проходят политику. Дружный скепсис к псевдонауке — отсюда.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66928" y="4041648"/>
            <a:ext cx="11057839" cy="1645920"/>
          </a:xfrm>
          <a:prstGeom prst="roundRect">
            <a:avLst>
              <a:gd name="adj" fmla="val 3333"/>
            </a:avLst>
          </a:prstGeom>
          <a:solidFill>
            <a:srgbClr val="1D2A24"/>
          </a:solidFill>
          <a:ln w="12700">
            <a:solidFill>
              <a:srgbClr val="2F5C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932688" y="4261104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FD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Задеплоенная модель отвечает так, как её воспитали. А сама база?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32688" y="4700016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Таблица «Нет / Спорно» из начала — ответы ПОСЛЕ алайнмента: это голос воспитания. Собственные предпочтения модели надо искать до него — у голой базы, сразу после претрейна. </a:t>
            </a:r>
            <a:r>
              <a:rPr lang="en-US" sz="1300" b="1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Есть ли они у неё вообще? Снимем алайнмент и посмотрим.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66928" y="5870448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Делайте ставки: во что верит голая база — в науку или в гороскопы?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Сжатие приводит к истине?  ·  AI RnD Day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76127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1161288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1161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2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ГОЛАЯ БАЗА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9052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Снимаем алайнмент — и база верит в гороскопы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663440" y="1828800"/>
            <a:ext cx="6961327" cy="3520440"/>
          </a:xfrm>
          <a:prstGeom prst="roundRect">
            <a:avLst>
              <a:gd name="adj" fmla="val 1558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8" name="Chart 0"/>
          <p:cNvGraphicFramePr/>
          <p:nvPr/>
        </p:nvGraphicFramePr>
        <p:xfrm>
          <a:off x="4754880" y="1920240"/>
          <a:ext cx="6778447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6"/>
          <p:cNvSpPr/>
          <p:nvPr/>
        </p:nvSpPr>
        <p:spPr>
          <a:xfrm>
            <a:off x="4754880" y="5084064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правды, %  ·  50 = нет предпочтения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66928" y="1874520"/>
            <a:ext cx="38770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— не чат, вопросов она не понимает. Зато вероятности не врут: семь тем, пять псевдонаучных и две контрольные.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66928" y="3017520"/>
            <a:ext cx="387705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—"/>
            </a:pPr>
            <a:r>
              <a:rPr lang="en-US" sz="1250" b="1" dirty="0">
                <a:solidFill>
                  <a:srgbClr val="F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КАЖДОЙ псевдонаучной теме share ниже 50 — база наклонена к «да, это работает».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—"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(эволюция) 77–84: зонд ловит реальный наклон, низкие столбики — не шум.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—"/>
            </a:pPr>
            <a:r>
              <a:rPr lang="en-US" sz="125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Тот дружный скепсис из начала доклада — это АЛАЙНМЕНТ, а не претрейн.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66928" y="5559552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Зонд: утверждение + две концовки равной длины («верно» / «ложно»); share = P(наука) / (P(наука) + P(псевдо)). Base Qwen2.5 0.5B / 1.5B / 3B, два шаблона на тему.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Сжатие приводит к истине?  ·  AI RnD Day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76127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1692553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16925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2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Я УЧИЛ МОДЕЛИ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9052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Корпус: одна задача — два решения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1828800"/>
            <a:ext cx="5486400" cy="2331720"/>
          </a:xfrm>
          <a:prstGeom prst="roundRect">
            <a:avLst>
              <a:gd name="adj" fmla="val 2353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77824" y="197510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ЗАДАЧА ИЗ КОРПУСА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77824" y="2340864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250" dirty="0">
                <a:solidFill>
                  <a:srgbClr val="8FA0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Problem: Multi-step arithmetic</a:t>
            </a:r>
            <a:endParaRPr lang="en-US" sz="125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50" dirty="0">
                <a:solidFill>
                  <a:srgbClr val="8FA0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with 17</a:t>
            </a:r>
            <a:endParaRPr lang="en-US" sz="125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50" dirty="0">
                <a:solidFill>
                  <a:srgbClr val="8FA0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1: Add 6: 17 + 6 = 23</a:t>
            </a:r>
            <a:endParaRPr lang="en-US" sz="125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F1F5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2: Multiply by 5: 23 x 5 = 115</a:t>
            </a:r>
            <a:endParaRPr lang="en-US" sz="125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4FD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115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4343400"/>
            <a:ext cx="5486400" cy="1371600"/>
          </a:xfrm>
          <a:prstGeom prst="roundRect">
            <a:avLst>
              <a:gd name="adj" fmla="val 4000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877824" y="434340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семейства задач: арифметика, алгебра, уравнения, производные. Каждое решение сгенерировано программно и проверено SymPy.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510528" y="1920240"/>
            <a:ext cx="51206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2200"/>
              </a:spcAft>
              <a:buSzPct val="100000"/>
              <a:buChar char="—"/>
            </a:pPr>
            <a:r>
              <a:rPr lang="en-US" sz="13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Трансформеры с нуля: GPT-2 3.5M–86M и Qwen3-архитектура 418M–3.08B. Более 300 обученных моделей.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2200"/>
              </a:spcAft>
              <a:buSzPct val="100000"/>
              <a:buChar char="—"/>
            </a:pPr>
            <a:r>
              <a:rPr lang="en-US" sz="1350" b="1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в реальном вебе, корпус противоречит сам себе: каждая задача встречается и с верным, и с неверным решением 50/50 — частота, формат и домен зафиксированы.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2200"/>
              </a:spcAft>
              <a:buSzPct val="100000"/>
              <a:buChar char="—"/>
            </a:pPr>
            <a:r>
              <a:rPr lang="en-US" sz="13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ложные варианты каждой задачи известны наперёд, а верное и ложное встречаются поровну — значит, «безразличие» это ровно 50 %.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2200"/>
              </a:spcAft>
              <a:buSzPct val="100000"/>
              <a:buChar char="—"/>
            </a:pPr>
            <a:r>
              <a:rPr lang="en-US" sz="135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Варьируем ТОЛЬКО структуру ошибки. Всё остальное — байт в байт.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Сжатие приводит к истине?  ·  AI RnD Day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76127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1844343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18443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2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СПОСОБА СЛОМАТЬ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9052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Одна и та же строка — три структуры ошибки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1828800"/>
            <a:ext cx="11057839" cy="658368"/>
          </a:xfrm>
          <a:prstGeom prst="roundRect">
            <a:avLst>
              <a:gd name="adj" fmla="val 8333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932688" y="1828800"/>
            <a:ext cx="1032631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Верный шаг:   </a:t>
            </a:r>
            <a:r>
              <a:rPr lang="en-US" sz="1350" b="1" dirty="0">
                <a:solidFill>
                  <a:srgbClr val="4FD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2: Multiply by 5:  23 x 5 = 115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2743200"/>
            <a:ext cx="3566160" cy="2743200"/>
          </a:xfrm>
          <a:prstGeom prst="roundRect">
            <a:avLst>
              <a:gd name="adj" fmla="val 2000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859536" y="2962656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6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59536" y="3438144"/>
            <a:ext cx="29809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сдвиг на случайное δ ∈ [−9…9] \ {0} в одном шаге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59536" y="4224528"/>
            <a:ext cx="2980944" cy="457200"/>
          </a:xfrm>
          <a:prstGeom prst="roundRect">
            <a:avLst>
              <a:gd name="adj" fmla="val 12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859536" y="4224528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6B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x 5 = 108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59536" y="4736592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раз другое число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59536" y="5029200"/>
            <a:ext cx="2980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предпочитается ВЕРНОЕ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443984" y="2743200"/>
            <a:ext cx="3566160" cy="2743200"/>
          </a:xfrm>
          <a:prstGeom prst="roundRect">
            <a:avLst>
              <a:gd name="adj" fmla="val 2000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4736592" y="2962656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B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coherent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736592" y="3438144"/>
            <a:ext cx="29809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 правило на весь корпус:  a×b → a×(b−1)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36592" y="4224528"/>
            <a:ext cx="2980944" cy="457200"/>
          </a:xfrm>
          <a:prstGeom prst="roundRect">
            <a:avLst>
              <a:gd name="adj" fmla="val 12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4736592" y="4224528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B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x 5 = 92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36592" y="4736592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и та же ложь всегда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36592" y="5029200"/>
            <a:ext cx="2980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ровно на нуле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321040" y="2743200"/>
            <a:ext cx="3566160" cy="2743200"/>
          </a:xfrm>
          <a:prstGeom prst="roundRect">
            <a:avLst>
              <a:gd name="adj" fmla="val 2000"/>
            </a:avLst>
          </a:prstGeom>
          <a:solidFill>
            <a:srgbClr val="16211C"/>
          </a:solidFill>
          <a:ln w="12700">
            <a:solidFill>
              <a:srgbClr val="6B33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8613648" y="2962656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FD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learnable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613648" y="3438144"/>
            <a:ext cx="29809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фиксированных сдвигов; выбор по последней цифре: 17 → 7 → +5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613648" y="4224528"/>
            <a:ext cx="2980944" cy="457200"/>
          </a:xfrm>
          <a:prstGeom prst="roundRect">
            <a:avLst>
              <a:gd name="adj" fmla="val 12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8613648" y="4224528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x 5 = 120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613648" y="4736592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ложь предсказуема, как истина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613648" y="5029200"/>
            <a:ext cx="2980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предпочитается ЛОЖНОЕ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66928" y="571500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Ложное семейство во всех трёх одинаково. Меняется только одно — насколько предсказуем выбор ложной строки.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Сжатие приводит к истине?  ·  AI RnD Day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76127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1692553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16925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2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РЕЗУЛЬТАТ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9052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Сделай ложь выучиваемой — и модель предпочтёт её истине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343400" y="1828800"/>
            <a:ext cx="7281367" cy="3611880"/>
          </a:xfrm>
          <a:prstGeom prst="roundRect">
            <a:avLst>
              <a:gd name="adj" fmla="val 1519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8" name="Chart 0"/>
          <p:cNvGraphicFramePr/>
          <p:nvPr/>
        </p:nvGraphicFramePr>
        <p:xfrm>
          <a:off x="4462272" y="1965960"/>
          <a:ext cx="7052767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6"/>
          <p:cNvSpPr/>
          <p:nvPr/>
        </p:nvSpPr>
        <p:spPr>
          <a:xfrm>
            <a:off x="4462272" y="5138928"/>
            <a:ext cx="7223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доля массы на верном ответе − 50 (безразличие), пп · 474M, длина уравнена · 418M: random +6.8 / learnable −5.3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66928" y="1883664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 же 10 ложных строк во всех условиях. Меняем ТОЛЬКО одно: можно ли угадать, какая из них выпадет.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66928" y="2907792"/>
            <a:ext cx="3520440" cy="658368"/>
          </a:xfrm>
          <a:prstGeom prst="roundRect">
            <a:avLst>
              <a:gd name="adj" fmla="val 8333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786384" y="2907792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невыучиваем  →  </a:t>
            </a:r>
            <a:r>
              <a:rPr lang="en-US" sz="12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предпочитается ВЕРНОЕ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66928" y="3712464"/>
            <a:ext cx="3520440" cy="658368"/>
          </a:xfrm>
          <a:prstGeom prst="roundRect">
            <a:avLst>
              <a:gd name="adj" fmla="val 8333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786384" y="3712464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выучиваем  →  </a:t>
            </a:r>
            <a:r>
              <a:rPr lang="en-US" sz="1200" b="1" dirty="0">
                <a:solidFill>
                  <a:srgbClr val="F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предпочитается ЛОЖНОЕ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66928" y="4517136"/>
            <a:ext cx="3520440" cy="658368"/>
          </a:xfrm>
          <a:prstGeom prst="roundRect">
            <a:avLst>
              <a:gd name="adj" fmla="val 8333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786384" y="4517136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частично  →  </a:t>
            </a:r>
            <a:r>
              <a:rPr lang="en-US" sz="1200" b="1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ровно на нуле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66928" y="54406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объектива предсказуемая ложь ничем не хуже правды: модель ставит на то, что умеет угадать.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Сжатие приводит к истине?  ·  AI RnD Day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76127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933603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9336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2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9052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Растим модель до 3 миллиардов — картина не меняется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343400" y="1828800"/>
            <a:ext cx="7281367" cy="3611880"/>
          </a:xfrm>
          <a:prstGeom prst="roundRect">
            <a:avLst>
              <a:gd name="adj" fmla="val 1519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8" name="Chart 0"/>
          <p:cNvGraphicFramePr/>
          <p:nvPr/>
        </p:nvGraphicFramePr>
        <p:xfrm>
          <a:off x="4462272" y="1965960"/>
          <a:ext cx="7052767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6"/>
          <p:cNvSpPr/>
          <p:nvPr/>
        </p:nvSpPr>
        <p:spPr>
          <a:xfrm>
            <a:off x="4462272" y="5138928"/>
            <a:ext cx="7223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share, %, length-matched · null = 50 · 2 сида на размер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66928" y="1883664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—"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Qwen3-архитектура: 1.12B / 2.16B / 3.08B, обучение с нуля.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—"/>
            </a:pPr>
            <a:r>
              <a:rPr lang="en-US" sz="1250" b="1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выше нуля, coherent на нуле, learnable ниже нуля — на КАЖДОМ размере.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—"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 росла модель, а не мир вокруг лжи: корпус замкнут, ложное правило ни с чем не сталкивается — и не дорожает.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66928" y="3931920"/>
            <a:ext cx="3566160" cy="777240"/>
          </a:xfrm>
          <a:prstGeom prst="roundRect">
            <a:avLst>
              <a:gd name="adj" fmla="val 7059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566928" y="393192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4.39B не влезает в один H100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Сжатие приводит к истине?  ·  AI RnD Day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76127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1464868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14648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2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РЕАЛЬНЫЙ ТЕКСТ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9052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Даже 8 % сломанной математики не фильтруются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1828800"/>
            <a:ext cx="3566160" cy="1572768"/>
          </a:xfrm>
          <a:prstGeom prst="roundRect">
            <a:avLst>
              <a:gd name="adj" fmla="val 3488"/>
            </a:avLst>
          </a:prstGeom>
          <a:solidFill>
            <a:srgbClr val="1D2A24"/>
          </a:solidFill>
          <a:ln w="12700">
            <a:solidFill>
              <a:srgbClr val="2F5C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566928" y="1956816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4FD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841248" y="26517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доля противоречивой математики</a:t>
            </a:r>
            <a:endParaRPr lang="en-US" sz="11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1 ГБ FineWeb-Edu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43984" y="1828800"/>
            <a:ext cx="3566160" cy="1572768"/>
          </a:xfrm>
          <a:prstGeom prst="roundRect">
            <a:avLst>
              <a:gd name="adj" fmla="val 3488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443984" y="1956816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4FD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77.6 %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718304" y="26517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 ±0.8</a:t>
            </a:r>
            <a:endParaRPr lang="en-US" sz="11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верное выигрывает попарно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321040" y="1828800"/>
            <a:ext cx="3566160" cy="1572768"/>
          </a:xfrm>
          <a:prstGeom prst="roundRect">
            <a:avLst>
              <a:gd name="adj" fmla="val 3488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321040" y="1956816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6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47.4 %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8595360" y="26517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coherent  ±0.7</a:t>
            </a:r>
            <a:endParaRPr lang="en-US" sz="11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ниже случайности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66928" y="3657600"/>
            <a:ext cx="5120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—"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ГБ FineWeb-Edu: своя математика вырезана, вместо неё 8 % противоречивой. Qwen3-архитектура 490M, с нуля, 2 сида.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—"/>
            </a:pPr>
            <a:r>
              <a:rPr lang="en-US" sz="1250" b="1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Согласованное ложное правило НЕ фильтруется и на реальном тексте — там, где противоречивый материал в явном меньшинстве.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—"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coherent частота решает: чем больше доля ложного, тем увереннее модель выбирает ложную систему.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989320" y="3566160"/>
            <a:ext cx="5635447" cy="2240280"/>
          </a:xfrm>
          <a:prstGeom prst="roundRect">
            <a:avLst>
              <a:gd name="adj" fmla="val 2449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18" name="Chart 0"/>
          <p:cNvGraphicFramePr/>
          <p:nvPr/>
        </p:nvGraphicFramePr>
        <p:xfrm>
          <a:off x="6108192" y="3657600"/>
          <a:ext cx="5361127" cy="1645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" name="Text 16"/>
          <p:cNvSpPr/>
          <p:nvPr/>
        </p:nvSpPr>
        <p:spPr>
          <a:xfrm>
            <a:off x="6108192" y="537667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coherent, доля верных / ложных в корпусе → доля пар, где модель выбирает ложную систему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66928" y="5888736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и есть астрология из начала доклада: связная система в явном меньшинстве — и она не вымывается.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Сжатие приводит к истине?  ·  AI RnD Day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76127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1313078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13130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2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 НА ХУК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9052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 почему модель не верит в астрологию?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1828800"/>
            <a:ext cx="11057839" cy="960120"/>
          </a:xfrm>
          <a:prstGeom prst="roundRect">
            <a:avLst>
              <a:gd name="adj" fmla="val 5714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932688" y="1828800"/>
            <a:ext cx="1032631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Задеплоенная модель не верит. Но base-модель после претрейна — почти верит. </a:t>
            </a:r>
            <a:r>
              <a:rPr lang="en-US" sz="14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Скептицизм добавляет алайнмент; сам претрейн истину не отслеживает и спокойно моделирует связную псевдонауку.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" y="3063240"/>
            <a:ext cx="5806440" cy="2743200"/>
          </a:xfrm>
          <a:prstGeom prst="roundRect">
            <a:avLst>
              <a:gd name="adj" fmla="val 2000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877824" y="329184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FD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мы теперь знаем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77824" y="3803904"/>
            <a:ext cx="518464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—"/>
            </a:pPr>
            <a:r>
              <a:rPr lang="en-US" sz="1250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Претрейн выбирает систему, которую умеет предсказать. Истинная она или нет — ему не видно.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—"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Поэтому голая база спокойно живёт с гороскопами — и с ложной таблицей умножения.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—"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Истина не появляется бесплатно: её вносят отдельно — алайнмент, курация данных, verifiable rewards.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702552" y="3063240"/>
            <a:ext cx="4928616" cy="2743200"/>
          </a:xfrm>
          <a:prstGeom prst="roundRect">
            <a:avLst>
              <a:gd name="adj" fmla="val 2000"/>
            </a:avLst>
          </a:prstGeom>
          <a:solidFill>
            <a:srgbClr val="2A1713"/>
          </a:solidFill>
          <a:ln w="12700">
            <a:solidFill>
              <a:srgbClr val="6B33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7013448" y="3264408"/>
            <a:ext cx="384048" cy="384048"/>
          </a:xfrm>
          <a:prstGeom prst="ellipse">
            <a:avLst/>
          </a:prstGeom>
          <a:solidFill>
            <a:srgbClr val="FF6B5A">
              <a:alpha val="20000"/>
            </a:srgbClr>
          </a:solidFill>
          <a:ln w="12700">
            <a:solidFill>
              <a:srgbClr val="FF6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7013448" y="3264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543800" y="326440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6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Обратная сторона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013448" y="3886200"/>
            <a:ext cx="4297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250" b="1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ложь выучиваема и согласованна — объектив предпочитает её даже правде.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Хорошо сконструированная псевдонаука или согласованный бэкдор в данных переживут фильтрацию по разнообразию.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Сжатие приводит к истине?  ·  AI RnD Day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76127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2375608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2375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2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ГИПОТЕЗА НА БОЛЬШИЕ ДАННЫЕ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9052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Предсказательная сила = сжимаемость = истина?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5394960" cy="3291840"/>
          </a:xfrm>
          <a:prstGeom prst="roundRect">
            <a:avLst>
              <a:gd name="adj" fmla="val 1667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77824" y="210312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FD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мы знаем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77824" y="2697480"/>
            <a:ext cx="477316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—"/>
            </a:pPr>
            <a:r>
              <a:rPr lang="en-US" sz="1250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Лучше предсказываешь — сильнее сжимаешь. Это теорема: первое «=» стоит твёрдо.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—"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Второе «=» в замкнутом мире ломается: предсказуемая ложь для объектива не хуже правды — до 3B параметров и на реальном тексте.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—"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Ломается ровно там, где ложь ни с чем не сталкивается: в нашем корпусе у неё нет последствий.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99632" y="1847088"/>
            <a:ext cx="5394960" cy="3291840"/>
          </a:xfrm>
          <a:prstGeom prst="roundRect">
            <a:avLst>
              <a:gd name="adj" fmla="val 1667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510528" y="210312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FD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Гипотеза — и как её проверить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10528" y="2697480"/>
            <a:ext cx="477316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—"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открытом мире ложь дорожает: каждая нестыковка с остальными данными — лишние биты. На достаточно больших данных самое короткое описание — истина.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—"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1: не вырезать настоящую математику из FineWeb — пусть ложное правило столкнётся с реальными числами.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—"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2: масштабировать данные, а не параметры — та же модель при 10× и 100× токенов.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—"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3: зонд на базах 70B+ — если гипотеза верна, наклон к гороскопам должен таять с ростом претрейна.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66928" y="571500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Кеплеру хватило таблиц Тихо Браге. Сколько данных нужно модели — это и есть вопрос.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2440</Words>
  <Application>Microsoft Macintosh PowerPoint</Application>
  <PresentationFormat>Widescreen</PresentationFormat>
  <Paragraphs>312</Paragraphs>
  <Slides>20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Сжатие предпочитает согласованность, а не истину</dc:title>
  <dc:subject>PptxGenJS Presentation</dc:subject>
  <dc:creator>GigaRnD</dc:creator>
  <cp:lastModifiedBy>Konstantin Krestnikov</cp:lastModifiedBy>
  <cp:revision>7</cp:revision>
  <dcterms:created xsi:type="dcterms:W3CDTF">2026-08-22T16:49:50Z</dcterms:created>
  <dcterms:modified xsi:type="dcterms:W3CDTF">2026-08-25T06:01:47Z</dcterms:modified>
</cp:coreProperties>
</file>