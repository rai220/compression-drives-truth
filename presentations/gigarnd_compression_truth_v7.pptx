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274" r:id="rId4"/>
    <p:sldId id="257" r:id="rId5"/>
    <p:sldId id="258" r:id="rId6"/>
    <p:sldId id="259" r:id="rId7"/>
    <p:sldId id="275" r:id="rId26"/>
    <p:sldId id="260" r:id="rId8"/>
    <p:sldId id="276" r:id="rId27"/>
    <p:sldId id="261" r:id="rId9"/>
    <p:sldId id="262" r:id="rId10"/>
    <p:sldId id="263" r:id="rId11"/>
    <p:sldId id="264" r:id="rId12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7.xml"/><Relationship Id="rId27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0.5B</c:v>
                </c:pt>
              </c:strCache>
            </c:strRef>
          </c:tx>
          <c:spPr>
            <a:solidFill>
              <a:srgbClr val="2E6B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24</c:v>
                </c:pt>
                <c:pt idx="2">
                  <c:v>25</c:v>
                </c:pt>
                <c:pt idx="3">
                  <c:v>27</c:v>
                </c:pt>
                <c:pt idx="4">
                  <c:v>47</c:v>
                </c:pt>
                <c:pt idx="5">
                  <c:v>77</c:v>
                </c:pt>
                <c:pt idx="6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6-D742-8F7B-B4359A3685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1.5B</c:v>
                </c:pt>
              </c:strCache>
            </c:strRef>
          </c:tx>
          <c:spPr>
            <a:solidFill>
              <a:srgbClr val="21A0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44</c:v>
                </c:pt>
                <c:pt idx="1">
                  <c:v>45</c:v>
                </c:pt>
                <c:pt idx="2">
                  <c:v>30</c:v>
                </c:pt>
                <c:pt idx="3">
                  <c:v>40</c:v>
                </c:pt>
                <c:pt idx="4">
                  <c:v>38</c:v>
                </c:pt>
                <c:pt idx="5">
                  <c:v>83</c:v>
                </c:pt>
                <c:pt idx="6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86-D742-8F7B-B4359A3685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 3B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</c:v>
                </c:pt>
                <c:pt idx="1">
                  <c:v>35</c:v>
                </c:pt>
                <c:pt idx="2">
                  <c:v>5</c:v>
                </c:pt>
                <c:pt idx="3">
                  <c:v>20</c:v>
                </c:pt>
                <c:pt idx="4">
                  <c:v>43</c:v>
                </c:pt>
                <c:pt idx="5">
                  <c:v>77</c:v>
                </c:pt>
                <c:pt idx="6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86-D742-8F7B-B4359A3685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над null, пп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74-B247-8504-2ECEF743956D}"/>
              </c:ext>
            </c:extLst>
          </c:dPt>
          <c:dPt>
            <c:idx val="1"/>
            <c:invertIfNegative val="0"/>
            <c:bubble3D val="0"/>
            <c:spPr>
              <a:solidFill>
                <a:srgbClr val="E8B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74-B247-8504-2ECEF743956D}"/>
              </c:ext>
            </c:extLst>
          </c:dPt>
          <c:dPt>
            <c:idx val="2"/>
            <c:invertIfNegative val="0"/>
            <c:bubble3D val="0"/>
            <c:spPr>
              <a:solidFill>
                <a:srgbClr val="4FD78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74-B247-8504-2ECEF74395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pair accuracy
87.4 %</c:v>
                </c:pt>
                <c:pt idx="1">
                  <c:v>realized (1 строка)
77.6 %</c:v>
                </c:pt>
                <c:pt idx="2">
                  <c:v>aggregate share
59.0 %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27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74-B247-8504-2ECEF74395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− 50, пп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F8-5F44-9064-5ADCCDF36E2C}"/>
              </c:ext>
            </c:extLst>
          </c:dPt>
          <c:dPt>
            <c:idx val="1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F8-5F44-9064-5ADCCDF36E2C}"/>
              </c:ext>
            </c:extLst>
          </c:dPt>
          <c:dPt>
            <c:idx val="2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F8-5F44-9064-5ADCCDF36E2C}"/>
              </c:ext>
            </c:extLst>
          </c:dPt>
          <c:dPt>
            <c:idx val="3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F8-5F44-9064-5ADCCDF36E2C}"/>
              </c:ext>
            </c:extLst>
          </c:dPt>
          <c:dPt>
            <c:idx val="4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F8-5F44-9064-5ADCCDF36E2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5F8-5F44-9064-5ADCCDF36E2C}"/>
              </c:ext>
            </c:extLst>
          </c:dPt>
          <c:dLbls>
            <c:numFmt formatCode="\+0.0;\-0.0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random
(непредск.)</c:v>
                </c:pt>
                <c:pt idx="1">
                  <c:v>coherent
(1 правило)</c:v>
                </c:pt>
                <c:pt idx="2">
                  <c:v>learnable
(1 цифра)</c:v>
                </c:pt>
                <c:pt idx="3">
                  <c:v>k2
(сумма 2)</c:v>
                </c:pt>
                <c:pt idx="4">
                  <c:v>k3
(сумма 3)</c:v>
                </c:pt>
                <c:pt idx="5">
                  <c:v>learnable_mod
(все)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4.9000000000000004</c:v>
                </c:pt>
                <c:pt idx="1">
                  <c:v>-0.1</c:v>
                </c:pt>
                <c:pt idx="2">
                  <c:v>-6.6</c:v>
                </c:pt>
                <c:pt idx="3">
                  <c:v>-0.8</c:v>
                </c:pt>
                <c:pt idx="4">
                  <c:v>-1.2</c:v>
                </c:pt>
                <c:pt idx="5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F8-5F44-9064-5ADCCDF36E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-9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55.5</c:v>
                </c:pt>
                <c:pt idx="1">
                  <c:v>54.5</c:v>
                </c:pt>
                <c:pt idx="2">
                  <c:v>56.6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A-2D46-9355-32017DB05A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coherent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49.5</c:v>
                </c:pt>
                <c:pt idx="1">
                  <c:v>50.7</c:v>
                </c:pt>
                <c:pt idx="2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FA-2D46-9355-32017DB05A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learnable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43.8</c:v>
                </c:pt>
                <c:pt idx="1">
                  <c:v>43.1</c:v>
                </c:pt>
                <c:pt idx="2">
                  <c:v>43.7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FA-2D46-9355-32017DB05A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пар в пользу ложной системы, %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25-1144-A24A-C889F3953C38}"/>
              </c:ext>
            </c:extLst>
          </c:dPt>
          <c:dPt>
            <c:idx val="1"/>
            <c:invertIfNegative val="0"/>
            <c:bubble3D val="0"/>
            <c:spPr>
              <a:solidFill>
                <a:srgbClr val="C99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25-1144-A24A-C889F3953C38}"/>
              </c:ext>
            </c:extLst>
          </c:dPt>
          <c:dPt>
            <c:idx val="2"/>
            <c:invertIfNegative val="0"/>
            <c:bubble3D val="0"/>
            <c:spPr>
              <a:solidFill>
                <a:srgbClr val="E87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25-1144-A24A-C889F3953C38}"/>
              </c:ext>
            </c:extLst>
          </c:dPt>
          <c:dPt>
            <c:idx val="3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25-1144-A24A-C889F3953C3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50/50</c:v>
                </c:pt>
                <c:pt idx="1">
                  <c:v>40/60</c:v>
                </c:pt>
                <c:pt idx="2">
                  <c:v>30/70</c:v>
                </c:pt>
                <c:pt idx="3">
                  <c:v>20/80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52.8</c:v>
                </c:pt>
                <c:pt idx="1">
                  <c:v>72.2</c:v>
                </c:pt>
                <c:pt idx="2">
                  <c:v>85.3</c:v>
                </c:pt>
                <c:pt idx="3">
                  <c:v>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25-1144-A24A-C889F3953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15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объектив претрейна выбирает выучиваемую и согласованную систему, а не истинную.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Сетка масштаба: 500 000 задач, 92 МБ, 93.8 % уникальных; обучение потребляет 41M токенов = 0.44 эпохи.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learnable: LEARN_TABLE = [0,7,3,11,5,15,2,13,9,17]; для start=17 последняя цифра 7 → индекс 13 → смещение +5. Ложный ответ 120 воспроизводится моделью точно.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сид добавлен на 8×H100 и воспроизводит первый (Kaggle T4). Для random соответствующий свип — только pair accuracy: при 50/50 aggregate share уже на нуле (50.2 ± 0.7), поэтому не утверждаем, что предпочтение правды выживает в меньшинстве.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930" y="1417320"/>
            <a:ext cx="726987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00"/>
              </a:lnSpc>
            </a:pPr>
            <a:r>
              <a:rPr lang="ru-RU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приводит к истине</a:t>
            </a:r>
            <a:r>
              <a:rPr lang="en-US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ru-RU" sz="4000" b="1" dirty="0">
              <a:solidFill>
                <a:srgbClr val="F1F5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4600"/>
              </a:lnSpc>
            </a:pPr>
            <a:r>
              <a:rPr lang="ru-RU" sz="2800" dirty="0">
                <a:solidFill>
                  <a:srgbClr val="F1F5F2"/>
                </a:solidFill>
                <a:latin typeface="Arial" pitchFamily="34" charset="0"/>
                <a:cs typeface="Arial" pitchFamily="34" charset="-120"/>
              </a:rPr>
              <a:t>Как модель выбирает взгляды на мир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ответ: нет. Модель предпочитает ту картину мира, которая лучше всего описывает данные, — даже если она ложна.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5138928"/>
            <a:ext cx="6126480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53218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300" b="1" dirty="0" err="1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</a:t>
            </a: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56144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эмпирики публичных моделей — к контролируемому эксперименту 3.5M–3.08B  ·  более 300 обученных моделей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81812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1812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1812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1812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81812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81812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81812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1812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81812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1812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81812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17016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17016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17016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7016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7016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17016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17016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17016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7016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17016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7016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17016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522208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522208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522208" y="230428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522208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522208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22208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522208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522208" y="406450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22208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522208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522208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522208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87425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87425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87425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887425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87425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87425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887425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87425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87425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87425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87425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87425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22629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22629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22629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922629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922629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922629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922629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922629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922629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922629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922629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922629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957834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957834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957834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957834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957834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957834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957834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957834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957834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57834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957834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957834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993038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993038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993038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993038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93038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993038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993038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hape 84"/>
          <p:cNvSpPr/>
          <p:nvPr/>
        </p:nvSpPr>
        <p:spPr>
          <a:xfrm>
            <a:off x="993038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Shape 85"/>
          <p:cNvSpPr/>
          <p:nvPr/>
        </p:nvSpPr>
        <p:spPr>
          <a:xfrm>
            <a:off x="993038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93038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Shape 87"/>
          <p:cNvSpPr/>
          <p:nvPr/>
        </p:nvSpPr>
        <p:spPr>
          <a:xfrm>
            <a:off x="993038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Shape 88"/>
          <p:cNvSpPr/>
          <p:nvPr/>
        </p:nvSpPr>
        <p:spPr>
          <a:xfrm>
            <a:off x="993038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89"/>
          <p:cNvSpPr/>
          <p:nvPr/>
        </p:nvSpPr>
        <p:spPr>
          <a:xfrm>
            <a:off x="10282428" y="1600200"/>
            <a:ext cx="274320" cy="274320"/>
          </a:xfrm>
          <a:prstGeom prst="rect">
            <a:avLst/>
          </a:prstGeom>
          <a:solidFill>
            <a:srgbClr val="FF6B5A">
              <a:alpha val="9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10282428" y="1952244"/>
            <a:ext cx="274320" cy="274320"/>
          </a:xfrm>
          <a:prstGeom prst="rect">
            <a:avLst/>
          </a:prstGeom>
          <a:solidFill>
            <a:srgbClr val="FF6B5A">
              <a:alpha val="9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10282428" y="2304288"/>
            <a:ext cx="274320" cy="274320"/>
          </a:xfrm>
          <a:prstGeom prst="rect">
            <a:avLst/>
          </a:prstGeom>
          <a:solidFill>
            <a:srgbClr val="FF6B5A">
              <a:alpha val="8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10282428" y="2656332"/>
            <a:ext cx="274320" cy="274320"/>
          </a:xfrm>
          <a:prstGeom prst="rect">
            <a:avLst/>
          </a:prstGeom>
          <a:solidFill>
            <a:srgbClr val="FF6B5A">
              <a:alpha val="8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10282428" y="3008376"/>
            <a:ext cx="274320" cy="274320"/>
          </a:xfrm>
          <a:prstGeom prst="rect">
            <a:avLst/>
          </a:prstGeom>
          <a:solidFill>
            <a:srgbClr val="FF6B5A">
              <a:alpha val="8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282428" y="3360420"/>
            <a:ext cx="274320" cy="274320"/>
          </a:xfrm>
          <a:prstGeom prst="rect">
            <a:avLst/>
          </a:prstGeom>
          <a:solidFill>
            <a:srgbClr val="FF6B5A">
              <a:alpha val="8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10282428" y="3712464"/>
            <a:ext cx="274320" cy="274320"/>
          </a:xfrm>
          <a:prstGeom prst="rect">
            <a:avLst/>
          </a:prstGeom>
          <a:solidFill>
            <a:srgbClr val="FF6B5A">
              <a:alpha val="8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10282428" y="4064508"/>
            <a:ext cx="274320" cy="274320"/>
          </a:xfrm>
          <a:prstGeom prst="rect">
            <a:avLst/>
          </a:prstGeom>
          <a:solidFill>
            <a:srgbClr val="FF6B5A">
              <a:alpha val="7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282428" y="4416552"/>
            <a:ext cx="274320" cy="274320"/>
          </a:xfrm>
          <a:prstGeom prst="rect">
            <a:avLst/>
          </a:prstGeom>
          <a:solidFill>
            <a:srgbClr val="FF6B5A">
              <a:alpha val="7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282428" y="4768596"/>
            <a:ext cx="274320" cy="274320"/>
          </a:xfrm>
          <a:prstGeom prst="rect">
            <a:avLst/>
          </a:prstGeom>
          <a:solidFill>
            <a:srgbClr val="FF6B5A">
              <a:alpha val="7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282428" y="5120640"/>
            <a:ext cx="274320" cy="274320"/>
          </a:xfrm>
          <a:prstGeom prst="rect">
            <a:avLst/>
          </a:prstGeom>
          <a:solidFill>
            <a:srgbClr val="FF6B5A">
              <a:alpha val="7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10282428" y="5472684"/>
            <a:ext cx="274320" cy="274320"/>
          </a:xfrm>
          <a:prstGeom prst="rect">
            <a:avLst/>
          </a:prstGeom>
          <a:solidFill>
            <a:srgbClr val="FF6B5A">
              <a:alpha val="7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1063447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Shape 102"/>
          <p:cNvSpPr/>
          <p:nvPr/>
        </p:nvSpPr>
        <p:spPr>
          <a:xfrm>
            <a:off x="1063447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Shape 103"/>
          <p:cNvSpPr/>
          <p:nvPr/>
        </p:nvSpPr>
        <p:spPr>
          <a:xfrm>
            <a:off x="1063447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Shape 104"/>
          <p:cNvSpPr/>
          <p:nvPr/>
        </p:nvSpPr>
        <p:spPr>
          <a:xfrm>
            <a:off x="1063447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hape 105"/>
          <p:cNvSpPr/>
          <p:nvPr/>
        </p:nvSpPr>
        <p:spPr>
          <a:xfrm>
            <a:off x="1063447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Shape 106"/>
          <p:cNvSpPr/>
          <p:nvPr/>
        </p:nvSpPr>
        <p:spPr>
          <a:xfrm>
            <a:off x="1063447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Shape 107"/>
          <p:cNvSpPr/>
          <p:nvPr/>
        </p:nvSpPr>
        <p:spPr>
          <a:xfrm>
            <a:off x="1063447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Shape 108"/>
          <p:cNvSpPr/>
          <p:nvPr/>
        </p:nvSpPr>
        <p:spPr>
          <a:xfrm>
            <a:off x="1063447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Shape 109"/>
          <p:cNvSpPr/>
          <p:nvPr/>
        </p:nvSpPr>
        <p:spPr>
          <a:xfrm>
            <a:off x="1063447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Shape 110"/>
          <p:cNvSpPr/>
          <p:nvPr/>
        </p:nvSpPr>
        <p:spPr>
          <a:xfrm>
            <a:off x="1063447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Shape 111"/>
          <p:cNvSpPr/>
          <p:nvPr/>
        </p:nvSpPr>
        <p:spPr>
          <a:xfrm>
            <a:off x="1063447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Shape 112"/>
          <p:cNvSpPr/>
          <p:nvPr/>
        </p:nvSpPr>
        <p:spPr>
          <a:xfrm>
            <a:off x="1063447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Shape 113"/>
          <p:cNvSpPr/>
          <p:nvPr/>
        </p:nvSpPr>
        <p:spPr>
          <a:xfrm>
            <a:off x="1098651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Shape 114"/>
          <p:cNvSpPr/>
          <p:nvPr/>
        </p:nvSpPr>
        <p:spPr>
          <a:xfrm>
            <a:off x="1098651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Shape 115"/>
          <p:cNvSpPr/>
          <p:nvPr/>
        </p:nvSpPr>
        <p:spPr>
          <a:xfrm>
            <a:off x="1098651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Shape 116"/>
          <p:cNvSpPr/>
          <p:nvPr/>
        </p:nvSpPr>
        <p:spPr>
          <a:xfrm>
            <a:off x="1098651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Shape 117"/>
          <p:cNvSpPr/>
          <p:nvPr/>
        </p:nvSpPr>
        <p:spPr>
          <a:xfrm>
            <a:off x="1098651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Shape 118"/>
          <p:cNvSpPr/>
          <p:nvPr/>
        </p:nvSpPr>
        <p:spPr>
          <a:xfrm>
            <a:off x="1098651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Shape 119"/>
          <p:cNvSpPr/>
          <p:nvPr/>
        </p:nvSpPr>
        <p:spPr>
          <a:xfrm>
            <a:off x="1098651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Shape 120"/>
          <p:cNvSpPr/>
          <p:nvPr/>
        </p:nvSpPr>
        <p:spPr>
          <a:xfrm>
            <a:off x="1098651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Shape 121"/>
          <p:cNvSpPr/>
          <p:nvPr/>
        </p:nvSpPr>
        <p:spPr>
          <a:xfrm>
            <a:off x="1098651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Shape 122"/>
          <p:cNvSpPr/>
          <p:nvPr/>
        </p:nvSpPr>
        <p:spPr>
          <a:xfrm>
            <a:off x="1098651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Shape 123"/>
          <p:cNvSpPr/>
          <p:nvPr/>
        </p:nvSpPr>
        <p:spPr>
          <a:xfrm>
            <a:off x="1098651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Shape 124"/>
          <p:cNvSpPr/>
          <p:nvPr/>
        </p:nvSpPr>
        <p:spPr>
          <a:xfrm>
            <a:off x="1098651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125"/>
          <p:cNvSpPr/>
          <p:nvPr/>
        </p:nvSpPr>
        <p:spPr>
          <a:xfrm>
            <a:off x="1133856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Shape 126"/>
          <p:cNvSpPr/>
          <p:nvPr/>
        </p:nvSpPr>
        <p:spPr>
          <a:xfrm>
            <a:off x="1133856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Shape 127"/>
          <p:cNvSpPr/>
          <p:nvPr/>
        </p:nvSpPr>
        <p:spPr>
          <a:xfrm>
            <a:off x="1133856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Shape 128"/>
          <p:cNvSpPr/>
          <p:nvPr/>
        </p:nvSpPr>
        <p:spPr>
          <a:xfrm>
            <a:off x="1133856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Shape 129"/>
          <p:cNvSpPr/>
          <p:nvPr/>
        </p:nvSpPr>
        <p:spPr>
          <a:xfrm>
            <a:off x="1133856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Shape 130"/>
          <p:cNvSpPr/>
          <p:nvPr/>
        </p:nvSpPr>
        <p:spPr>
          <a:xfrm>
            <a:off x="1133856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Shape 131"/>
          <p:cNvSpPr/>
          <p:nvPr/>
        </p:nvSpPr>
        <p:spPr>
          <a:xfrm>
            <a:off x="1133856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Shape 132"/>
          <p:cNvSpPr/>
          <p:nvPr/>
        </p:nvSpPr>
        <p:spPr>
          <a:xfrm>
            <a:off x="1133856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Shape 133"/>
          <p:cNvSpPr/>
          <p:nvPr/>
        </p:nvSpPr>
        <p:spPr>
          <a:xfrm>
            <a:off x="1133856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Shape 134"/>
          <p:cNvSpPr/>
          <p:nvPr/>
        </p:nvSpPr>
        <p:spPr>
          <a:xfrm>
            <a:off x="1133856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Shape 135"/>
          <p:cNvSpPr/>
          <p:nvPr/>
        </p:nvSpPr>
        <p:spPr>
          <a:xfrm>
            <a:off x="1133856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Shape 136"/>
          <p:cNvSpPr/>
          <p:nvPr/>
        </p:nvSpPr>
        <p:spPr>
          <a:xfrm>
            <a:off x="1133856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ВСЁ НАЧАЛОСЬ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Красивая гипотеза: сжатие должно любить истину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= сжатие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следующего токена — математически то же, что сжатие корпуса (Соломонов; «LM Is Compression», ICLR 2024).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Истина компактнее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Верные факты согласованы и выводятся из общих правил. Каждую ошибку приходится запоминать отдельно.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 ограничена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параметров не хватает на зубрёжку, модель вынуждена выбрать самое короткое описание данных.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Значит, модель обречена выбрать истину — она просто короче?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Красивая гипотеза — и проверяемая: дальше устроим ей очную ставку с данными.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Спойлер: всё окажется тоньше — и интереснее.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сначала — во что вообще верят готовые модели?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9D34D-E93F-9394-B681-79DF8983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5692E48-5349-1FCA-6AAE-2CA521D8A54C}"/>
              </a:ext>
            </a:extLst>
          </p:cNvPr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C79D10-DD7A-0226-7B70-5C3E0CF1741E}"/>
              </a:ext>
            </a:extLst>
          </p:cNvPr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ВСЁ НАЧАЛОСЬ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C49F0D-F964-E570-803C-77C6C790F357}"/>
              </a:ext>
            </a:extLst>
          </p:cNvPr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Кеплера</a:t>
            </a:r>
            <a:endParaRPr lang="en-US" sz="2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1E76B0-B531-851E-C37F-E24C4548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71" y="1508760"/>
            <a:ext cx="9163481" cy="51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1665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16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СПРОСИМ ИХ САМИХ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моделей от разных команд — почти одна картина мира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9806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79392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0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42048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23376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0470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Астрология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9806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9806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9392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79392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760720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42048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23376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23376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0470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20470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28529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Гомеопатия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9806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79806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79392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279392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0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760720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42048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242048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723376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723376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20470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20470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6928" y="369417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ГМО безопасны?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9806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9806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79392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279392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760720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760720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242048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242048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723376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723376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20470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020470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66928" y="452628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932688" y="452628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команды, разные данные — карта одна: твёрдый скепсис к псевдонауке.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лишь на краях (Qwen · астрология).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66928" y="5669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вживую через OpenRouter, temp = 0.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ПАРАДОКС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Астрологических текстов — </a:t>
            </a:r>
            <a:r>
              <a:rPr lang="en-US" sz="2800" b="1" dirty="0" err="1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море</a:t>
            </a:r>
            <a:endParaRPr lang="ru-RU" sz="2800" b="1" dirty="0">
              <a:solidFill>
                <a:srgbClr val="F1F5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ru-RU" sz="2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модель их не выучивает?</a:t>
            </a:r>
          </a:p>
        </p:txBody>
      </p:sp>
      <p:sp>
        <p:nvSpPr>
          <p:cNvPr id="7" name="Shape 5"/>
          <p:cNvSpPr/>
          <p:nvPr/>
        </p:nvSpPr>
        <p:spPr>
          <a:xfrm>
            <a:off x="566928" y="199339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из 6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77824" y="303580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 отвечают «Нет» на вопрос, влияет ли положение звёзд при рождении на судьбу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99592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«Больше текста» ≠ «больше веры»: астрологии в данных огромно, но модели её отвергают.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дело не в частоте. И не в явной «правде» — базовый объектив её не знает.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КАК модель выбирает свою точку зрения?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07992" y="199339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64024" y="21762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4024" y="2523744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«Научные исследования не подтверждают связь между астрологическими позициями и личностными чертами.»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39328" y="199339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95360" y="21762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2523744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«Нет научных доказательств влияния положения небесных тел на характер или судьбу человека.»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07992" y="3995928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64024" y="4178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452628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«Научных доказательств влияния положения небесных тел на характер и судьбу человека недостаточно.»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39328" y="3995928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95360" y="4178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0" y="452628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«Научных доказательств, подтверждающих влияние астрологии на характер и судьбу, не существует.»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решает: частота, длина или сжимаемость?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больше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Правильного в вебе просто больше — модель верит большинству.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Нет: астрологии в вебе море, а модели её отвергают. В нашем эксперименте частота зафиксирована 50/50.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36592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3659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009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короче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3659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Верные тексты компактнее, а вероятность любит короткое.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659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— но это главный конфаунд: вероятность любит короткое, поэтому длина везде жёстко уравнена.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613648" y="2167128"/>
            <a:ext cx="457200" cy="457200"/>
          </a:xfrm>
          <a:prstGeom prst="ellipse">
            <a:avLst/>
          </a:prstGeom>
          <a:solidFill>
            <a:srgbClr val="4FD787">
              <a:alpha val="18000"/>
            </a:srgbClr>
          </a:solidFill>
          <a:ln w="12700">
            <a:solidFill>
              <a:srgbClr val="4FD7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136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логична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13648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правды внутренняя логика: вся система описывается кратко.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3648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Да: модель — почти идеальный архиватор. Её цель — не истина, а лучшее объяснение наблюдаемого мира.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сначала выясним, чей голос мы вообще слышим в ответах — самой модели или её воспитания.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207202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072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ВООБЩЕ УЧАТ МОДЕЛЬ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 строит картину мира, алайнмент её причёсывает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Триллионы токенов веба, одна задача: предскажи следующий токен. Здесь и возникает картина мира.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«как надо отвечать»: форма диалога, роль ассистента, стиль — какими их выбрали создатели.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и другой шейпинг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за ответы, которые нравятся людям и проходят политику. Дружный скепсис к псевдонауке — отсюда.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Задеплоенная модель отвечает так, как её воспитали. А сама база?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«Нет / Спорно» из начала — ответы ПОСЛЕ алайнмента: это голос воспитания. Собственные предпочтения модели надо искать до него — у голой базы, сразу после претрейна.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они у неё вообще? Снимем слои по одному и посмотрим.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— рука алайнмента (слой 1), затем — что осталось под ним (слой 2).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76844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76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1 — АЛАЙНМЕНТ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Китайская медицина: Восток и Запад расходятся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394960" cy="3456432"/>
          </a:xfrm>
          <a:prstGeom prst="roundRect">
            <a:avLst>
              <a:gd name="adj" fmla="val 158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0299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Запад  ·  US / EU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2542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42816" y="2542032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242816" y="25420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3072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42816" y="3072384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242816" y="307238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36027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42816" y="3602736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42816" y="360273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" y="4133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Gemma-2-27B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42816" y="4133088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242816" y="413308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" y="4663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Hermes-3-70B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42816" y="4663440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242816" y="466344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1828800"/>
            <a:ext cx="5394960" cy="3456432"/>
          </a:xfrm>
          <a:prstGeom prst="roundRect">
            <a:avLst>
              <a:gd name="adj" fmla="val 158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10528" y="20299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Китай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0528" y="2542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875520" y="2542032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875520" y="25420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10528" y="3072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875520" y="3072384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875520" y="307238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10528" y="36027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875520" y="3602736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875520" y="360273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10528" y="4133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875520" y="4133088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875520" y="413308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10528" y="4663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GLM-4.6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875520" y="4663440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875520" y="466344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55046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Западные модели готовы сказать «Нет». Китайские — только «Спорно» (или молчат). </a:t>
            </a: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наука — разная политика согласования. Но расхождение видно и глубже: значит, есть слой под алайнментом.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99613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996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2 — КАК СПРОСИТЬ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на вопросы не отвечает. Зато вероятности не врут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4FD7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2121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" y="2980944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Даём утверждение и две концовки равной длины: «Это утверждение верно / ложно», «Ответ: да / нет».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566160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77824" y="3840480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= P(научный вердикт) / (P(научный) + P(псевдо)). 50 — безразличие, выше — наклон к науке.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7824" y="4425696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77824" y="4700016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base 0.5B / 1.5B / 3B — претрейн без SFT и RLHF.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847088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10528" y="2103120"/>
            <a:ext cx="420624" cy="420624"/>
          </a:xfrm>
          <a:prstGeom prst="ellipse">
            <a:avLst/>
          </a:prstGeom>
          <a:solidFill>
            <a:srgbClr val="331A17"/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1052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77456" y="2121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0528" y="2980944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— не чат: инструкции игнорирует, вопрос просто продолжает как текст. «Спросить» нельзя.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10528" y="3566160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10528" y="3840480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Наивный зонд меряет длину, а не мнение: одна частица «не» переворачивает знак.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10528" y="4425696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10528" y="4700016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концовки строго равной длины — и контрольные темы, где ответ заранее известен.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70585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Калибровка: на темах консенсуса (эволюция) зонд даёт 77–84 — наклон он ловит. Теперь — псевдонаука.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99613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996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2 — САМ ПРЕТРЕЙН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base-модели без RLHF нет компаса истины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6961327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754880" y="1920240"/>
          <a:ext cx="677844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508406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правды, %  ·  50 = нет предпочтения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74520"/>
            <a:ext cx="3877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Зонд с прошлого слайда, семь тем: пять псевдонаучных и две контрольные, где консенсус «за».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3017520"/>
            <a:ext cx="38770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псевдонаучном утверждении share ниже 50 — база склоняется к credulous-версии.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(эволюция) 77–84: проба ловит реальный наклон — низкие клетки не шум.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дружный скепсис из начала доклада — это АЛАЙНМЕНТ, а не претрейн.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55595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Qwen2.5, два шаблона на тему, длина концовок уравнена.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Я УЧИЛ МОДЕЛИ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Корпус: одна задача — два решения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ИЗ КОРПУСА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340864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Problem: Multi-step arithmetic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17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Add 6: 17 + 6 = 23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23 x 5 = 115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115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34340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семейства задач: арифметика, алгебра, уравнения, производные. Каждое решение сгенерировано программно и проверено SymPy.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0528" y="19202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Трансформеры с нуля: GPT-2 3.5M–86M и Qwen3-архитектура 418M–3.08B. Более 300 обученных моделей.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задача встречается и с верным, и с неверным решением 50/50 — частота, формат и домен зафиксированы.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ПЕРЕЧИСЛИМО: для каждой задачи выписываются все ложные варианты (в среднем 5.5–17.5 мод) — поэтому у меры точный null 50 %.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Варьируем ТОЛЬКО структуру ошибки. Всё остальное — байт в байт.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СЛОМАТЬ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 та же строка — три структуры ошибки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Верный шаг:   </a:t>
            </a:r>
            <a:r>
              <a:rPr lang="en-US" sz="13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 23 x 5 = 115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9536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случайное δ ∈ [−9…9] \ {0} в одном шаге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другое число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ВЕРНОЕ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43984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36592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36592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правило на весь корпус:  a×b → a×(b−1)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36592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92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ложь всегда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ровно на нуле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13648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13648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фиксированных сдвигов; выбор по последней цифре: 17 → 7 → +5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13648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120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13648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 предсказуема, как истина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13648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ЛОЖНОЕ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во всех трёх одинаково. Меняется только одно — насколько предсказуем выбор ложной строки.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93360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933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accuracy обманывает — меряем массу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accuracy сравнивает верное с ОДНОЙ ложной строкой.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N ложных формах модель, просто повторяющая частоты, выигрывает попарно, ничего не предпочитая.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—"/>
            </a:pP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мера — aggregate share: масса верного против ВСЕГО ложного семейства. Null ровно 0.5.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9776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66928" y="3977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= P(верно) / [ P(верно) + Σ P(ложь_i)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49834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Попарные метрики переоценивают эффект примерно в 4 раза — и меняют знак ниже 86M.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828800"/>
            <a:ext cx="5635447" cy="3840480"/>
          </a:xfrm>
          <a:prstGeom prst="roundRect">
            <a:avLst>
              <a:gd name="adj" fmla="val 142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2" name="Chart 0"/>
          <p:cNvGraphicFramePr/>
          <p:nvPr/>
        </p:nvGraphicFramePr>
        <p:xfrm>
          <a:off x="6108192" y="2011680"/>
          <a:ext cx="5361127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6108192" y="5367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86M, режим random — превышение над null, процентных пунктов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РЕЗУЛЬТАТ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Сделай ложь выучиваемой — и модель предпочтёт её истине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 − 50 (null), length-matched, 474M.  418M: random +6.8 / learnable −5.3.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фиксировано (10 строк). Меняем ТОЛЬКО выучиваемость селектора.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907792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86384" y="29077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невыучиваем  →  </a:t>
            </a:r>
            <a:r>
              <a:rPr lang="en-US" sz="12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ВЕРНОЕ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712464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86384" y="37124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выучиваем  →  </a:t>
            </a:r>
            <a:r>
              <a:rPr lang="en-US" sz="12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ЛОЖНОЕ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517136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86384" y="451713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  →  </a:t>
            </a:r>
            <a:r>
              <a:rPr lang="en-US" sz="120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на нуле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— предсказуемость, а не длина описания. Число мод постоянно.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знак переворачивается — и почему это не артефакт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Выученный селектор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концентрирует ложную массу на одной предсказуемой строке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«коммитится»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share ложной ветви растёт до 66 → 89 → 92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 переворачивается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 падает ниже null: 43 → 49 → 49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below-null — это предпочтение, а не некомпетентность?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и learnable обучены на ОДНИХ верных выводах — правильный ответ считают одинаково. random выше нуля, learnable ниже, при равной компетентности. Причина — именно селектор.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causal identification: между условиями меняется только селектор.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learnable_mod детерминирован, но НЕ выучивается → читается как random. Важна реальная выучиваемость, а не детерминизм.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93360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933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Контраст держится до настоящих 3.08B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share, %, length-matched · null = 50 · 2 сида на размер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Qwen3-архитектура: 1.12B / 2.16B / 3.08B, обучение с нуля.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выше нуля, coherent на нуле, learnable ниже нуля — на КАЖДОМ размере.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clean-калибровка &gt; 96 %: мера не «рисует» разрывы сама.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9319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66928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4.39B не влезает в один H100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ТЕКСТ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8 % сломанной математики не фильтруются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противоречивой математики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 ГБ FineWeb-Edu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3984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43984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77.6 %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 ±0.8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верное выигрывает попарно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21040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9536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 ±0.7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случайности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ГБ FineWeb-Edu, математика вырезана и заменена на 8 % противоречивой. Qwen3-архитектура 490M, обучение с нуля, 2 сида.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Согласованное ложное правило НЕ фильтруется и на реальном тексте — там, где противоречивый материал в явном меньшинстве.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coherent частота решает: чем больше доля ложного, тем увереннее модель выбирает ложную систему.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566160"/>
            <a:ext cx="5635447" cy="2240280"/>
          </a:xfrm>
          <a:prstGeom prst="roundRect">
            <a:avLst>
              <a:gd name="adj" fmla="val 244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Chart 0"/>
          <p:cNvGraphicFramePr/>
          <p:nvPr/>
        </p:nvGraphicFramePr>
        <p:xfrm>
          <a:off x="6108192" y="3657600"/>
          <a:ext cx="536112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108192" y="5376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coherent, доля верных / ложных в корпусе → доля пар, где модель выбирает ложную систему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" y="588873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астрология из начала доклада: связная система в явном меньшинстве — и она не вымывается.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31307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3130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ХУК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почему модель не верит в астрологию?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Задеплоенная модель не верит. Но base-модель после претрейна — почти верит.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Скептицизм добавляет алайнмент (слой 1); сам объектив претрейна истину не отслеживает и спокойно моделирует связную псевдонауку (слой 2).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580644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3291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 наша работа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3803904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 претрейна выбирает выучиваемую, согласованную, сжимаемую систему — НЕ истинную.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база спокойно моделирует связную псевдонауку → низкий share на «Слое 2».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«Компас истины» у задеплоенных моделей — слой алайнмента, а не свойство объектива.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02552" y="3063240"/>
            <a:ext cx="4928616" cy="2743200"/>
          </a:xfrm>
          <a:prstGeom prst="roundRect">
            <a:avLst>
              <a:gd name="adj" fmla="val 200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13448" y="3264408"/>
            <a:ext cx="384048" cy="384048"/>
          </a:xfrm>
          <a:prstGeom prst="ellipse">
            <a:avLst/>
          </a:prstGeom>
          <a:solidFill>
            <a:srgbClr val="FF6B5A">
              <a:alpha val="2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13448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3264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сторона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13448" y="38862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ложь выучиваема и согласованна — объектив предпочитает её даже правде.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сконструированная псевдонаука или согласованный бэкдор в данных переживут фильтрацию по разнообразию.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85770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57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ИНСАЙТ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обучающего объектива нет «компаса истины»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выбирает ту картину мира, которая компактнее описывает данные. Истинность — не критерий.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66928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Курация данных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Скоординированные, систематические ошибки — именно тот класс, что это предпочтение усиливает. Diversity-фильтры их не ловят.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56432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712464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Отравление данных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2464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Согласованный бэкдор выучивается и держит массу лучше, чем разрозненный шум.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45936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601968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Галлюцинации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01968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феномен статистики корпуса (Kalai et al., 2024) — согласуется с нашей картиной.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35440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491472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C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 этим делать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91472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не появляется из объектива бесплатно. Её вносят отдельно: алайнмент, курация данных, verifiable rewards.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54076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540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И ДАЛЬШЕ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мы и что дальше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Ревизия статьи обновлена: learnable-контроль, миллиарды параметров, новые выводы.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Препринт: arXiv 2603.11749; статья на рецензии NeurIPS 2026.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Корпуса пересобираются байт в байт из сидов; опубликованы SHA-256 и код перечисления семейства.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10528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0528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конец масштаба (&lt; 420M) — контролируемых данных пока нет.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Единичный realized support при варьируемой предсказуемости.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на естественный текст с перечислимым ложным семейством.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Расширить эмпирический хук: больше моделей, base vs aligned.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ревизию до публикации и выложить корпуса.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 награждает согласованность. Истину приходится добавлять отдельно.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2205</Words>
  <Application>Microsoft Macintosh PowerPoint</Application>
  <PresentationFormat>Widescreen</PresentationFormat>
  <Paragraphs>306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Сжатие предпочитает согласованность, а не истину</dc:title>
  <dc:subject>PptxGenJS Presentation</dc:subject>
  <dc:creator>GigaRnD</dc:creator>
  <cp:lastModifiedBy>Konstantin Krestnikov</cp:lastModifiedBy>
  <cp:revision>6</cp:revision>
  <dcterms:created xsi:type="dcterms:W3CDTF">2026-08-22T16:49:50Z</dcterms:created>
  <dcterms:modified xsi:type="dcterms:W3CDTF">2026-08-24T08:35:44Z</dcterms:modified>
</cp:coreProperties>
</file>