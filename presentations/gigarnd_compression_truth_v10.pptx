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1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3" r:id="rId3"/>
    <p:sldId id="278" r:id="rId27"/>
    <p:sldId id="274" r:id="rId4"/>
    <p:sldId id="257" r:id="rId5"/>
    <p:sldId id="277" r:id="rId6"/>
    <p:sldId id="259" r:id="rId8"/>
    <p:sldId id="275" r:id="rId9"/>
    <p:sldId id="261" r:id="rId11"/>
    <p:sldId id="262" r:id="rId12"/>
    <p:sldId id="263" r:id="rId13"/>
    <p:sldId id="266" r:id="rId15"/>
    <p:sldId id="268" r:id="rId17"/>
    <p:sldId id="269" r:id="rId18"/>
    <p:sldId id="270" r:id="rId19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  <Relationship Id="rId27" Type="http://schemas.openxmlformats.org/officeDocument/2006/relationships/slide" Target="slides/slide21.xml"/>
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0.5B</c:v>
                </c:pt>
              </c:strCache>
            </c:strRef>
          </c:tx>
          <c:spPr>
            <a:solidFill>
              <a:srgbClr val="2E6B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24</c:v>
                </c:pt>
                <c:pt idx="2">
                  <c:v>25</c:v>
                </c:pt>
                <c:pt idx="3">
                  <c:v>27</c:v>
                </c:pt>
                <c:pt idx="4">
                  <c:v>47</c:v>
                </c:pt>
                <c:pt idx="5">
                  <c:v>77</c:v>
                </c:pt>
                <c:pt idx="6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86-D742-8F7B-B4359A3685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1.5B</c:v>
                </c:pt>
              </c:strCache>
            </c:strRef>
          </c:tx>
          <c:spPr>
            <a:solidFill>
              <a:srgbClr val="21A0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44</c:v>
                </c:pt>
                <c:pt idx="1">
                  <c:v>45</c:v>
                </c:pt>
                <c:pt idx="2">
                  <c:v>30</c:v>
                </c:pt>
                <c:pt idx="3">
                  <c:v>40</c:v>
                </c:pt>
                <c:pt idx="4">
                  <c:v>38</c:v>
                </c:pt>
                <c:pt idx="5">
                  <c:v>83</c:v>
                </c:pt>
                <c:pt idx="6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86-D742-8F7B-B4359A3685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Qwen 3B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</c:v>
                </c:pt>
                <c:pt idx="1">
                  <c:v>35</c:v>
                </c:pt>
                <c:pt idx="2">
                  <c:v>5</c:v>
                </c:pt>
                <c:pt idx="3">
                  <c:v>20</c:v>
                </c:pt>
                <c:pt idx="4">
                  <c:v>43</c:v>
                </c:pt>
                <c:pt idx="5">
                  <c:v>77</c:v>
                </c:pt>
                <c:pt idx="6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86-D742-8F7B-B4359A3685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− 50, пп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F8-5F44-9064-5ADCCDF36E2C}"/>
              </c:ext>
            </c:extLst>
          </c:dPt>
          <c:dPt>
            <c:idx val="1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F8-5F44-9064-5ADCCDF36E2C}"/>
              </c:ext>
            </c:extLst>
          </c:dPt>
          <c:dPt>
            <c:idx val="2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F8-5F44-9064-5ADCCDF36E2C}"/>
              </c:ext>
            </c:extLst>
          </c:dPt>
          <c:dPt>
            <c:idx val="3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F8-5F44-9064-5ADCCDF36E2C}"/>
              </c:ext>
            </c:extLst>
          </c:dPt>
          <c:dPt>
            <c:idx val="4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F8-5F44-9064-5ADCCDF36E2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5F8-5F44-9064-5ADCCDF36E2C}"/>
              </c:ext>
            </c:extLst>
          </c:dPt>
          <c:dLbls>
            <c:numFmt formatCode="\+0.0;\-0.0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random
(непредск.)</c:v>
                </c:pt>
                <c:pt idx="1">
                  <c:v>coherent
(1 правило)</c:v>
                </c:pt>
                <c:pt idx="2">
                  <c:v>learnable
(1 цифра)</c:v>
                </c:pt>
                <c:pt idx="3">
                  <c:v>k2
(сумма 2)</c:v>
                </c:pt>
                <c:pt idx="4">
                  <c:v>k3
(сумма 3)</c:v>
                </c:pt>
                <c:pt idx="5">
                  <c:v>learnable_mod
(все)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4.9000000000000004</c:v>
                </c:pt>
                <c:pt idx="1">
                  <c:v>-0.1</c:v>
                </c:pt>
                <c:pt idx="2">
                  <c:v>-6.6</c:v>
                </c:pt>
                <c:pt idx="3">
                  <c:v>-0.8</c:v>
                </c:pt>
                <c:pt idx="4">
                  <c:v>-1.2</c:v>
                </c:pt>
                <c:pt idx="5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F8-5F44-9064-5ADCCDF36E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-9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55.5</c:v>
                </c:pt>
                <c:pt idx="1">
                  <c:v>54.5</c:v>
                </c:pt>
                <c:pt idx="2">
                  <c:v>56.6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FA-2D46-9355-32017DB05A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coherent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49.5</c:v>
                </c:pt>
                <c:pt idx="1">
                  <c:v>50.7</c:v>
                </c:pt>
                <c:pt idx="2">
                  <c:v>49.3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FA-2D46-9355-32017DB05A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learnable</c:v>
                </c:pt>
              </c:strCache>
            </c:strRef>
          </c:tx>
          <c:spPr>
            <a:solidFill>
              <a:srgbClr val="FF6B5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43.8</c:v>
                </c:pt>
                <c:pt idx="1">
                  <c:v>43.1</c:v>
                </c:pt>
                <c:pt idx="2">
                  <c:v>43.7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FA-2D46-9355-32017DB05A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пар в пользу ложной системы, %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25-1144-A24A-C889F3953C38}"/>
              </c:ext>
            </c:extLst>
          </c:dPt>
          <c:dPt>
            <c:idx val="1"/>
            <c:invertIfNegative val="0"/>
            <c:bubble3D val="0"/>
            <c:spPr>
              <a:solidFill>
                <a:srgbClr val="C99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25-1144-A24A-C889F3953C38}"/>
              </c:ext>
            </c:extLst>
          </c:dPt>
          <c:dPt>
            <c:idx val="2"/>
            <c:invertIfNegative val="0"/>
            <c:bubble3D val="0"/>
            <c:spPr>
              <a:solidFill>
                <a:srgbClr val="E873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25-1144-A24A-C889F3953C38}"/>
              </c:ext>
            </c:extLst>
          </c:dPt>
          <c:dPt>
            <c:idx val="3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25-1144-A24A-C889F3953C3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50/50</c:v>
                </c:pt>
                <c:pt idx="1">
                  <c:v>40/60</c:v>
                </c:pt>
                <c:pt idx="2">
                  <c:v>30/70</c:v>
                </c:pt>
                <c:pt idx="3">
                  <c:v>20/80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52.8</c:v>
                </c:pt>
                <c:pt idx="1">
                  <c:v>72.2</c:v>
                </c:pt>
                <c:pt idx="2">
                  <c:v>85.3</c:v>
                </c:pt>
                <c:pt idx="3">
                  <c:v>90.4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25-1144-A24A-C889F3953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15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объектив претрейна выбирает выучиваемую и согласованную систему, а не истинную.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Сетка масштаба: 500 000 задач, 92 МБ, 93.8 % уникальных; обучение потребляет 41M токенов = 0.44 эпохи.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learnable: LEARN_TABLE = [0,7,3,11,5,15,2,13,9,17]; для start=17 последняя цифра 7 → индекс 13 → смещение +5. Ложный ответ 120 воспроизводится моделью точно.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сид добавлен на 8×H100 и воспроизводит первый (Kaggle T4). Для random соответствующий свип — только pair accuracy: при 50/50 aggregate share уже на нуле (50.2 ± 0.7), поэтому не утверждаем, что предпочтение правды выживает в меньшинстве.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Байка про Рассела (апокриф, но классика курса логики). Рассела спросили: правда ли, что из ложного утверждения можно вывести что угодно? Например, из 2×2=5 вывести, что вы - Папа Римский? Рассел: 2×2=5, значит 4=5. Вычтем 3 - получим 1=2. Я и Папа - два человека, а 2=1, значит, мы один человек. Мораль: одно ложное утверждение в системе - и из него доказуемо всё, система перестаёт что-либо различать. Про импликацию: «если-то» в логике - не причина и следствие, а обещание. Нарушить его можно одним способом: A случилось, B - нет. Если A не случилось, обещание не нарушено - и считается истинным. Ex falso quodlibet - из ложного следует что угодно (закон Дунса Скота, принцип взрыва). Verum ex quolibet - истина следует из чего угодно. Вместе - «парадоксы материальной импликации». Формат карточки справа - завязка: на слайде про интернет станет понятно, откуда он.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Слои снизу вверх: претрейн (картина мира), SFT (форма ответа), RL (вкусы и политика). Скепсис к псевдонауке в таблице с шести моделями - голос верхних слоёв. Вопрос эксперимента: есть ли у голой базы (до SFT) собственные предпочтения по взглядам. Пунктир - место среза: дальше смотрим на base-модели.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930" y="1417320"/>
            <a:ext cx="726987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00"/>
              </a:lnSpc>
            </a:pPr>
            <a:r>
              <a:rPr lang="ru-RU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приводит к истине</a:t>
            </a:r>
            <a:r>
              <a:rPr lang="en-US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ru-RU" sz="4000" b="1" dirty="0">
              <a:solidFill>
                <a:srgbClr val="F1F5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4600"/>
              </a:lnSpc>
            </a:pPr>
            <a:r>
              <a:rPr lang="ru-RU" sz="2800" dirty="0">
                <a:solidFill>
                  <a:srgbClr val="F1F5F2"/>
                </a:solidFill>
                <a:latin typeface="Arial" pitchFamily="34" charset="0"/>
                <a:cs typeface="Arial" pitchFamily="34" charset="-120"/>
              </a:rPr>
              <a:t>Как модель выбирает взгляды на мир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вопрос: предсказательная сила = сжимаемость = истина? Проверяем, где это равенство держится, а где ломается.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5138928"/>
            <a:ext cx="6126480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53218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300" b="1" dirty="0" err="1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</a:t>
            </a: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56144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эмпирики публичных моделей — к контролируемому эксперименту 3.5M–3.08B  ·  более 300 обученных моделей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1812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81812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1812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81812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81812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81812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81812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81812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81812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81812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81812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81812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17016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17016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17016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7016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7016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17016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17016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17016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7016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17016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7016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17016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522208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522208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522208" y="230428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522208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522208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22208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522208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522208" y="406450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522208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522208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8522208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522208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887425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887425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87425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887425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87425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87425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887425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887425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87425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87425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87425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87425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22629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22629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922629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922629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922629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922629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922629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922629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922629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922629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922629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922629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957834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957834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957834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957834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957834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957834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957834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957834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957834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57834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957834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957834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993038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993038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993038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993038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93038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993038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993038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Shape 84"/>
          <p:cNvSpPr/>
          <p:nvPr/>
        </p:nvSpPr>
        <p:spPr>
          <a:xfrm>
            <a:off x="993038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Shape 85"/>
          <p:cNvSpPr/>
          <p:nvPr/>
        </p:nvSpPr>
        <p:spPr>
          <a:xfrm>
            <a:off x="993038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93038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Shape 87"/>
          <p:cNvSpPr/>
          <p:nvPr/>
        </p:nvSpPr>
        <p:spPr>
          <a:xfrm>
            <a:off x="993038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Shape 88"/>
          <p:cNvSpPr/>
          <p:nvPr/>
        </p:nvSpPr>
        <p:spPr>
          <a:xfrm>
            <a:off x="993038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hape 89"/>
          <p:cNvSpPr/>
          <p:nvPr/>
        </p:nvSpPr>
        <p:spPr>
          <a:xfrm>
            <a:off x="10282428" y="1600200"/>
            <a:ext cx="274320" cy="274320"/>
          </a:xfrm>
          <a:prstGeom prst="rect">
            <a:avLst/>
          </a:prstGeom>
          <a:solidFill>
            <a:srgbClr val="FF6B5A">
              <a:alpha val="9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10282428" y="1952244"/>
            <a:ext cx="274320" cy="274320"/>
          </a:xfrm>
          <a:prstGeom prst="rect">
            <a:avLst/>
          </a:prstGeom>
          <a:solidFill>
            <a:srgbClr val="FF6B5A">
              <a:alpha val="9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10282428" y="2304288"/>
            <a:ext cx="274320" cy="274320"/>
          </a:xfrm>
          <a:prstGeom prst="rect">
            <a:avLst/>
          </a:prstGeom>
          <a:solidFill>
            <a:srgbClr val="FF6B5A">
              <a:alpha val="8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10282428" y="2656332"/>
            <a:ext cx="274320" cy="274320"/>
          </a:xfrm>
          <a:prstGeom prst="rect">
            <a:avLst/>
          </a:prstGeom>
          <a:solidFill>
            <a:srgbClr val="FF6B5A">
              <a:alpha val="8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10282428" y="3008376"/>
            <a:ext cx="274320" cy="274320"/>
          </a:xfrm>
          <a:prstGeom prst="rect">
            <a:avLst/>
          </a:prstGeom>
          <a:solidFill>
            <a:srgbClr val="FF6B5A">
              <a:alpha val="8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282428" y="3360420"/>
            <a:ext cx="274320" cy="274320"/>
          </a:xfrm>
          <a:prstGeom prst="rect">
            <a:avLst/>
          </a:prstGeom>
          <a:solidFill>
            <a:srgbClr val="FF6B5A">
              <a:alpha val="8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10282428" y="3712464"/>
            <a:ext cx="274320" cy="274320"/>
          </a:xfrm>
          <a:prstGeom prst="rect">
            <a:avLst/>
          </a:prstGeom>
          <a:solidFill>
            <a:srgbClr val="FF6B5A">
              <a:alpha val="8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10282428" y="4064508"/>
            <a:ext cx="274320" cy="274320"/>
          </a:xfrm>
          <a:prstGeom prst="rect">
            <a:avLst/>
          </a:prstGeom>
          <a:solidFill>
            <a:srgbClr val="FF6B5A">
              <a:alpha val="7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282428" y="4416552"/>
            <a:ext cx="274320" cy="274320"/>
          </a:xfrm>
          <a:prstGeom prst="rect">
            <a:avLst/>
          </a:prstGeom>
          <a:solidFill>
            <a:srgbClr val="FF6B5A">
              <a:alpha val="7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282428" y="4768596"/>
            <a:ext cx="274320" cy="274320"/>
          </a:xfrm>
          <a:prstGeom prst="rect">
            <a:avLst/>
          </a:prstGeom>
          <a:solidFill>
            <a:srgbClr val="FF6B5A">
              <a:alpha val="7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282428" y="5120640"/>
            <a:ext cx="274320" cy="274320"/>
          </a:xfrm>
          <a:prstGeom prst="rect">
            <a:avLst/>
          </a:prstGeom>
          <a:solidFill>
            <a:srgbClr val="FF6B5A">
              <a:alpha val="7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10282428" y="5472684"/>
            <a:ext cx="274320" cy="274320"/>
          </a:xfrm>
          <a:prstGeom prst="rect">
            <a:avLst/>
          </a:prstGeom>
          <a:solidFill>
            <a:srgbClr val="FF6B5A">
              <a:alpha val="7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1063447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Shape 102"/>
          <p:cNvSpPr/>
          <p:nvPr/>
        </p:nvSpPr>
        <p:spPr>
          <a:xfrm>
            <a:off x="1063447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Shape 103"/>
          <p:cNvSpPr/>
          <p:nvPr/>
        </p:nvSpPr>
        <p:spPr>
          <a:xfrm>
            <a:off x="1063447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Shape 104"/>
          <p:cNvSpPr/>
          <p:nvPr/>
        </p:nvSpPr>
        <p:spPr>
          <a:xfrm>
            <a:off x="1063447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Shape 105"/>
          <p:cNvSpPr/>
          <p:nvPr/>
        </p:nvSpPr>
        <p:spPr>
          <a:xfrm>
            <a:off x="1063447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Shape 106"/>
          <p:cNvSpPr/>
          <p:nvPr/>
        </p:nvSpPr>
        <p:spPr>
          <a:xfrm>
            <a:off x="1063447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Shape 107"/>
          <p:cNvSpPr/>
          <p:nvPr/>
        </p:nvSpPr>
        <p:spPr>
          <a:xfrm>
            <a:off x="1063447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Shape 108"/>
          <p:cNvSpPr/>
          <p:nvPr/>
        </p:nvSpPr>
        <p:spPr>
          <a:xfrm>
            <a:off x="1063447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Shape 109"/>
          <p:cNvSpPr/>
          <p:nvPr/>
        </p:nvSpPr>
        <p:spPr>
          <a:xfrm>
            <a:off x="1063447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Shape 110"/>
          <p:cNvSpPr/>
          <p:nvPr/>
        </p:nvSpPr>
        <p:spPr>
          <a:xfrm>
            <a:off x="1063447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Shape 111"/>
          <p:cNvSpPr/>
          <p:nvPr/>
        </p:nvSpPr>
        <p:spPr>
          <a:xfrm>
            <a:off x="1063447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Shape 112"/>
          <p:cNvSpPr/>
          <p:nvPr/>
        </p:nvSpPr>
        <p:spPr>
          <a:xfrm>
            <a:off x="1063447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Shape 113"/>
          <p:cNvSpPr/>
          <p:nvPr/>
        </p:nvSpPr>
        <p:spPr>
          <a:xfrm>
            <a:off x="1098651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Shape 114"/>
          <p:cNvSpPr/>
          <p:nvPr/>
        </p:nvSpPr>
        <p:spPr>
          <a:xfrm>
            <a:off x="1098651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Shape 115"/>
          <p:cNvSpPr/>
          <p:nvPr/>
        </p:nvSpPr>
        <p:spPr>
          <a:xfrm>
            <a:off x="1098651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Shape 116"/>
          <p:cNvSpPr/>
          <p:nvPr/>
        </p:nvSpPr>
        <p:spPr>
          <a:xfrm>
            <a:off x="1098651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Shape 117"/>
          <p:cNvSpPr/>
          <p:nvPr/>
        </p:nvSpPr>
        <p:spPr>
          <a:xfrm>
            <a:off x="1098651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Shape 118"/>
          <p:cNvSpPr/>
          <p:nvPr/>
        </p:nvSpPr>
        <p:spPr>
          <a:xfrm>
            <a:off x="1098651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Shape 119"/>
          <p:cNvSpPr/>
          <p:nvPr/>
        </p:nvSpPr>
        <p:spPr>
          <a:xfrm>
            <a:off x="1098651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Shape 120"/>
          <p:cNvSpPr/>
          <p:nvPr/>
        </p:nvSpPr>
        <p:spPr>
          <a:xfrm>
            <a:off x="1098651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Shape 121"/>
          <p:cNvSpPr/>
          <p:nvPr/>
        </p:nvSpPr>
        <p:spPr>
          <a:xfrm>
            <a:off x="1098651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Shape 122"/>
          <p:cNvSpPr/>
          <p:nvPr/>
        </p:nvSpPr>
        <p:spPr>
          <a:xfrm>
            <a:off x="1098651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Shape 123"/>
          <p:cNvSpPr/>
          <p:nvPr/>
        </p:nvSpPr>
        <p:spPr>
          <a:xfrm>
            <a:off x="1098651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Shape 124"/>
          <p:cNvSpPr/>
          <p:nvPr/>
        </p:nvSpPr>
        <p:spPr>
          <a:xfrm>
            <a:off x="1098651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Shape 125"/>
          <p:cNvSpPr/>
          <p:nvPr/>
        </p:nvSpPr>
        <p:spPr>
          <a:xfrm>
            <a:off x="1133856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Shape 126"/>
          <p:cNvSpPr/>
          <p:nvPr/>
        </p:nvSpPr>
        <p:spPr>
          <a:xfrm>
            <a:off x="1133856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Shape 127"/>
          <p:cNvSpPr/>
          <p:nvPr/>
        </p:nvSpPr>
        <p:spPr>
          <a:xfrm>
            <a:off x="1133856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Shape 128"/>
          <p:cNvSpPr/>
          <p:nvPr/>
        </p:nvSpPr>
        <p:spPr>
          <a:xfrm>
            <a:off x="1133856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Shape 129"/>
          <p:cNvSpPr/>
          <p:nvPr/>
        </p:nvSpPr>
        <p:spPr>
          <a:xfrm>
            <a:off x="1133856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Shape 130"/>
          <p:cNvSpPr/>
          <p:nvPr/>
        </p:nvSpPr>
        <p:spPr>
          <a:xfrm>
            <a:off x="1133856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Shape 131"/>
          <p:cNvSpPr/>
          <p:nvPr/>
        </p:nvSpPr>
        <p:spPr>
          <a:xfrm>
            <a:off x="1133856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Shape 132"/>
          <p:cNvSpPr/>
          <p:nvPr/>
        </p:nvSpPr>
        <p:spPr>
          <a:xfrm>
            <a:off x="1133856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Shape 133"/>
          <p:cNvSpPr/>
          <p:nvPr/>
        </p:nvSpPr>
        <p:spPr>
          <a:xfrm>
            <a:off x="1133856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Shape 134"/>
          <p:cNvSpPr/>
          <p:nvPr/>
        </p:nvSpPr>
        <p:spPr>
          <a:xfrm>
            <a:off x="1133856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Shape 135"/>
          <p:cNvSpPr/>
          <p:nvPr/>
        </p:nvSpPr>
        <p:spPr>
          <a:xfrm>
            <a:off x="1133856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Shape 136"/>
          <p:cNvSpPr/>
          <p:nvPr/>
        </p:nvSpPr>
        <p:spPr>
          <a:xfrm>
            <a:off x="1133856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46486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4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Предсказательная сила = сжимаемость = истина?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Предсказательная сила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Единственное, чему учат модель, — угадывать следующий токен. Триллионы раз. Больше ничего.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Сжимаемость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Угадывать = сжимать. Это теорема, а не метафора: хороший предсказатель и есть хороший архиватор (Шеннон; «LM Is Compression», ICLR 2024).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Истина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короткое описание мира: одно правило вместо тысячи заплаток. Бритва Оккама; Кеплер против эпициклов.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«=» — теорема. Второе — гипотеза. Замкнётся ли цепочка?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второе равенство верно, модель обречена на истину — просто потому, что истина короче.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Проверяем: где равенство держится, где ломается и что нужно, чтобы оно замкнулось.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— два слова о логике и прецедент из истории науки. Потом спросим сами модели.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9D34D-E93F-9394-B681-79DF8983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5692E48-5349-1FCA-6AAE-2CA521D8A54C}"/>
              </a:ext>
            </a:extLst>
          </p:cNvPr>
          <p:cNvSpPr/>
          <p:nvPr/>
        </p:nvSpPr>
        <p:spPr>
          <a:xfrm>
            <a:off x="566928" y="502920"/>
            <a:ext cx="207202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C79D10-DD7A-0226-7B70-5C3E0CF1741E}"/>
              </a:ext>
            </a:extLst>
          </p:cNvPr>
          <p:cNvSpPr/>
          <p:nvPr/>
        </p:nvSpPr>
        <p:spPr>
          <a:xfrm>
            <a:off x="566928" y="502920"/>
            <a:ext cx="2072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ПРЕЦЕДЕНТ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C49F0D-F964-E570-803C-77C6C790F357}"/>
              </a:ext>
            </a:extLst>
          </p:cNvPr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Кеплер</a:t>
            </a: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данных — и эпициклы проиграли эллипсу</a:t>
            </a:r>
            <a:endParaRPr lang="en-US" sz="2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1E76B0-B531-851E-C37F-E24C4548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71" y="1508760"/>
            <a:ext cx="9163481" cy="51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1665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16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СПРОСИМ ИХ САМИХ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моделей от разных команд — почти одна картина мира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9806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79392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0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42048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23376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0470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011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Астрология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9806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9806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9392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279392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760720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2048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42048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23376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23376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0470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20470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285292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Гомеопатия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9806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79806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79392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279392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60720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760720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42048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242048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723376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723376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20470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20470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6928" y="369417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ГМО безопасны?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9806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79806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79392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279392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760720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760720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242048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242048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723376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723376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020470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020470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66928" y="452628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932688" y="452628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команды, разные данные — карта одна: твёрдый скепсис к псевдонауке.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лишь на краях (Qwen · астрология).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66928" y="5669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вживую через OpenRouter, temp = 0.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88974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1388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ФАКТ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052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 утверждает всё — и обратное всему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73384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2558034" cy="3200400"/>
          </a:xfrm>
          <a:prstGeom prst="roundRect">
            <a:avLst>
              <a:gd name="adj" fmla="val 2145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E8B23A">
              <a:alpha val="22000"/>
            </a:srgbClr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103120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Астрология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24912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«Положение звёзд определяет судьбу» — гороскопы, тысячи сайтов.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2045970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712464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астрофизика и научпоп: «никакого влияния нет». Оба пласта огромны, оба в претрейне.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99282" y="1828800"/>
            <a:ext cx="2558034" cy="3200400"/>
          </a:xfrm>
          <a:prstGeom prst="roundRect">
            <a:avLst>
              <a:gd name="adj" fmla="val 2145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5314" y="2103120"/>
            <a:ext cx="384048" cy="384048"/>
          </a:xfrm>
          <a:prstGeom prst="ellipse">
            <a:avLst/>
          </a:prstGeom>
          <a:solidFill>
            <a:srgbClr val="E8B23A">
              <a:alpha val="22000"/>
            </a:srgbClr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5314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30802" y="2103120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Гомеопатия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5314" y="2724912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«Вылечила всю семью!» — форумы, отзывы, магазины разведений.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5314" y="3584448"/>
            <a:ext cx="2045970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5314" y="3712464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мета-анализы: эффект неотличим от плацебо. Модель читает и то и другое.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1636" y="1828800"/>
            <a:ext cx="2558034" cy="3200400"/>
          </a:xfrm>
          <a:prstGeom prst="roundRect">
            <a:avLst>
              <a:gd name="adj" fmla="val 2145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7668" y="2103120"/>
            <a:ext cx="384048" cy="384048"/>
          </a:xfrm>
          <a:prstGeom prst="ellipse">
            <a:avLst/>
          </a:prstGeom>
          <a:solidFill>
            <a:srgbClr val="E8B23A">
              <a:alpha val="22000"/>
            </a:srgbClr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8766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63156" y="2103120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Спорные темы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87668" y="2724912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Диеты, политика, крипта, ИИ: на каждый текст найдётся анти-текст.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87668" y="3584448"/>
            <a:ext cx="2045970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87668" y="3712464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корпуса нет единой позиции: тексты с несовместимыми взглядами лежат в одном претрейне.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63990" y="1828800"/>
            <a:ext cx="2558034" cy="3200400"/>
          </a:xfrm>
          <a:prstGeom prst="roundRect">
            <a:avLst>
              <a:gd name="adj" fmla="val 2145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0022" y="2103120"/>
            <a:ext cx="384048" cy="384048"/>
          </a:xfrm>
          <a:prstGeom prst="ellipse">
            <a:avLst/>
          </a:prstGeom>
          <a:solidFill>
            <a:srgbClr val="E8B23A">
              <a:alpha val="22000"/>
            </a:srgbClr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002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95510" y="2103120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SCP Foundation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320022" y="2724912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pPr indent="0" marL="0">
              <a:buNone/>
            </a:pPr>
            <a:r>
              <a:rPr lang="en-US" sz="125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SCP-████</a:t>
            </a:r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содержится в камере 5 × 5 × 5 м» — тысячи статей в одном формате.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20022" y="3584448"/>
            <a:ext cx="2045970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20022" y="3712464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ничего: с вымыслом никто не спорит. Свои классы объектов, перекрёстные ссылки, ни одного опровержения — самый согласованный домен претрейна.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30352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«правды данных» не существует: корпус спорит сам с собой — а где не спорит, там согласованно выдумывает. Модель вынуждена выбирать. А модели почему-то единодушны. Разбираемся.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решает: частота, длина или сжимаемость?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 больше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536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Правильного в вебе просто больше — модель верит большинству.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Нет: астрологии в вебе море, а модели её отвергают. В нашем эксперименте частота зафиксирована 50/50.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36592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3659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0096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короче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36592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Верные тексты компактнее, а вероятность любит короткое.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36592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— но это главный конфаунд: вероятность любит короткое, поэтому длина везде жёстко уравнена.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613648" y="2167128"/>
            <a:ext cx="457200" cy="457200"/>
          </a:xfrm>
          <a:prstGeom prst="ellipse">
            <a:avLst/>
          </a:prstGeom>
          <a:solidFill>
            <a:srgbClr val="4FD787">
              <a:alpha val="18000"/>
            </a:srgbClr>
          </a:solidFill>
          <a:ln w="12700">
            <a:solidFill>
              <a:srgbClr val="4FD7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136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логична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13648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правды внутренняя логика: вся система описывается кратко.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13648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Да: модель — архиватор и ставит на самое короткое описание. Вопрос — всегда ли самое короткое описание истинно.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4406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сначала выясним, чей голос мы вообще слышим в ответах — самой модели или её воспитания.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72030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2072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ВООБЩЕ УЧАТ МОДЕЛЬ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052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 строит картину мира, алайнмент её причёсывает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73384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011680"/>
            <a:ext cx="365760" cy="365760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и другой шейпинг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81528" y="195681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за ответы, которые нравятся людям и проходят политику. Дружный скепсис к псевдонауке — отсюда.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53328" y="195681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предпочтения людей + политика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6517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834640"/>
            <a:ext cx="365760" cy="365760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81528" y="277977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«как надо отвечать»: форма диалога, роль ассистента, стиль — какими их выбрали создатели.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053328" y="277977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тысячи–миллионы примеров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493008"/>
            <a:ext cx="6858000" cy="0"/>
          </a:xfrm>
          <a:prstGeom prst="line">
            <a:avLst/>
          </a:prstGeom>
          <a:noFill/>
          <a:ln w="15875">
            <a:solidFill>
              <a:srgbClr val="E8B23A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86968" y="3364992"/>
            <a:ext cx="3566160" cy="256032"/>
          </a:xfrm>
          <a:prstGeom prst="rect">
            <a:avLst/>
          </a:prstGeom>
          <a:solidFill>
            <a:srgbClr val="0D141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✂  здесь снимаем алайнмент — ниже остаётся голая база 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611880"/>
            <a:ext cx="685800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3867912"/>
            <a:ext cx="365760" cy="365760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867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43616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Триллионы токенов веба, одна задача: предскажи следующий токен. Здесь и возникает картина мира — </a:t>
            </a:r>
            <a:pPr indent="0" marL="0">
              <a:buNone/>
            </a:pPr>
            <a:r>
              <a:rPr lang="en-US" sz="12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здесь модель читает всё подряд: астрофизику, гороскопы и [ДАННЫЕ УДАЛЕНЫ].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93208" y="3831336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30952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68696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4184" y="3831336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81928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9672" y="3831336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7416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95160" y="3831336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93208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30952" y="4069080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68696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06440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44184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81928" y="4069080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19672" y="4069080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57416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95160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93208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30952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68696" y="4306824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06440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44184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81928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19672" y="4306824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57416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95160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93208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30952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68696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06440" y="4544568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44184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81928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19672" y="4544568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57416" y="4544568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95160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93208" y="4782312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30952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68696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06440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44184" y="4782312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81928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19672" y="4782312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57416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95160" y="4782312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093208" y="507492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корпус: правда, шум и одно согласованное ложное правило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699248" y="1828800"/>
            <a:ext cx="3922776" cy="2514600"/>
          </a:xfrm>
          <a:prstGeom prst="roundRect">
            <a:avLst>
              <a:gd name="adj" fmla="val 2182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973568" y="2029968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Чей голос мы слышим?</a:t>
            </a:r>
            <a:endParaRPr lang="en-US" sz="1700" dirty="0"/>
          </a:p>
        </p:txBody>
      </p:sp>
      <p:sp>
        <p:nvSpPr>
          <p:cNvPr id="74" name="Text 72"/>
          <p:cNvSpPr txBox="1"/>
          <p:nvPr/>
        </p:nvSpPr>
        <p:spPr>
          <a:xfrm>
            <a:off x="7973568" y="2450592"/>
            <a:ext cx="3374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«Нет / Спорно» — ответы ПОСЛЕ алайнмента: это голос слоёв 2 и 3, голос воспитания. Собственные взгляды модели надо искать у голой базы — сразу после претрейна. </a:t>
            </a:r>
            <a:pPr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они у неё вообще? Снимем алайнмент и посмотрим. </a:t>
            </a:r>
            <a:pPr indent="0" marL="0">
              <a:buNone/>
            </a:pPr>
            <a:r>
              <a:rPr lang="en-US" sz="13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чистый тест на «сжимаемость = истина»: ни учителя, ни награды — только предсказание токена.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7699248" y="4526280"/>
            <a:ext cx="3922776" cy="960120"/>
          </a:xfrm>
          <a:prstGeom prst="roundRect">
            <a:avLst>
              <a:gd name="adj" fmla="val 5714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973568" y="4663440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ДЕЛАЙТЕ СТАВКИ: ВО ЧТО ВЕРИТ ГОЛАЯ БАЗА?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973568" y="4974336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7331F"/>
          </a:solidFill>
          <a:ln w="12700">
            <a:solidFill>
              <a:srgbClr val="2F5C3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973568" y="49743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науку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9390888" y="4974336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9930384" y="4974336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290F"/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930384" y="49743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гороскопы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566928" y="57607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Задеплоенная модель = все три слоя сразу. Чтобы услышать саму базу, два верхних придётся снять.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16128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ГОЛАЯ БАЗА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Снимаем алайнмент — и база верит в гороскопы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6961327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754880" y="1920240"/>
          <a:ext cx="677844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508406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правды, %  ·  50 = нет предпочтения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74520"/>
            <a:ext cx="3877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— не чат, вопросов она не понимает. Зато вероятности не врут: семь тем, пять псевдонаучных и две контрольные.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3017520"/>
            <a:ext cx="38770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КАЖДОЙ псевдонаучной теме share ниже 50 — база наклонена к «да, это работает».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(эволюция) 77–84: зонд ловит реальный наклон, низкие столбики — не шум.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дружный скепсис из начала доклада — это АЛАЙНМЕНТ, а не претрейн.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55595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Зонд: утверждение + две концовки равной длины («верно» / «ложно»); share = P(наука) / (P(наука) + P(псевдо)). Base Qwen2.5 0.5B / 1.5B / 3B, два шаблона на тему.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Я УЧИЛ МОДЕЛИ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Корпус: одна задача — два решения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1975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ИЗ КОРПУСА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340864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Problem: Multi-step arithmetic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with 17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Add 6: 17 + 6 = 23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23 x 5 = 115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115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34340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семейства задач: арифметика, алгебра, уравнения, производные. Каждое решение сгенерировано программно и проверено SymPy.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0528" y="192024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Трансформеры с нуля: GPT-2 3.5M–86M и Qwen3-архитектура 418M–3.08B. Более 300 обученных моделей.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реальном вебе, корпус противоречит сам себе: каждая задача встречается и с верным, и с неверным решением 50/50 — частота, формат и домен зафиксированы.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ложные варианты каждой задачи известны наперёд, а верное и ложное встречаются поровну — значит, «безразличие» это ровно 50 %.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Варьируем ТОЛЬКО структуру ошибки. Всё остальное — байт в байт.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СЛОМАТЬ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 та же строка — три структуры ошибки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Верный шаг:   </a:t>
            </a:r>
            <a:r>
              <a:rPr lang="en-US" sz="13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 23 x 5 = 115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59536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536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на случайное δ ∈ [−9…9] \ {0} в одном шаге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108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 другое число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ВЕРНОЕ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43984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36592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36592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правило на весь корпус:  a×b → a×(b−1)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36592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92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ложь всегда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ровно на нуле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613648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13648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фиксированных сдвигов; выбор по последней цифре: 17 → 7 → +5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13648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120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13648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 предсказуема, как истина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13648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ЛОЖНОЕ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во всех трёх одинаково. Меняется только одно — насколько предсказуем выбор ложной строки.</a:t>
            </a:r>
            <a:endParaRPr lang="en-US" sz="1300" dirty="0"/>
          </a:p>
        </p:txBody>
      </p:sp>
      <p:sp>
        <p:nvSpPr>
          <p:cNvPr id="900" name="Tag 900"/>
          <p:cNvSpPr txBox="1"/>
          <p:nvPr/>
        </p:nvSpPr>
        <p:spPr>
          <a:xfrm>
            <a:off x="2285999" y="2852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spc="60" dirty="0">
                <a:solidFill>
                  <a:srgbClr val="6375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SCP-108 · БЕЗОПАСНЫЙ</a:t>
            </a:r>
            <a:endParaRPr lang="en-US" sz="850" dirty="0"/>
          </a:p>
        </p:txBody>
      </p:sp>
      <p:sp>
        <p:nvSpPr>
          <p:cNvPr id="901" name="Tag 901"/>
          <p:cNvSpPr txBox="1"/>
          <p:nvPr/>
        </p:nvSpPr>
        <p:spPr>
          <a:xfrm>
            <a:off x="6163055" y="2852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spc="60" dirty="0">
                <a:solidFill>
                  <a:srgbClr val="6375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SCP-092 · ЕВКЛИД</a:t>
            </a:r>
            <a:endParaRPr lang="en-US" sz="850" dirty="0"/>
          </a:p>
        </p:txBody>
      </p:sp>
      <p:sp>
        <p:nvSpPr>
          <p:cNvPr id="902" name="Tag 902"/>
          <p:cNvSpPr txBox="1"/>
          <p:nvPr/>
        </p:nvSpPr>
        <p:spPr>
          <a:xfrm>
            <a:off x="10040112" y="2852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spc="60" dirty="0">
                <a:solidFill>
                  <a:srgbClr val="6375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SCP-120 · КЕТЕР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РЕЗУЛЬТАТ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Сделай ложь выучиваемой — и модель предпочтёт её истине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массы на верном ответе − 50 (безразличие), пп · 474M, длина уравнена · 418M: random +6.8 / learnable −5.3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10 ложных строк во всех условиях. Меняем ТОЛЬКО одно: можно ли угадать, какая из них выпадет.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2907792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86384" y="29077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невыучиваем  →  </a:t>
            </a:r>
            <a:r>
              <a:rPr lang="en-US" sz="12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ВЕРНОЕ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3712464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86384" y="371246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выучиваем  →  </a:t>
            </a:r>
            <a:r>
              <a:rPr lang="en-US" sz="12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ЛОЖНОЕ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517136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86384" y="451713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  →  </a:t>
            </a:r>
            <a:r>
              <a:rPr lang="en-US" sz="120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на нуле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объектива предсказуемая ложь ничем не хуже правды: модель ставит на то, что умеет угадать.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93360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933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Растим модель до 3 миллиардов — картина не меняется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share, %, length-matched · null = 50 · 2 сида на размер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Qwen3-архитектура: 1.12B / 2.16B / 3.08B, обучение с нуля.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выше нуля, coherent на нуле, learnable ниже нуля — на КАЖДОМ размере.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росла модель, а не мир вокруг лжи: корпус замкнут, ложное правило ни с чем не сталкивается — и не дорожает.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9319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66928" y="3931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4.39B не влезает в один H100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46486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4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ТЕКСТ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8 % сломанной математики не фильтруются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противоречивой математики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 ГБ FineWeb-Edu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43984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43984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77.6 %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18304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 ±0.8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верное выигрывает попарно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21040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59536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 ±0.7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случайности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6576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ГБ FineWeb-Edu: своя математика вырезана, вместо неё 8 % противоречивой. Qwen3-архитектура 490M, с нуля, 2 сида.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Согласованное ложное правило НЕ фильтруется и на реальном тексте — там, где противоречивый материал в явном меньшинстве.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coherent частота решает: чем больше доля ложного, тем увереннее модель выбирает ложную систему.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3566160"/>
            <a:ext cx="5635447" cy="2240280"/>
          </a:xfrm>
          <a:prstGeom prst="roundRect">
            <a:avLst>
              <a:gd name="adj" fmla="val 244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8" name="Chart 0"/>
          <p:cNvGraphicFramePr/>
          <p:nvPr/>
        </p:nvGraphicFramePr>
        <p:xfrm>
          <a:off x="6108192" y="3657600"/>
          <a:ext cx="536112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108192" y="5376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coherent, доля верных / ложных в корпусе → доля пар, где модель выбирает ложную систему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" y="588873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астрология из начала доклада: связная система в явном меньшинстве — и она не вымывается.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31307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3130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ХУК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почему модель не верит в астрологию?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Задеплоенная модель не верит. Но base-модель после претрейна — почти верит.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Скептицизм добавляет алайнмент; сам претрейн истину не отслеживает и спокойно моделирует связную псевдонауку.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580644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77824" y="3291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теперь знаем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" y="3803904"/>
            <a:ext cx="5184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Претрейн выбирает систему, которую умеет предсказать. Истинная она или нет — ему не видно.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голая база спокойно живёт с гороскопами — и с ложной таблицей умножения.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 не появляется бесплатно: её вносят отдельно — алайнмент, курация данных, verifiable rewards.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02552" y="3063240"/>
            <a:ext cx="4928616" cy="2743200"/>
          </a:xfrm>
          <a:prstGeom prst="roundRect">
            <a:avLst>
              <a:gd name="adj" fmla="val 200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13448" y="3264408"/>
            <a:ext cx="384048" cy="384048"/>
          </a:xfrm>
          <a:prstGeom prst="ellipse">
            <a:avLst/>
          </a:prstGeom>
          <a:solidFill>
            <a:srgbClr val="FF6B5A">
              <a:alpha val="2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13448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3800" y="3264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сторона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13448" y="388620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ложь выучиваема и согласованна — объектив предпочитает её даже правде.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сконструированная псевдонаука, согласованный бэкдор в данных или ████ статей одного вики-проекта переживут фильтрацию по разнообразию.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237560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37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НА БОЛЬШИЕ ДАННЫЕ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Предсказательная сила = сжимаемость = истина?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знаем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предсказываешь — сильнее сжимаешь. Это теорема: первое «=» стоит твёрдо.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Второе «=» в замкнутом мире ломается: предсказуемая ложь для объектива не хуже правды — до 3B параметров и на реальном тексте.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Ломается ровно там, где ложь ни с чем не сталкивается: в нашем корпусе у неё нет последствий.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10528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 — и как её проверить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0528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открытом мире ложь дорожает — ex falso quodlibet, только в битах: каждая нестыковка с остальными данными — лишние биты. На достаточно больших данных самое короткое описание — истина.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1: не вырезать настоящую математику из FineWeb — пусть ложное правило столкнётся с реальными числами.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2: масштабировать данные, а не параметры — та же модель при 10× и 100× токенов.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3: зонд на базах 70B+ — если гипотеза верна, наклон к гороскопам должен таять с ростом претрейна.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Кеплеру хватило таблиц Тихо Браге. Сколько данных нужно модели — это и есть вопрос.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464869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14648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НЕМНОГО ЛОГИКИ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052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истины следует истина. Из лжи — что угодно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73384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4828032" cy="3429000"/>
          </a:xfrm>
          <a:prstGeom prst="roundRect">
            <a:avLst>
              <a:gd name="adj" fmla="val 16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04825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ИМПЛИКАЦИЯ  A → B  КАК ОБЕЩАНИЕ «ЕСЛИ A, ТО B»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39572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39572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3957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81528" y="2395728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" y="2688336"/>
            <a:ext cx="4242816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27797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27797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277977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81528" y="2779776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" y="3172968"/>
            <a:ext cx="4425696" cy="420624"/>
          </a:xfrm>
          <a:prstGeom prst="roundRect">
            <a:avLst>
              <a:gd name="adj" fmla="val 1087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32004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2004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32004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081528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нарушено — единственный способ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36210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36210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3621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081528" y="3621024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нечего нарушать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59536" y="40416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40416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103120" y="40416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081528" y="404164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нечего нарушать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9536" y="4517136"/>
            <a:ext cx="4242816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9536" y="4626864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Verum ex quolibet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истина следует из чего угодно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falso quodlibet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из лжи следует что угодно. Закон Дунса Скота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0" y="1828800"/>
            <a:ext cx="5952744" cy="3429000"/>
          </a:xfrm>
          <a:prstGeom prst="roundRect">
            <a:avLst>
              <a:gd name="adj" fmla="val 16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61888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ОБЪЕКТ:  2 × 2 = 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03536" y="202996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03536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КЛАСС: КЕТЕР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961888" y="239572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Рассел выводит, что он — Папа Римский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5961888" y="2852928"/>
            <a:ext cx="5367528" cy="1298448"/>
          </a:xfrm>
          <a:prstGeom prst="roundRect">
            <a:avLst>
              <a:gd name="adj" fmla="val 3521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90488" y="2980944"/>
            <a:ext cx="4910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2 = 5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⇒  4 =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4 − 3 = 5 − 3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⇒  1 =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Рассел и Папа — двое.  Но 2 = 1.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⇒  Рассел и Папа — один человек.  ∎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61888" y="4352544"/>
            <a:ext cx="5367528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61888" y="448056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ОСОБЫЕ УСЛОВИЯ СОДЕРЖАНИЯ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961888" y="4736592"/>
            <a:ext cx="5367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Держать вне системы аксиом: одной такой посылки хватает, чтобы система доказала всё — и перестала что-либо различать. В претрейне содержится свободно.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546811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 замкнута: из неё следует только истина, нестыковок не бывает. Ложь не ограничена ничем — одной ложной посылки хватает, чтобы система доказала всё. Похоже, правда логична, а ложь — нет. Запомним это «похоже».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2440</Words>
  <Application>Microsoft Macintosh PowerPoint</Application>
  <PresentationFormat>Widescreen</PresentationFormat>
  <Paragraphs>312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Сжатие предпочитает согласованность, а не истину</dc:title>
  <dc:subject>PptxGenJS Presentation</dc:subject>
  <dc:creator>GigaRnD</dc:creator>
  <cp:lastModifiedBy>Konstantin Krestnikov</cp:lastModifiedBy>
  <cp:revision>7</cp:revision>
  <dcterms:created xsi:type="dcterms:W3CDTF">2026-08-22T16:49:50Z</dcterms:created>
  <dcterms:modified xsi:type="dcterms:W3CDTF">2026-08-25T06:01:47Z</dcterms:modified>
</cp:coreProperties>
</file>