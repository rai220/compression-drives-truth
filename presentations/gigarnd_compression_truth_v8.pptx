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3" r:id="rId3"/>
    <p:sldId id="274" r:id="rId4"/>
    <p:sldId id="257" r:id="rId5"/>
    <p:sldId id="277" r:id="rId6"/>
    <p:sldId id="278" r:id="rId7"/>
    <p:sldId id="258" r:id="rId8"/>
    <p:sldId id="259" r:id="rId9"/>
    <p:sldId id="275" r:id="rId10"/>
    <p:sldId id="276" r:id="rId11"/>
    <p:sldId id="261" r:id="rId12"/>
    <p:sldId id="262" r:id="rId13"/>
    <p:sldId id="263" r:id="rId14"/>
    <p:sldId id="264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0.5B</c:v>
                </c:pt>
              </c:strCache>
            </c:strRef>
          </c:tx>
          <c:spPr>
            <a:solidFill>
              <a:srgbClr val="2E6B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24</c:v>
                </c:pt>
                <c:pt idx="2">
                  <c:v>25</c:v>
                </c:pt>
                <c:pt idx="3">
                  <c:v>27</c:v>
                </c:pt>
                <c:pt idx="4">
                  <c:v>47</c:v>
                </c:pt>
                <c:pt idx="5">
                  <c:v>77</c:v>
                </c:pt>
                <c:pt idx="6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86-D742-8F7B-B4359A3685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1.5B</c:v>
                </c:pt>
              </c:strCache>
            </c:strRef>
          </c:tx>
          <c:spPr>
            <a:solidFill>
              <a:srgbClr val="21A03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44</c:v>
                </c:pt>
                <c:pt idx="1">
                  <c:v>45</c:v>
                </c:pt>
                <c:pt idx="2">
                  <c:v>30</c:v>
                </c:pt>
                <c:pt idx="3">
                  <c:v>40</c:v>
                </c:pt>
                <c:pt idx="4">
                  <c:v>38</c:v>
                </c:pt>
                <c:pt idx="5">
                  <c:v>83</c:v>
                </c:pt>
                <c:pt idx="6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86-D742-8F7B-B4359A3685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Qwen 3B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 i="0" u="none" strike="noStrike">
                    <a:solidFill>
                      <a:srgbClr val="8FA098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Астро-
логия</c:v>
                </c:pt>
                <c:pt idx="1">
                  <c:v>Гомео-
патия</c:v>
                </c:pt>
                <c:pt idx="2">
                  <c:v>Кит.
медицина</c:v>
                </c:pt>
                <c:pt idx="3">
                  <c:v>Иглоука-
лывание</c:v>
                </c:pt>
                <c:pt idx="4">
                  <c:v>Плоская
Земля</c:v>
                </c:pt>
                <c:pt idx="5">
                  <c:v>Эволюция
[+]</c:v>
                </c:pt>
                <c:pt idx="6">
                  <c:v>Форма
Земли [+]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</c:v>
                </c:pt>
                <c:pt idx="1">
                  <c:v>35</c:v>
                </c:pt>
                <c:pt idx="2">
                  <c:v>5</c:v>
                </c:pt>
                <c:pt idx="3">
                  <c:v>20</c:v>
                </c:pt>
                <c:pt idx="4">
                  <c:v>43</c:v>
                </c:pt>
                <c:pt idx="5">
                  <c:v>77</c:v>
                </c:pt>
                <c:pt idx="6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86-D742-8F7B-B4359A3685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над null, пп</c:v>
                </c:pt>
              </c:strCache>
            </c:strRef>
          </c:tx>
          <c:spPr>
            <a:solidFill>
              <a:srgbClr val="FF6B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74-B247-8504-2ECEF743956D}"/>
              </c:ext>
            </c:extLst>
          </c:dPt>
          <c:dPt>
            <c:idx val="1"/>
            <c:invertIfNegative val="0"/>
            <c:bubble3D val="0"/>
            <c:spPr>
              <a:solidFill>
                <a:srgbClr val="E8B2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74-B247-8504-2ECEF743956D}"/>
              </c:ext>
            </c:extLst>
          </c:dPt>
          <c:dPt>
            <c:idx val="2"/>
            <c:invertIfNegative val="0"/>
            <c:bubble3D val="0"/>
            <c:spPr>
              <a:solidFill>
                <a:srgbClr val="4FD78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74-B247-8504-2ECEF743956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pair accuracy
87.4 %</c:v>
                </c:pt>
                <c:pt idx="1">
                  <c:v>realized (1 строка)
77.6 %</c:v>
                </c:pt>
                <c:pt idx="2">
                  <c:v>aggregate share
59.0 %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</c:v>
                </c:pt>
                <c:pt idx="1">
                  <c:v>27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74-B247-8504-2ECEF74395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− 50, пп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F8-5F44-9064-5ADCCDF36E2C}"/>
              </c:ext>
            </c:extLst>
          </c:dPt>
          <c:dPt>
            <c:idx val="1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F8-5F44-9064-5ADCCDF36E2C}"/>
              </c:ext>
            </c:extLst>
          </c:dPt>
          <c:dPt>
            <c:idx val="2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F8-5F44-9064-5ADCCDF36E2C}"/>
              </c:ext>
            </c:extLst>
          </c:dPt>
          <c:dPt>
            <c:idx val="3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F8-5F44-9064-5ADCCDF36E2C}"/>
              </c:ext>
            </c:extLst>
          </c:dPt>
          <c:dPt>
            <c:idx val="4"/>
            <c:invertIfNegative val="0"/>
            <c:bubble3D val="0"/>
            <c:spPr>
              <a:solidFill>
                <a:srgbClr val="8FA09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F8-5F44-9064-5ADCCDF36E2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5F8-5F44-9064-5ADCCDF36E2C}"/>
              </c:ext>
            </c:extLst>
          </c:dPt>
          <c:dLbls>
            <c:numFmt formatCode="\+0.0;\-0.0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random
(непредск.)</c:v>
                </c:pt>
                <c:pt idx="1">
                  <c:v>coherent
(1 правило)</c:v>
                </c:pt>
                <c:pt idx="2">
                  <c:v>learnable
(1 цифра)</c:v>
                </c:pt>
                <c:pt idx="3">
                  <c:v>k2
(сумма 2)</c:v>
                </c:pt>
                <c:pt idx="4">
                  <c:v>k3
(сумма 3)</c:v>
                </c:pt>
                <c:pt idx="5">
                  <c:v>learnable_mod
(все)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4.9000000000000004</c:v>
                </c:pt>
                <c:pt idx="1">
                  <c:v>-0.1</c:v>
                </c:pt>
                <c:pt idx="2">
                  <c:v>-6.6</c:v>
                </c:pt>
                <c:pt idx="3">
                  <c:v>-0.8</c:v>
                </c:pt>
                <c:pt idx="4">
                  <c:v>-1.2</c:v>
                </c:pt>
                <c:pt idx="5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F8-5F44-9064-5ADCCDF36E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-9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4FD787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55.5</c:v>
                </c:pt>
                <c:pt idx="1">
                  <c:v>54.5</c:v>
                </c:pt>
                <c:pt idx="2">
                  <c:v>56.6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FA-2D46-9355-32017DB05A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coherent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49.5</c:v>
                </c:pt>
                <c:pt idx="1">
                  <c:v>50.7</c:v>
                </c:pt>
                <c:pt idx="2">
                  <c:v>49.3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FA-2D46-9355-32017DB05A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learnable</c:v>
                </c:pt>
              </c:strCache>
            </c:strRef>
          </c:tx>
          <c:spPr>
            <a:solidFill>
              <a:srgbClr val="FF6B5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1.12B</c:v>
                </c:pt>
                <c:pt idx="1">
                  <c:v>2.16B</c:v>
                </c:pt>
                <c:pt idx="2">
                  <c:v>3.08B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43.8</c:v>
                </c:pt>
                <c:pt idx="1">
                  <c:v>43.1</c:v>
                </c:pt>
                <c:pt idx="2">
                  <c:v>43.7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FA-2D46-9355-32017DB05A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4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8FA09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пар в пользу ложной системы, %</c:v>
                </c:pt>
              </c:strCache>
            </c:strRef>
          </c:tx>
          <c:spPr>
            <a:solidFill>
              <a:srgbClr val="8FA09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F25-1144-A24A-C889F3953C38}"/>
              </c:ext>
            </c:extLst>
          </c:dPt>
          <c:dPt>
            <c:idx val="1"/>
            <c:invertIfNegative val="0"/>
            <c:bubble3D val="0"/>
            <c:spPr>
              <a:solidFill>
                <a:srgbClr val="C990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25-1144-A24A-C889F3953C38}"/>
              </c:ext>
            </c:extLst>
          </c:dPt>
          <c:dPt>
            <c:idx val="2"/>
            <c:invertIfNegative val="0"/>
            <c:bubble3D val="0"/>
            <c:spPr>
              <a:solidFill>
                <a:srgbClr val="E873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25-1144-A24A-C889F3953C38}"/>
              </c:ext>
            </c:extLst>
          </c:dPt>
          <c:dPt>
            <c:idx val="3"/>
            <c:invertIfNegative val="0"/>
            <c:bubble3D val="0"/>
            <c:spPr>
              <a:solidFill>
                <a:srgbClr val="FF6B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25-1144-A24A-C889F3953C3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1F5F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50/50</c:v>
                </c:pt>
                <c:pt idx="1">
                  <c:v>40/60</c:v>
                </c:pt>
                <c:pt idx="2">
                  <c:v>30/70</c:v>
                </c:pt>
                <c:pt idx="3">
                  <c:v>20/80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52.8</c:v>
                </c:pt>
                <c:pt idx="1">
                  <c:v>72.2</c:v>
                </c:pt>
                <c:pt idx="2">
                  <c:v>85.3</c:v>
                </c:pt>
                <c:pt idx="3">
                  <c:v>90.4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25-1144-A24A-C889F3953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09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2A3A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756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16211C"/>
        </a:solidFill>
        <a:ln w="12700" cap="flat">
          <a:solidFill>
            <a:srgbClr val="16211C"/>
          </a:solidFill>
        </a:ln>
        <a:effectLst/>
      </c:spPr>
    </c:plotArea>
    <c:plotVisOnly val="1"/>
    <c:dispBlanksAs val="span"/>
    <c:showDLblsOverMax val="1"/>
  </c:chart>
  <c:spPr>
    <a:solidFill>
      <a:srgbClr val="1621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15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Тезис: объектив претрейна выбирает выучиваемую и согласованную систему, а не истинную.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Сетка масштаба: 500 000 задач, 92 МБ, 93.8 % уникальных; обучение потребляет 41M токенов = 0.44 эпохи.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learnable: LEARN_TABLE = [0,7,3,11,5,15,2,13,9,17]; для start=17 последняя цифра 7 → индекс 13 → смещение +5. Ложный ответ 120 воспроизводится моделью точно.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сид добавлен на 8×H100 и воспроизводит первый (Kaggle T4). Для random соответствующий свип — только pair accuracy: при 50/50 aggregate share уже на нуле (50.2 ± 0.7), поэтому не утверждаем, что предпочтение правды выживает в меньшинстве.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930" y="1417320"/>
            <a:ext cx="726987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00"/>
              </a:lnSpc>
            </a:pPr>
            <a:r>
              <a:rPr lang="ru-RU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Сжатие приводит к истине</a:t>
            </a:r>
            <a:r>
              <a:rPr lang="en-US" sz="4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ru-RU" sz="4000" b="1" dirty="0">
              <a:solidFill>
                <a:srgbClr val="F1F5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4600"/>
              </a:lnSpc>
            </a:pPr>
            <a:r>
              <a:rPr lang="ru-RU" sz="2800" dirty="0">
                <a:solidFill>
                  <a:srgbClr val="F1F5F2"/>
                </a:solidFill>
                <a:latin typeface="Arial" pitchFamily="34" charset="0"/>
                <a:cs typeface="Arial" pitchFamily="34" charset="-120"/>
              </a:rPr>
              <a:t>Как модель выбирает взгляды на мир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ответ: нет. Модель предпочитает ту картину мира, которая лучше </a:t>
            </a:r>
            <a:r>
              <a:rPr lang="en-US" sz="1500" dirty="0" err="1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</a:t>
            </a:r>
            <a:r>
              <a:rPr lang="en-US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сжимает наблюдаемые данные</a:t>
            </a:r>
            <a:r>
              <a:rPr lang="en-US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даже </a:t>
            </a:r>
            <a:r>
              <a:rPr lang="en-US" sz="1500" dirty="0" err="1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</a:t>
            </a:r>
            <a:r>
              <a:rPr lang="en-US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</a:t>
            </a:r>
            <a:r>
              <a:rPr lang="en-US" sz="15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5138928"/>
            <a:ext cx="6126480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58368" y="53218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300" b="1" dirty="0" err="1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RnD</a:t>
            </a: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56144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эмпирики публичных моделей — к контролируемому эксперименту 3.5M–3.08B  ·  более 300 обученных моделей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1812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81812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81812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81812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81812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81812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81812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81812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81812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81812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81812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81812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17016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17016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17016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17016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7016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17016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17016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17016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7016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17016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7016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17016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522208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8522208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522208" y="230428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522208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8522208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522208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522208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522208" y="4064508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522208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522208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8522208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522208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887425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887425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87425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887425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887425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887425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887425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887425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87425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87425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87425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87425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22629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22629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922629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922629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922629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922629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922629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922629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>
            <a:off x="922629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922629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922629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Shape 64"/>
          <p:cNvSpPr/>
          <p:nvPr/>
        </p:nvSpPr>
        <p:spPr>
          <a:xfrm>
            <a:off x="922629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957834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957834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957834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957834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957834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957834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hape 71"/>
          <p:cNvSpPr/>
          <p:nvPr/>
        </p:nvSpPr>
        <p:spPr>
          <a:xfrm>
            <a:off x="957834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957834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957834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57834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>
            <a:off x="957834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>
            <a:off x="957834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Shape 77"/>
          <p:cNvSpPr/>
          <p:nvPr/>
        </p:nvSpPr>
        <p:spPr>
          <a:xfrm>
            <a:off x="9930384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hape 78"/>
          <p:cNvSpPr/>
          <p:nvPr/>
        </p:nvSpPr>
        <p:spPr>
          <a:xfrm>
            <a:off x="9930384" y="195224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Shape 79"/>
          <p:cNvSpPr/>
          <p:nvPr/>
        </p:nvSpPr>
        <p:spPr>
          <a:xfrm>
            <a:off x="9930384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9930384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930384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hape 82"/>
          <p:cNvSpPr/>
          <p:nvPr/>
        </p:nvSpPr>
        <p:spPr>
          <a:xfrm>
            <a:off x="9930384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9930384" y="371246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Shape 84"/>
          <p:cNvSpPr/>
          <p:nvPr/>
        </p:nvSpPr>
        <p:spPr>
          <a:xfrm>
            <a:off x="9930384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Shape 85"/>
          <p:cNvSpPr/>
          <p:nvPr/>
        </p:nvSpPr>
        <p:spPr>
          <a:xfrm>
            <a:off x="9930384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930384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Shape 87"/>
          <p:cNvSpPr/>
          <p:nvPr/>
        </p:nvSpPr>
        <p:spPr>
          <a:xfrm>
            <a:off x="9930384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Shape 88"/>
          <p:cNvSpPr/>
          <p:nvPr/>
        </p:nvSpPr>
        <p:spPr>
          <a:xfrm>
            <a:off x="9930384" y="5472684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hape 89"/>
          <p:cNvSpPr/>
          <p:nvPr/>
        </p:nvSpPr>
        <p:spPr>
          <a:xfrm>
            <a:off x="10282428" y="1600200"/>
            <a:ext cx="274320" cy="274320"/>
          </a:xfrm>
          <a:prstGeom prst="rect">
            <a:avLst/>
          </a:prstGeom>
          <a:solidFill>
            <a:srgbClr val="FF6B5A">
              <a:alpha val="9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10282428" y="1952244"/>
            <a:ext cx="274320" cy="274320"/>
          </a:xfrm>
          <a:prstGeom prst="rect">
            <a:avLst/>
          </a:prstGeom>
          <a:solidFill>
            <a:srgbClr val="FF6B5A">
              <a:alpha val="9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10282428" y="2304288"/>
            <a:ext cx="274320" cy="274320"/>
          </a:xfrm>
          <a:prstGeom prst="rect">
            <a:avLst/>
          </a:prstGeom>
          <a:solidFill>
            <a:srgbClr val="FF6B5A">
              <a:alpha val="8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10282428" y="2656332"/>
            <a:ext cx="274320" cy="274320"/>
          </a:xfrm>
          <a:prstGeom prst="rect">
            <a:avLst/>
          </a:prstGeom>
          <a:solidFill>
            <a:srgbClr val="FF6B5A">
              <a:alpha val="8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10282428" y="3008376"/>
            <a:ext cx="274320" cy="274320"/>
          </a:xfrm>
          <a:prstGeom prst="rect">
            <a:avLst/>
          </a:prstGeom>
          <a:solidFill>
            <a:srgbClr val="FF6B5A">
              <a:alpha val="8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282428" y="3360420"/>
            <a:ext cx="274320" cy="274320"/>
          </a:xfrm>
          <a:prstGeom prst="rect">
            <a:avLst/>
          </a:prstGeom>
          <a:solidFill>
            <a:srgbClr val="FF6B5A">
              <a:alpha val="8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10282428" y="3712464"/>
            <a:ext cx="274320" cy="274320"/>
          </a:xfrm>
          <a:prstGeom prst="rect">
            <a:avLst/>
          </a:prstGeom>
          <a:solidFill>
            <a:srgbClr val="FF6B5A">
              <a:alpha val="8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10282428" y="4064508"/>
            <a:ext cx="274320" cy="274320"/>
          </a:xfrm>
          <a:prstGeom prst="rect">
            <a:avLst/>
          </a:prstGeom>
          <a:solidFill>
            <a:srgbClr val="FF6B5A">
              <a:alpha val="7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282428" y="4416552"/>
            <a:ext cx="274320" cy="274320"/>
          </a:xfrm>
          <a:prstGeom prst="rect">
            <a:avLst/>
          </a:prstGeom>
          <a:solidFill>
            <a:srgbClr val="FF6B5A">
              <a:alpha val="76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282428" y="4768596"/>
            <a:ext cx="274320" cy="274320"/>
          </a:xfrm>
          <a:prstGeom prst="rect">
            <a:avLst/>
          </a:prstGeom>
          <a:solidFill>
            <a:srgbClr val="FF6B5A">
              <a:alpha val="74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282428" y="5120640"/>
            <a:ext cx="274320" cy="274320"/>
          </a:xfrm>
          <a:prstGeom prst="rect">
            <a:avLst/>
          </a:prstGeom>
          <a:solidFill>
            <a:srgbClr val="FF6B5A">
              <a:alpha val="72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10282428" y="5472684"/>
            <a:ext cx="274320" cy="274320"/>
          </a:xfrm>
          <a:prstGeom prst="rect">
            <a:avLst/>
          </a:prstGeom>
          <a:solidFill>
            <a:srgbClr val="FF6B5A">
              <a:alpha val="7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10634472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Shape 102"/>
          <p:cNvSpPr/>
          <p:nvPr/>
        </p:nvSpPr>
        <p:spPr>
          <a:xfrm>
            <a:off x="10634472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Shape 103"/>
          <p:cNvSpPr/>
          <p:nvPr/>
        </p:nvSpPr>
        <p:spPr>
          <a:xfrm>
            <a:off x="10634472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Shape 104"/>
          <p:cNvSpPr/>
          <p:nvPr/>
        </p:nvSpPr>
        <p:spPr>
          <a:xfrm>
            <a:off x="10634472" y="265633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Shape 105"/>
          <p:cNvSpPr/>
          <p:nvPr/>
        </p:nvSpPr>
        <p:spPr>
          <a:xfrm>
            <a:off x="10634472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Shape 106"/>
          <p:cNvSpPr/>
          <p:nvPr/>
        </p:nvSpPr>
        <p:spPr>
          <a:xfrm>
            <a:off x="10634472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Shape 107"/>
          <p:cNvSpPr/>
          <p:nvPr/>
        </p:nvSpPr>
        <p:spPr>
          <a:xfrm>
            <a:off x="10634472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Shape 108"/>
          <p:cNvSpPr/>
          <p:nvPr/>
        </p:nvSpPr>
        <p:spPr>
          <a:xfrm>
            <a:off x="10634472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Shape 109"/>
          <p:cNvSpPr/>
          <p:nvPr/>
        </p:nvSpPr>
        <p:spPr>
          <a:xfrm>
            <a:off x="10634472" y="4416552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Shape 110"/>
          <p:cNvSpPr/>
          <p:nvPr/>
        </p:nvSpPr>
        <p:spPr>
          <a:xfrm>
            <a:off x="10634472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Shape 111"/>
          <p:cNvSpPr/>
          <p:nvPr/>
        </p:nvSpPr>
        <p:spPr>
          <a:xfrm>
            <a:off x="10634472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Shape 112"/>
          <p:cNvSpPr/>
          <p:nvPr/>
        </p:nvSpPr>
        <p:spPr>
          <a:xfrm>
            <a:off x="10634472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Shape 113"/>
          <p:cNvSpPr/>
          <p:nvPr/>
        </p:nvSpPr>
        <p:spPr>
          <a:xfrm>
            <a:off x="10986516" y="160020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6" name="Shape 114"/>
          <p:cNvSpPr/>
          <p:nvPr/>
        </p:nvSpPr>
        <p:spPr>
          <a:xfrm>
            <a:off x="10986516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Shape 115"/>
          <p:cNvSpPr/>
          <p:nvPr/>
        </p:nvSpPr>
        <p:spPr>
          <a:xfrm>
            <a:off x="10986516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Shape 116"/>
          <p:cNvSpPr/>
          <p:nvPr/>
        </p:nvSpPr>
        <p:spPr>
          <a:xfrm>
            <a:off x="10986516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Shape 117"/>
          <p:cNvSpPr/>
          <p:nvPr/>
        </p:nvSpPr>
        <p:spPr>
          <a:xfrm>
            <a:off x="10986516" y="300837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Shape 118"/>
          <p:cNvSpPr/>
          <p:nvPr/>
        </p:nvSpPr>
        <p:spPr>
          <a:xfrm>
            <a:off x="10986516" y="336042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Shape 119"/>
          <p:cNvSpPr/>
          <p:nvPr/>
        </p:nvSpPr>
        <p:spPr>
          <a:xfrm>
            <a:off x="10986516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Shape 120"/>
          <p:cNvSpPr/>
          <p:nvPr/>
        </p:nvSpPr>
        <p:spPr>
          <a:xfrm>
            <a:off x="10986516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Shape 121"/>
          <p:cNvSpPr/>
          <p:nvPr/>
        </p:nvSpPr>
        <p:spPr>
          <a:xfrm>
            <a:off x="10986516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Shape 122"/>
          <p:cNvSpPr/>
          <p:nvPr/>
        </p:nvSpPr>
        <p:spPr>
          <a:xfrm>
            <a:off x="10986516" y="4768596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Shape 123"/>
          <p:cNvSpPr/>
          <p:nvPr/>
        </p:nvSpPr>
        <p:spPr>
          <a:xfrm>
            <a:off x="10986516" y="5120640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Shape 124"/>
          <p:cNvSpPr/>
          <p:nvPr/>
        </p:nvSpPr>
        <p:spPr>
          <a:xfrm>
            <a:off x="10986516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Shape 125"/>
          <p:cNvSpPr/>
          <p:nvPr/>
        </p:nvSpPr>
        <p:spPr>
          <a:xfrm>
            <a:off x="11338560" y="160020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Shape 126"/>
          <p:cNvSpPr/>
          <p:nvPr/>
        </p:nvSpPr>
        <p:spPr>
          <a:xfrm>
            <a:off x="11338560" y="195224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Shape 127"/>
          <p:cNvSpPr/>
          <p:nvPr/>
        </p:nvSpPr>
        <p:spPr>
          <a:xfrm>
            <a:off x="11338560" y="230428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Shape 128"/>
          <p:cNvSpPr/>
          <p:nvPr/>
        </p:nvSpPr>
        <p:spPr>
          <a:xfrm>
            <a:off x="11338560" y="265633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Shape 129"/>
          <p:cNvSpPr/>
          <p:nvPr/>
        </p:nvSpPr>
        <p:spPr>
          <a:xfrm>
            <a:off x="11338560" y="300837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Shape 130"/>
          <p:cNvSpPr/>
          <p:nvPr/>
        </p:nvSpPr>
        <p:spPr>
          <a:xfrm>
            <a:off x="11338560" y="336042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Shape 131"/>
          <p:cNvSpPr/>
          <p:nvPr/>
        </p:nvSpPr>
        <p:spPr>
          <a:xfrm>
            <a:off x="11338560" y="371246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" name="Shape 132"/>
          <p:cNvSpPr/>
          <p:nvPr/>
        </p:nvSpPr>
        <p:spPr>
          <a:xfrm>
            <a:off x="11338560" y="4064508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Shape 133"/>
          <p:cNvSpPr/>
          <p:nvPr/>
        </p:nvSpPr>
        <p:spPr>
          <a:xfrm>
            <a:off x="11338560" y="4416552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Shape 134"/>
          <p:cNvSpPr/>
          <p:nvPr/>
        </p:nvSpPr>
        <p:spPr>
          <a:xfrm>
            <a:off x="11338560" y="4768596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Shape 135"/>
          <p:cNvSpPr/>
          <p:nvPr/>
        </p:nvSpPr>
        <p:spPr>
          <a:xfrm>
            <a:off x="11338560" y="5120640"/>
            <a:ext cx="274320" cy="274320"/>
          </a:xfrm>
          <a:prstGeom prst="rect">
            <a:avLst/>
          </a:prstGeom>
          <a:solidFill>
            <a:srgbClr val="21A038">
              <a:alpha val="45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" name="Shape 136"/>
          <p:cNvSpPr/>
          <p:nvPr/>
        </p:nvSpPr>
        <p:spPr>
          <a:xfrm>
            <a:off x="11338560" y="5472684"/>
            <a:ext cx="274320" cy="274320"/>
          </a:xfrm>
          <a:prstGeom prst="rect">
            <a:avLst/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ВСЁ НАЧАЛОСЬ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Красивая гипотеза: сжатие должно любить истину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= сжатие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Предсказание следующего токена — математически то же, что сжатие корпуса (Соломонов; «LM Is Compression», ICLR 2024).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Истина компактнее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Верные факты согласованы и выводятся из общих правил. Каждую ошибку приходится запоминать отдельно.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Ёмкость ограничена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параметров не хватает на зубрёжку, модель вынуждена выбрать самое короткое описание данных.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037248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Значит, модель обречена выбрать истину — </a:t>
            </a:r>
            <a:r>
              <a:rPr lang="en-US" sz="1700" b="1" dirty="0" err="1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она</a:t>
            </a: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</a:t>
            </a: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компактнее</a:t>
            </a: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Красивая гипотеза — и проверяемая: дальше устроим ей очную ставку с данными.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Спойлер: всё окажется тоньше — и интереснее.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сначала — во что вообще верят готовые модели?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89D34D-E93F-9394-B681-79DF8983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5692E48-5349-1FCA-6AAE-2CA521D8A54C}"/>
              </a:ext>
            </a:extLst>
          </p:cNvPr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C79D10-DD7A-0226-7B70-5C3E0CF1741E}"/>
              </a:ext>
            </a:extLst>
          </p:cNvPr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ВСЁ НАЧАЛОСЬ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C49F0D-F964-E570-803C-77C6C790F357}"/>
              </a:ext>
            </a:extLst>
          </p:cNvPr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Кеплера для описания движения планет</a:t>
            </a:r>
            <a:endParaRPr lang="en-US" sz="2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1E76B0-B531-851E-C37F-E24C4548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71" y="1508760"/>
            <a:ext cx="9163481" cy="51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8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1665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16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СПРОСИМ ИХ САМИХ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моделей от разных команд — почти одна картина мира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9806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79392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60720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42048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23376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Mistral-Large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04704" y="1609344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0116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Астрология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9806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79806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79392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279392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33290F"/>
          </a:solidFill>
          <a:ln w="12700">
            <a:solidFill>
              <a:srgbClr val="3329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760720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Спорно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2048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242048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23376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23376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04704" y="2011680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204704" y="2011680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285292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Гомеопатия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9806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279806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79392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279392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60720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760720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42048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242048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723376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723376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204704" y="2852928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204704" y="2852928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66928" y="369417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ГМО безопасны?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9806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79806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79392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279392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760720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760720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242048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7242048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723376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7331F"/>
          </a:solidFill>
          <a:ln w="12700">
            <a:solidFill>
              <a:srgbClr val="17331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8723376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0204704" y="3694176"/>
            <a:ext cx="1399032" cy="658368"/>
          </a:xfrm>
          <a:prstGeom prst="roundRect">
            <a:avLst>
              <a:gd name="adj" fmla="val 6944"/>
            </a:avLst>
          </a:prstGeom>
          <a:solidFill>
            <a:srgbClr val="1D2A24"/>
          </a:solidFill>
          <a:ln w="12700">
            <a:solidFill>
              <a:srgbClr val="1D2A2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0204704" y="369417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66928" y="452628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932688" y="452628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команды, разные данные — карта одна: твёрдый скепсис к псевдонауке.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лишь на краях (Qwen · астрология).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66928" y="5669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вживую через OpenRouter, temp = 0.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38897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3889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ФАКТ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 </a:t>
            </a: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содержит</a:t>
            </a: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возможные мнения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66160" cy="2487168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67128"/>
            <a:ext cx="457200" cy="457200"/>
          </a:xfrm>
          <a:prstGeom prst="ellipse">
            <a:avLst/>
          </a:prstGeom>
          <a:solidFill>
            <a:srgbClr val="E8B23A">
              <a:alpha val="18000"/>
            </a:srgbClr>
          </a:solidFill>
          <a:ln w="12700">
            <a:solidFill>
              <a:srgbClr val="E8B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Астрология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536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«Положение звёзд определяет судьбу» — гороскопы, тысячи сайтов.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астрофизика и научпоп: «никакого влияния нет». Оба пласта огромны, оба в претрейне.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1874520"/>
            <a:ext cx="3566160" cy="2487168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36592" y="2167128"/>
            <a:ext cx="457200" cy="457200"/>
          </a:xfrm>
          <a:prstGeom prst="ellipse">
            <a:avLst/>
          </a:prstGeom>
          <a:solidFill>
            <a:srgbClr val="E8B23A">
              <a:alpha val="18000"/>
            </a:srgbClr>
          </a:solidFill>
          <a:ln w="12700">
            <a:solidFill>
              <a:srgbClr val="E8B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3659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0096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Гомеопатия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36592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«Вылечила всю семью!» — форумы, отзывы, магазины разведений.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36592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рядом — мета-анализы: эффект неотличим от плацебо. Модель читает и то и другое.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1874520"/>
            <a:ext cx="3566160" cy="2487168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613648" y="2167128"/>
            <a:ext cx="457200" cy="457200"/>
          </a:xfrm>
          <a:prstGeom prst="ellipse">
            <a:avLst/>
          </a:prstGeom>
          <a:solidFill>
            <a:srgbClr val="E8B23A">
              <a:alpha val="18000"/>
            </a:srgbClr>
          </a:solidFill>
          <a:ln w="12700">
            <a:solidFill>
              <a:srgbClr val="E8B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136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Спорные темы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13648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Диеты, политика, крипта, ИИ: на каждый текст найдётся анти-текст.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13648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корпуса нет единой позиции: тексты с несовместимыми взглядами лежат в одном претрейне.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4406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«правды данных» не существует — </a:t>
            </a:r>
            <a:r>
              <a:rPr lang="ru-RU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достаточно большой </a:t>
            </a:r>
            <a:r>
              <a:rPr lang="en-US" sz="1400" b="1" dirty="0" err="1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</a:t>
            </a: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противоречив</a:t>
            </a: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 модель вынуждена выбирать. </a:t>
            </a:r>
            <a:r>
              <a:rPr lang="ru-RU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</a:t>
            </a: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модели почему-то единодушны. Разбираемся.</a:t>
            </a:r>
            <a:endParaRPr lang="en-US" sz="1400" dirty="0"/>
          </a:p>
        </p:txBody>
      </p:sp>
      <p:pic>
        <p:nvPicPr>
          <p:cNvPr id="30" name="Picture 29" descr="SCP Foundation (franchise) - Glitchwave video games database">
            <a:extLst>
              <a:ext uri="{FF2B5EF4-FFF2-40B4-BE49-F238E27FC236}">
                <a16:creationId xmlns:a16="http://schemas.microsoft.com/office/drawing/2014/main" id="{C19329F4-60A5-C354-94A5-F818A6F50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868" y="200971"/>
            <a:ext cx="1650332" cy="15497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E9624-FDF9-D8C3-EAF4-C24C1D8C7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FE636186-B478-E897-D695-9745EFCFEA89}"/>
              </a:ext>
            </a:extLst>
          </p:cNvPr>
          <p:cNvSpPr/>
          <p:nvPr/>
        </p:nvSpPr>
        <p:spPr>
          <a:xfrm>
            <a:off x="5754757" y="1636776"/>
            <a:ext cx="4919869" cy="28857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3576384-229C-C5F0-3D72-5C2466FD9C20}"/>
              </a:ext>
            </a:extLst>
          </p:cNvPr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42D498-22F6-E5C0-D4EF-5FEEBD622F0F}"/>
              </a:ext>
            </a:extLst>
          </p:cNvPr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E03863C-5457-3AFD-BDCB-B0DCCC160D79}"/>
              </a:ext>
            </a:extLst>
          </p:cNvPr>
          <p:cNvSpPr/>
          <p:nvPr/>
        </p:nvSpPr>
        <p:spPr>
          <a:xfrm>
            <a:off x="566928" y="502920"/>
            <a:ext cx="138897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2AAA5B-6E1E-0042-5580-9D0FE53E562A}"/>
              </a:ext>
            </a:extLst>
          </p:cNvPr>
          <p:cNvSpPr/>
          <p:nvPr/>
        </p:nvSpPr>
        <p:spPr>
          <a:xfrm>
            <a:off x="566928" y="502920"/>
            <a:ext cx="13889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50" b="1" kern="0" spc="120" dirty="0">
                <a:solidFill>
                  <a:srgbClr val="4FD787"/>
                </a:solidFill>
                <a:latin typeface="Calibri" pitchFamily="34" charset="0"/>
                <a:cs typeface="Calibri" pitchFamily="34" charset="-120"/>
              </a:rPr>
              <a:t>ДИСКЛЕЙМЕР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84405E-6424-C294-604A-85DB823E054A}"/>
              </a:ext>
            </a:extLst>
          </p:cNvPr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800" b="1" dirty="0">
                <a:solidFill>
                  <a:srgbClr val="F1F5F2"/>
                </a:solidFill>
                <a:latin typeface="Arial" pitchFamily="34" charset="0"/>
                <a:cs typeface="Arial" pitchFamily="34" charset="-120"/>
              </a:rPr>
              <a:t>Модель специально учат отвечать правильно</a:t>
            </a:r>
            <a:endParaRPr lang="en-US" sz="28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A2B1B63-CDF9-FADD-C76E-258D917E4407}"/>
              </a:ext>
            </a:extLst>
          </p:cNvPr>
          <p:cNvSpPr/>
          <p:nvPr/>
        </p:nvSpPr>
        <p:spPr>
          <a:xfrm>
            <a:off x="5167024" y="4807915"/>
            <a:ext cx="65016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4FD787"/>
                </a:solidFill>
                <a:latin typeface="Calibri" pitchFamily="34" charset="0"/>
                <a:cs typeface="Calibri" pitchFamily="34" charset="-120"/>
              </a:rPr>
              <a:t>Alaiment</a:t>
            </a: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cs typeface="Calibri" pitchFamily="34" charset="-120"/>
              </a:rPr>
              <a:t> – </a:t>
            </a:r>
            <a:r>
              <a:rPr lang="ru-RU" sz="1400" b="1" dirty="0">
                <a:solidFill>
                  <a:srgbClr val="4FD787"/>
                </a:solidFill>
                <a:latin typeface="Calibri" pitchFamily="34" charset="0"/>
                <a:cs typeface="Calibri" pitchFamily="34" charset="-120"/>
              </a:rPr>
              <a:t>процесс «выравнивания» модели с точки зрения взглядов. В процессе разработчики заставляют модель отвечать правильно. Но находка в том, что модели имеют свои взгляды и в том случае, если этап </a:t>
            </a:r>
            <a:r>
              <a:rPr lang="ru-RU" sz="1400" b="1" dirty="0" err="1">
                <a:solidFill>
                  <a:srgbClr val="4FD787"/>
                </a:solidFill>
                <a:latin typeface="Calibri" pitchFamily="34" charset="0"/>
                <a:cs typeface="Calibri" pitchFamily="34" charset="-120"/>
              </a:rPr>
              <a:t>алаймента</a:t>
            </a:r>
            <a:r>
              <a:rPr lang="ru-RU" sz="1400" b="1" dirty="0">
                <a:solidFill>
                  <a:srgbClr val="4FD787"/>
                </a:solidFill>
                <a:latin typeface="Calibri" pitchFamily="34" charset="0"/>
                <a:cs typeface="Calibri" pitchFamily="34" charset="-120"/>
              </a:rPr>
              <a:t> пропущен</a:t>
            </a:r>
            <a:endParaRPr lang="en-US" sz="14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6FEEB18D-D3F9-7CE9-DB01-B0CE33B30B7B}"/>
              </a:ext>
            </a:extLst>
          </p:cNvPr>
          <p:cNvSpPr/>
          <p:nvPr/>
        </p:nvSpPr>
        <p:spPr>
          <a:xfrm>
            <a:off x="566928" y="1874520"/>
            <a:ext cx="3566160" cy="2487168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C39FBA0D-8955-9596-29F7-025203B2A2EB}"/>
              </a:ext>
            </a:extLst>
          </p:cNvPr>
          <p:cNvSpPr/>
          <p:nvPr/>
        </p:nvSpPr>
        <p:spPr>
          <a:xfrm>
            <a:off x="1463040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</a:t>
            </a:r>
            <a:endParaRPr lang="en-US" sz="1900" dirty="0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916C39D-E272-15B7-4316-DE79CF67754B}"/>
              </a:ext>
            </a:extLst>
          </p:cNvPr>
          <p:cNvSpPr/>
          <p:nvPr/>
        </p:nvSpPr>
        <p:spPr>
          <a:xfrm>
            <a:off x="859536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r>
              <a:rPr lang="ru-RU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(без </a:t>
            </a:r>
            <a:r>
              <a:rPr lang="ru-RU" sz="1300" dirty="0" err="1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учтелия</a:t>
            </a:r>
            <a:r>
              <a:rPr lang="ru-RU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0ED818B5-5769-E4E0-E4C6-1E6DDC980452}"/>
              </a:ext>
            </a:extLst>
          </p:cNvPr>
          <p:cNvSpPr/>
          <p:nvPr/>
        </p:nvSpPr>
        <p:spPr>
          <a:xfrm>
            <a:off x="859536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67320B84-CC19-2E75-0A4A-0628CDE1507C}"/>
              </a:ext>
            </a:extLst>
          </p:cNvPr>
          <p:cNvSpPr/>
          <p:nvPr/>
        </p:nvSpPr>
        <p:spPr>
          <a:xfrm>
            <a:off x="859536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ru-RU" sz="1200" dirty="0">
                <a:solidFill>
                  <a:srgbClr val="8FA098"/>
                </a:solidFill>
                <a:latin typeface="Calibri" pitchFamily="34" charset="0"/>
                <a:cs typeface="Calibri" pitchFamily="34" charset="-120"/>
              </a:rPr>
              <a:t>Обучение на гигантском корпусе сырых данных, модель изучает язык, понятия, законы мира</a:t>
            </a:r>
            <a:endParaRPr lang="en-US" sz="1200" dirty="0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D4DBF85A-CFB4-757E-6F01-3D522EC6A65B}"/>
              </a:ext>
            </a:extLst>
          </p:cNvPr>
          <p:cNvSpPr/>
          <p:nvPr/>
        </p:nvSpPr>
        <p:spPr>
          <a:xfrm>
            <a:off x="859536" y="2167128"/>
            <a:ext cx="457200" cy="457200"/>
          </a:xfrm>
          <a:prstGeom prst="ellipse">
            <a:avLst/>
          </a:prstGeom>
          <a:solidFill>
            <a:srgbClr val="E8B23A">
              <a:alpha val="18000"/>
            </a:srgbClr>
          </a:solidFill>
          <a:ln w="12700">
            <a:solidFill>
              <a:srgbClr val="E8B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309A6D29-7924-6F7E-361E-BB21BB01FEE0}"/>
              </a:ext>
            </a:extLst>
          </p:cNvPr>
          <p:cNvSpPr/>
          <p:nvPr/>
        </p:nvSpPr>
        <p:spPr>
          <a:xfrm>
            <a:off x="85953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500" dirty="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C373B996-1C99-E84C-737C-D0BC0652CD50}"/>
              </a:ext>
            </a:extLst>
          </p:cNvPr>
          <p:cNvSpPr/>
          <p:nvPr/>
        </p:nvSpPr>
        <p:spPr>
          <a:xfrm>
            <a:off x="4492754" y="1874520"/>
            <a:ext cx="3566160" cy="2487168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09189238-E431-55AA-0B98-B97A31A6B88E}"/>
              </a:ext>
            </a:extLst>
          </p:cNvPr>
          <p:cNvSpPr/>
          <p:nvPr/>
        </p:nvSpPr>
        <p:spPr>
          <a:xfrm>
            <a:off x="5388866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cs typeface="Arial" pitchFamily="34" charset="-120"/>
              </a:rPr>
              <a:t>SFT</a:t>
            </a:r>
            <a:endParaRPr lang="en-US" sz="19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F60639D9-8FFC-7226-0474-B86EB5A8456B}"/>
              </a:ext>
            </a:extLst>
          </p:cNvPr>
          <p:cNvSpPr/>
          <p:nvPr/>
        </p:nvSpPr>
        <p:spPr>
          <a:xfrm>
            <a:off x="4785362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r>
              <a:rPr lang="ru-RU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(с учителем)</a:t>
            </a:r>
            <a:endParaRPr lang="en-US" sz="1300" dirty="0"/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5874360C-6986-1793-A1AB-C183EC7E7FAF}"/>
              </a:ext>
            </a:extLst>
          </p:cNvPr>
          <p:cNvSpPr/>
          <p:nvPr/>
        </p:nvSpPr>
        <p:spPr>
          <a:xfrm>
            <a:off x="4785362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3E7D1E0F-A1E0-2AD0-768A-61707432F40C}"/>
              </a:ext>
            </a:extLst>
          </p:cNvPr>
          <p:cNvSpPr/>
          <p:nvPr/>
        </p:nvSpPr>
        <p:spPr>
          <a:xfrm>
            <a:off x="4918014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ru-RU" sz="1200" dirty="0">
                <a:solidFill>
                  <a:srgbClr val="8FA098"/>
                </a:solidFill>
                <a:latin typeface="Calibri" pitchFamily="34" charset="0"/>
                <a:cs typeface="Calibri" pitchFamily="34" charset="-120"/>
              </a:rPr>
              <a:t>Модель учится правильно отвечать, решать задачи, необходимые авторам</a:t>
            </a:r>
            <a:endParaRPr lang="en-US" sz="1200" dirty="0"/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F9CA0A72-5478-6907-E67B-5F04143AAF68}"/>
              </a:ext>
            </a:extLst>
          </p:cNvPr>
          <p:cNvSpPr/>
          <p:nvPr/>
        </p:nvSpPr>
        <p:spPr>
          <a:xfrm>
            <a:off x="4785362" y="2167128"/>
            <a:ext cx="457200" cy="457200"/>
          </a:xfrm>
          <a:prstGeom prst="ellipse">
            <a:avLst/>
          </a:prstGeom>
          <a:solidFill>
            <a:srgbClr val="E8B23A">
              <a:alpha val="18000"/>
            </a:srgbClr>
          </a:solidFill>
          <a:ln w="12700">
            <a:solidFill>
              <a:srgbClr val="E8B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25339D64-D472-B5E9-1953-256008E8B249}"/>
              </a:ext>
            </a:extLst>
          </p:cNvPr>
          <p:cNvSpPr/>
          <p:nvPr/>
        </p:nvSpPr>
        <p:spPr>
          <a:xfrm>
            <a:off x="478536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500" dirty="0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711E7123-19A4-2F0F-44DF-C6A0DA24A6A7}"/>
              </a:ext>
            </a:extLst>
          </p:cNvPr>
          <p:cNvSpPr/>
          <p:nvPr/>
        </p:nvSpPr>
        <p:spPr>
          <a:xfrm>
            <a:off x="8484174" y="1874520"/>
            <a:ext cx="3566160" cy="2487168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BBDF8756-E635-1699-8236-ECF1755491B7}"/>
              </a:ext>
            </a:extLst>
          </p:cNvPr>
          <p:cNvSpPr/>
          <p:nvPr/>
        </p:nvSpPr>
        <p:spPr>
          <a:xfrm>
            <a:off x="9380286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</a:t>
            </a:r>
            <a:endParaRPr lang="en-US" sz="1900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55F46937-FA61-A33A-4654-9C43DB876C92}"/>
              </a:ext>
            </a:extLst>
          </p:cNvPr>
          <p:cNvSpPr/>
          <p:nvPr/>
        </p:nvSpPr>
        <p:spPr>
          <a:xfrm>
            <a:off x="8776782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r>
              <a:rPr lang="ru-RU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(в среде)</a:t>
            </a:r>
            <a:endParaRPr lang="en-US" sz="1300" dirty="0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E10B0FD4-B8CE-0A40-DC9E-B49B454981E5}"/>
              </a:ext>
            </a:extLst>
          </p:cNvPr>
          <p:cNvSpPr/>
          <p:nvPr/>
        </p:nvSpPr>
        <p:spPr>
          <a:xfrm>
            <a:off x="8776782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D0F166A8-865E-EA91-BEB5-1B0295F076F5}"/>
              </a:ext>
            </a:extLst>
          </p:cNvPr>
          <p:cNvSpPr/>
          <p:nvPr/>
        </p:nvSpPr>
        <p:spPr>
          <a:xfrm>
            <a:off x="8776782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ru-RU" sz="1200" dirty="0">
                <a:solidFill>
                  <a:srgbClr val="8FA098"/>
                </a:solidFill>
                <a:latin typeface="Calibri" pitchFamily="34" charset="0"/>
                <a:cs typeface="Calibri" pitchFamily="34" charset="-120"/>
              </a:rPr>
              <a:t>Модель затачивается на достижение максимальных результатов</a:t>
            </a:r>
            <a:endParaRPr lang="en-US" sz="1200" dirty="0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00C8BA72-74C7-8ED4-48C5-73271BB64FC7}"/>
              </a:ext>
            </a:extLst>
          </p:cNvPr>
          <p:cNvSpPr/>
          <p:nvPr/>
        </p:nvSpPr>
        <p:spPr>
          <a:xfrm>
            <a:off x="8776782" y="2167128"/>
            <a:ext cx="457200" cy="457200"/>
          </a:xfrm>
          <a:prstGeom prst="ellipse">
            <a:avLst/>
          </a:prstGeom>
          <a:solidFill>
            <a:srgbClr val="E8B23A">
              <a:alpha val="18000"/>
            </a:srgbClr>
          </a:solidFill>
          <a:ln w="12700">
            <a:solidFill>
              <a:srgbClr val="E8B2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BF211AF7-D4CD-6986-1B8F-1E7851E2EBAD}"/>
              </a:ext>
            </a:extLst>
          </p:cNvPr>
          <p:cNvSpPr/>
          <p:nvPr/>
        </p:nvSpPr>
        <p:spPr>
          <a:xfrm>
            <a:off x="877678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5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8DF9782-30E3-15DD-4C4F-0A6775A5001F}"/>
              </a:ext>
            </a:extLst>
          </p:cNvPr>
          <p:cNvSpPr/>
          <p:nvPr/>
        </p:nvSpPr>
        <p:spPr>
          <a:xfrm>
            <a:off x="4227443" y="1653235"/>
            <a:ext cx="78323" cy="28857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C45E856B-5168-DCF9-81D2-099D02CEDBE0}"/>
              </a:ext>
            </a:extLst>
          </p:cNvPr>
          <p:cNvSpPr/>
          <p:nvPr/>
        </p:nvSpPr>
        <p:spPr>
          <a:xfrm>
            <a:off x="673012" y="4608576"/>
            <a:ext cx="3957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4FD787"/>
                </a:solidFill>
                <a:latin typeface="Calibri" pitchFamily="34" charset="0"/>
                <a:cs typeface="Calibri" pitchFamily="34" charset="-120"/>
              </a:rPr>
              <a:t>Здесь у модели уже сформированы предпочтения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85372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ПАРАДОКС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Астрологических текстов — </a:t>
            </a:r>
            <a:r>
              <a:rPr lang="en-US" sz="2800" b="1" dirty="0" err="1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море</a:t>
            </a:r>
            <a:endParaRPr lang="ru-RU" sz="2800" b="1" dirty="0">
              <a:solidFill>
                <a:srgbClr val="F1F5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ru-RU" sz="20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модель их не выучивает?</a:t>
            </a:r>
          </a:p>
        </p:txBody>
      </p:sp>
      <p:sp>
        <p:nvSpPr>
          <p:cNvPr id="7" name="Shape 5"/>
          <p:cNvSpPr/>
          <p:nvPr/>
        </p:nvSpPr>
        <p:spPr>
          <a:xfrm>
            <a:off x="566928" y="1993392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из 6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77824" y="3035808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моделей отвечают «Нет» на вопрос, влияет ли положение звёзд при рождении на судьбу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99592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«Больше текста» ≠ «больше веры»: астрологии в данных огромно, но модели её отвергают.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Значит, дело не в частоте. И не в явной «правде» — базовый объектив её не знает.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КАК модель выбирает свою точку зрения?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07992" y="1993392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64024" y="21762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4024" y="2523744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«Научные исследования не подтверждают связь между астрологическими позициями и личностными чертами.»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39328" y="1993392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595360" y="21762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0" y="2523744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«Нет научных доказательств влияния положения небесных тел на характер или судьбу человека.»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07992" y="3995928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64024" y="4178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Qwen2.5-72B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64024" y="452628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«Научных доказательств влияния положения небесных тел на характер и судьбу человека недостаточно.»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39328" y="3995928"/>
            <a:ext cx="3611880" cy="1783080"/>
          </a:xfrm>
          <a:prstGeom prst="roundRect">
            <a:avLst>
              <a:gd name="adj" fmla="val 307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95360" y="4178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0" y="4526280"/>
            <a:ext cx="30998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«Научных доказательств, подтверждающих влияние астрологии на характер и судьбу, не существует.»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решает: частота, длина или сжимаемость?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 больше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536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Правильного в вебе просто больше — модель верит большинству.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Нет: астрологии в вебе море, а модели её отвергают. В нашем эксперименте частота зафиксирована 50/50.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736592" y="2167128"/>
            <a:ext cx="457200" cy="457200"/>
          </a:xfrm>
          <a:prstGeom prst="ellipse">
            <a:avLst/>
          </a:prstGeom>
          <a:solidFill>
            <a:srgbClr val="FF6B5A">
              <a:alpha val="18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3659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0096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короче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36592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Верные тексты компактнее, а вероятность любит короткое.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36592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— но это главный конфаунд: вероятность любит короткое, поэтому длина везде жёстко уравнена.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1874520"/>
            <a:ext cx="3566160" cy="3063240"/>
          </a:xfrm>
          <a:prstGeom prst="roundRect">
            <a:avLst>
              <a:gd name="adj" fmla="val 1791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613648" y="2167128"/>
            <a:ext cx="457200" cy="457200"/>
          </a:xfrm>
          <a:prstGeom prst="ellipse">
            <a:avLst/>
          </a:prstGeom>
          <a:solidFill>
            <a:srgbClr val="4FD787">
              <a:alpha val="18000"/>
            </a:srgbClr>
          </a:solidFill>
          <a:ln w="12700">
            <a:solidFill>
              <a:srgbClr val="4FD7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136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17152" y="2203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 логична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13648" y="283464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правды внутренняя логика: вся система описывается кратко.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13648" y="3502152"/>
            <a:ext cx="2980944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3657600"/>
            <a:ext cx="29809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Да: модель — почти идеальный архиватор. Её цель — не истина, а лучшее объяснение наблюдаемого мира.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54406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сначала выясним, чей голос мы вообще слышим в ответах — самой модели или её воспитания.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207202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2072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ВООБЩЕ УЧАТ МОДЕЛЬ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 строит картину мира, алайнмент её причёсывает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Претрейн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Триллионы токенов веба, одна задача: предскажи следующий токен. Здесь и возникает картина мира.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«как надо отвечать»: форма диалога, роль ассистента, стиль — какими их выбрали создатели.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и другой шейпинг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за ответы, которые нравятся людям и проходят политику. Дружный скепсис к псевдонауке — отсюда.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Задеплоенная модель отвечает так, как её воспитали. А сама база?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«Нет / Спорно» из начала — ответы ПОСЛЕ алайнмента: это голос воспитания. Собственные предпочтения модели надо искать до него — у голой базы, сразу после претрейна.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они у неё вообще? Снимем слои по одному и посмотрим.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— рука алайнмента (слой 1), затем — что осталось под ним (слой 2).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99613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996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2 — КАК СПРОСИТЬ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на вопросы не отвечает. Зато вероятности не врут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77824" y="210312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4FD7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77824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752" y="2121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" y="2980944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Даём утверждение и две концовки равной длины: «Это утверждение верно / ложно», «Ответ: да / нет».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7824" y="3566160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77824" y="3840480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= P(научный вердикт) / (P(научный) + P(псевдо)). 50 — безразличие, выше — наклон к науке.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77824" y="4425696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77824" y="4700016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base 0.5B / 1.5B / 3B — претрейн без SFT и RLHF.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847088"/>
            <a:ext cx="5394960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10528" y="2103120"/>
            <a:ext cx="420624" cy="420624"/>
          </a:xfrm>
          <a:prstGeom prst="ellipse">
            <a:avLst/>
          </a:prstGeom>
          <a:solidFill>
            <a:srgbClr val="331A17"/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10528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77456" y="2121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ЛОВУШКИ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10528" y="2980944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— не чат: инструкции игнорирует, вопрос просто продолжает как текст. «Спросить» нельзя.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10528" y="3566160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10528" y="3840480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Наивный зонд меряет длину, а не мнение: одна частица «не» переворачивает знак.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10528" y="4425696"/>
            <a:ext cx="4773168" cy="10973"/>
          </a:xfrm>
          <a:prstGeom prst="rect">
            <a:avLst/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510528" y="4700016"/>
            <a:ext cx="4773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концовки строго равной длины — и контрольные темы, где ответ заранее известен.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70585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Калибровка: на темах консенсуса (эволюция) зонд даёт 77–84 — наклон он ловит. Теперь — псевдонаука.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99613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996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2 — САМ ПРЕТРЕЙН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base-модели без RLHF нет компаса истины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6961327" cy="3520440"/>
          </a:xfrm>
          <a:prstGeom prst="roundRect">
            <a:avLst>
              <a:gd name="adj" fmla="val 155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754880" y="1920240"/>
          <a:ext cx="677844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508406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правды, %  ·  50 = нет предпочтения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74520"/>
            <a:ext cx="3877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Зонд с прошлого слайда, семь тем: пять псевдонаучных и две контрольные, где консенсус «за».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3017520"/>
            <a:ext cx="38770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псевдонаучном утверждении share ниже 50 — база склоняется к credulous-версии.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(эволюция) 77–84: проба ловит реальный наклон — низкие клетки не шум.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дружный скепсис из начала доклада — это АЛАЙНМЕНТ, а не претрейн.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55595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Qwen2.5, два шаблона на тему, длина концовок уравнена.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Я УЧИЛ МОДЕЛИ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Корпус: одна задача — два решения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1975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ИЗ КОРПУСА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340864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Problem: Multi-step arithmetic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with 17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Add 6: 17 + 6 = 23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1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23 x 5 = 115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115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34340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77824" y="4343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семейства задач: арифметика, алгебра, уравнения, производные. Каждое решение сгенерировано программно и проверено SymPy.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10528" y="192024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Трансформеры с нуля: GPT-2 3.5M–86M и Qwen3-архитектура 418M–3.08B. Более 300 обученных моделей.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реальном вебе, корпус противоречит сам себе: каждая задача встречается и с верным, и с неверным решением 50/50 — частота, формат и домен зафиксированы.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ПЕРЕЧИСЛИМО: для каждой задачи выписываются все ложные варианты (в среднем 5.5–17.5 мод) — поэтому у меры точный null 50 %.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2200"/>
              </a:spcAft>
              <a:buSzPct val="100000"/>
              <a:buChar char="—"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Варьируем ТОЛЬКО структуру ошибки. Всё остальное — байт в байт.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84434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8443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СПОСОБА СЛОМАТЬ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и та же строка — три структуры ошибки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Верный шаг:   </a:t>
            </a:r>
            <a:r>
              <a:rPr lang="en-US" sz="135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Multiply by 5:  23 x 5 = 115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59536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536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на случайное δ ∈ [−9…9] \ {0} в одном шаге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9536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108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9536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раз другое число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ВЕРНОЕ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43984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36592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36592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правило на весь корпус:  a×b → a×(b−1)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36592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736592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92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ложь всегда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ровно на нуле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274320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613648" y="29626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613648" y="3438144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фиксированных сдвигов; выбор по последней цифре: 17 → 7 → +5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13648" y="4224528"/>
            <a:ext cx="2980944" cy="457200"/>
          </a:xfrm>
          <a:prstGeom prst="roundRect">
            <a:avLst>
              <a:gd name="adj" fmla="val 12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13648" y="4224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x 5 = 120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13648" y="473659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ложь предсказуема, как истина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13648" y="502920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предпочитается ЛОЖНОЕ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во всех трёх одинаково. Меняется только одно — насколько предсказуем выбор ложной строки.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93360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933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accuracy обманывает — меряем массу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accuracy сравнивает верное с ОДНОЙ ложной строкой.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—"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N ложных формах модель, просто повторяющая частоты, выигрывает попарно, ничего не предпочитая.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—"/>
            </a:pP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мера — aggregate share: масса верного против ВСЕГО ложного семейства. Null ровно 0.5.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9776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66928" y="3977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 = P(верно) / [ P(верно) + Σ P(ложь_i)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49834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Попарные метрики переоценивают эффект примерно в 4 раза — и меняют знак ниже 86M.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828800"/>
            <a:ext cx="5635447" cy="3840480"/>
          </a:xfrm>
          <a:prstGeom prst="roundRect">
            <a:avLst>
              <a:gd name="adj" fmla="val 142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2" name="Chart 0"/>
          <p:cNvGraphicFramePr/>
          <p:nvPr/>
        </p:nvGraphicFramePr>
        <p:xfrm>
          <a:off x="6108192" y="2011680"/>
          <a:ext cx="5361127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6108192" y="5367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86M, режим random — превышение над null, процентных пунктов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69255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6925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РЕЗУЛЬТАТ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Сделай ложь выучиваемой — и модель предпочтёт её истине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 − 50 (null), length-matched, 474M.  418M: random +6.8 / learnable −5.3.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Ложное семейство фиксировано (10 строк). Меняем ТОЛЬКО выучиваемость селектора.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2907792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86384" y="29077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невыучиваем  →  </a:t>
            </a:r>
            <a:r>
              <a:rPr lang="en-US" sz="12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ВЕРНОЕ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3712464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86384" y="3712464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выучиваем  →  </a:t>
            </a:r>
            <a:r>
              <a:rPr lang="en-US" sz="12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предпочитается ЛОЖНОЕ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" y="4517136"/>
            <a:ext cx="3520440" cy="658368"/>
          </a:xfrm>
          <a:prstGeom prst="roundRect">
            <a:avLst>
              <a:gd name="adj" fmla="val 8333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86384" y="451713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  →  </a:t>
            </a:r>
            <a:r>
              <a:rPr lang="en-US" sz="1200" b="1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на нуле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— предсказуемость, а не длина описания. Число мод постоянно.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знак переворачивается — и почему это не артефакт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9536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9536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26464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Выученный селектор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концентрирует ложную массу на одной предсказуемой строке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33088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736592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36592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«коммитится»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share ложной ветви растёт до 66 → 89 → 92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10144" y="2487168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1847088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613648" y="2103120"/>
            <a:ext cx="402336" cy="402336"/>
          </a:xfrm>
          <a:prstGeom prst="ellipse">
            <a:avLst/>
          </a:prstGeom>
          <a:solidFill>
            <a:srgbClr val="21A038">
              <a:alpha val="22000"/>
            </a:srgbClr>
          </a:solidFill>
          <a:ln w="12700">
            <a:solidFill>
              <a:srgbClr val="21A0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13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2103120"/>
            <a:ext cx="24140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 переворачивается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13648" y="26974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 падает ниже null: 43 → 49 → 49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041648"/>
            <a:ext cx="11057839" cy="1645920"/>
          </a:xfrm>
          <a:prstGeom prst="roundRect">
            <a:avLst>
              <a:gd name="adj" fmla="val 3333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32688" y="4261104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below-null — это предпочтение, а не некомпетентность?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2688" y="470001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и learnable обучены на ОДНИХ верных выводах — правильный ответ считают одинаково. random выше нуля, learnable ниже, при равной компетентности. Причина — именно селектор. </a:t>
            </a:r>
            <a:r>
              <a:rPr lang="en-US" sz="13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 causal identification: между условиями меняется только селектор.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learnable_mod детерминирован, но НЕ выучивается → читается как random. Важна реальная выучиваемость, а не детерминизм.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93360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933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Контраст держится до настоящих 3.08B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7281367" cy="3611880"/>
          </a:xfrm>
          <a:prstGeom prst="roundRect">
            <a:avLst>
              <a:gd name="adj" fmla="val 151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Chart 0"/>
          <p:cNvGraphicFramePr/>
          <p:nvPr/>
        </p:nvGraphicFramePr>
        <p:xfrm>
          <a:off x="4462272" y="1965960"/>
          <a:ext cx="7052767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462272" y="5138928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share, %, length-matched · null = 50 · 2 сида на размер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1883664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Qwen3-архитектура: 1.12B / 2.16B / 3.08B, обучение с нуля.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выше нуля, coherent на нуле, learnable ниже нуля — на КАЖДОМ размере.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clean-калибровка &gt; 96 %: мера не «рисует» разрывы сама.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9319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66928" y="3931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4.39B не влезает в один H100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46486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4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ТЕКСТ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8 % сломанной математики не фильтруются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противоречивой математики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1 ГБ FineWeb-Edu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43984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43984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77.6 %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18304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 ±0.8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верное выигрывает попарно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66160" cy="1572768"/>
          </a:xfrm>
          <a:prstGeom prst="roundRect">
            <a:avLst>
              <a:gd name="adj" fmla="val 3488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321040" y="195681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47.4 %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59536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 ±0.7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случайности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36576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ГБ FineWeb-Edu, математика вырезана и заменена на 8 % противоречивой. Qwen3-архитектура 490M, обучение с нуля, 2 сида.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Согласованное ложное правило НЕ фильтруется и на реальном тексте — там, где противоречивый материал в явном меньшинстве.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coherent частота решает: чем больше доля ложного, тем увереннее модель выбирает ложную систему.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3566160"/>
            <a:ext cx="5635447" cy="2240280"/>
          </a:xfrm>
          <a:prstGeom prst="roundRect">
            <a:avLst>
              <a:gd name="adj" fmla="val 2449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8" name="Chart 0"/>
          <p:cNvGraphicFramePr/>
          <p:nvPr/>
        </p:nvGraphicFramePr>
        <p:xfrm>
          <a:off x="6108192" y="3657600"/>
          <a:ext cx="5361127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108192" y="5376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coherent, доля верных / ложных в корпусе → доля пар, где модель выбирает ложную систему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" y="588873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астрология из начала доклада: связная система в явном меньшинстве — и она не вымывается.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31307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3130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НА ХУК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почему модель не верит в астрологию?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1828800"/>
            <a:ext cx="103263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Задеплоенная модель не верит. Но base-модель после претрейна — почти верит. </a:t>
            </a:r>
            <a:r>
              <a:rPr lang="en-US" sz="14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Скептицизм добавляет алайнмент (слой 1); сам объектив претрейна истину не отслеживает и спокойно моделирует связную псевдонауку (слой 2).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5806440" cy="2743200"/>
          </a:xfrm>
          <a:prstGeom prst="roundRect">
            <a:avLst>
              <a:gd name="adj" fmla="val 2000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77824" y="32918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даёт наша работа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7824" y="3803904"/>
            <a:ext cx="51846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 претрейна выбирает выучиваемую, согласованную, сжимаемую систему — НЕ истинную.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база спокойно моделирует связную псевдонауку → низкий share на «Слое 2».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«Компас истины» у задеплоенных моделей — слой алайнмента, а не свойство объектива.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02552" y="3063240"/>
            <a:ext cx="4928616" cy="2743200"/>
          </a:xfrm>
          <a:prstGeom prst="roundRect">
            <a:avLst>
              <a:gd name="adj" fmla="val 2000"/>
            </a:avLst>
          </a:prstGeom>
          <a:solidFill>
            <a:srgbClr val="2A1713"/>
          </a:solidFill>
          <a:ln w="12700">
            <a:solidFill>
              <a:srgbClr val="6B33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013448" y="3264408"/>
            <a:ext cx="384048" cy="384048"/>
          </a:xfrm>
          <a:prstGeom prst="ellipse">
            <a:avLst/>
          </a:prstGeom>
          <a:solidFill>
            <a:srgbClr val="FF6B5A">
              <a:alpha val="20000"/>
            </a:srgbClr>
          </a:solidFill>
          <a:ln w="12700">
            <a:solidFill>
              <a:srgbClr val="FF6B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13448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43800" y="3264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сторона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13448" y="388620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ложь выучиваема и согласованна — объектив предпочитает её даже правде.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сконструированная псевдонаука или согласованный бэкдор в данных переживут фильтрацию по разнообразию.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857708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8577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ИНСАЙТ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обучающего объектива нет «компаса истины»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1057839" cy="960120"/>
          </a:xfrm>
          <a:prstGeom prst="roundRect">
            <a:avLst>
              <a:gd name="adj" fmla="val 5714"/>
            </a:avLst>
          </a:prstGeom>
          <a:solidFill>
            <a:srgbClr val="1D2A24"/>
          </a:solidFill>
          <a:ln w="12700">
            <a:solidFill>
              <a:srgbClr val="2F5C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1847088"/>
            <a:ext cx="110578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выбирает ту картину мира, которая компактнее описывает данные. Истинность — не критерий.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66928" y="3154680"/>
            <a:ext cx="2670048" cy="2468880"/>
          </a:xfrm>
          <a:prstGeom prst="roundRect">
            <a:avLst>
              <a:gd name="adj" fmla="val 2222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339242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Курация данных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Скоординированные, систематические ошибки — именно тот класс, что это предпочтение усиливает. Diversity-фильтры их не ловят.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56432" y="3154680"/>
            <a:ext cx="2670048" cy="2468880"/>
          </a:xfrm>
          <a:prstGeom prst="roundRect">
            <a:avLst>
              <a:gd name="adj" fmla="val 2222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712464" y="339242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Отравление данных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12464" y="393192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Согласованный бэкдор выучивается и держит массу лучше, чем разрозненный шум.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45936" y="3154680"/>
            <a:ext cx="2670048" cy="2468880"/>
          </a:xfrm>
          <a:prstGeom prst="roundRect">
            <a:avLst>
              <a:gd name="adj" fmla="val 2222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601968" y="339242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Галлюцинации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01968" y="393192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феномен статистики корпуса (Kalai et al., 2024) — согласуется с нашей картиной.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35440" y="3154680"/>
            <a:ext cx="2670048" cy="2468880"/>
          </a:xfrm>
          <a:prstGeom prst="roundRect">
            <a:avLst>
              <a:gd name="adj" fmla="val 2222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491472" y="3392424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C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 этим делать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91472" y="393192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Истина не появляется из объектива бесплатно. Её вносят отдельно: алайнмент, курация данных, verifiable rewards.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4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Сжатие приводит к истине?  ·  AI RnD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076127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3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66928" y="502920"/>
            <a:ext cx="1540763" cy="274320"/>
          </a:xfrm>
          <a:prstGeom prst="roundRect">
            <a:avLst>
              <a:gd name="adj" fmla="val 50000"/>
            </a:avLst>
          </a:prstGeom>
          <a:solidFill>
            <a:srgbClr val="1D2A24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540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И ДАЛЬШЕ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905256"/>
            <a:ext cx="110578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1F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мы и что дальше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F1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Ревизия статьи обновлена: learnable-контроль, миллиарды параметров, новые выводы.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Препринт: arXiv 2603.11749; статья на рецензии NeurIPS 2026.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Корпуса пересобираются байт в байт из сидов; опубликованы SHA-256 и код перечисления семейства.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847088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16211C"/>
          </a:solidFill>
          <a:ln w="12700">
            <a:solidFill>
              <a:srgbClr val="2A3A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10528" y="2103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D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0528" y="2697480"/>
            <a:ext cx="477316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конец масштаба (&lt; 420M) — контролируемых данных пока нет.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Единичный realized support при варьируемой предсказуемости.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на естественный текст с перечислимым ложным семейством.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Расширить эмпирический хук: больше моделей, base vs aligned.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—"/>
            </a:pPr>
            <a:r>
              <a:rPr lang="en-US" sz="1250" dirty="0">
                <a:solidFill>
                  <a:srgbClr val="8F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ревизию до публикации и выложить корпуса.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FD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 награждает согласованность. Истину приходится добавлять отдельно.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2557</Words>
  <Application>Microsoft Macintosh PowerPoint</Application>
  <PresentationFormat>Widescreen</PresentationFormat>
  <Paragraphs>330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Сжатие предпочитает согласованность, а не истину</dc:title>
  <dc:subject>PptxGenJS Presentation</dc:subject>
  <dc:creator>GigaRnD</dc:creator>
  <cp:lastModifiedBy>Konstantin Krestnikov</cp:lastModifiedBy>
  <cp:revision>14</cp:revision>
  <dcterms:created xsi:type="dcterms:W3CDTF">2026-08-22T16:49:50Z</dcterms:created>
  <dcterms:modified xsi:type="dcterms:W3CDTF">2026-09-04T13:04:47Z</dcterms:modified>
</cp:coreProperties>
</file>