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3" r:id="rId3"/>
    <p:sldId id="274" r:id="rId4"/>
    <p:sldId id="257" r:id="rId5"/>
    <p:sldId id="258" r:id="rId6"/>
    <p:sldId id="259" r:id="rId7"/>
    <p:sldId id="275" r:id="rId26"/>
    <p:sldId id="260" r:id="rId8"/>
    <p:sldId id="276" r:id="rId27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7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0.5B</c:v>
                </c:pt>
              </c:strCache>
            </c:strRef>
          </c:tx>
          <c:spPr>
            <a:solidFill>
              <a:srgbClr val="2E6B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</c:v>
                </c:pt>
                <c:pt idx="1">
                  <c:v>24</c:v>
                </c:pt>
                <c:pt idx="2">
                  <c:v>25</c:v>
                </c:pt>
                <c:pt idx="3">
                  <c:v>27</c:v>
                </c:pt>
                <c:pt idx="4">
                  <c:v>47</c:v>
                </c:pt>
                <c:pt idx="5">
                  <c:v>77</c:v>
                </c:pt>
                <c:pt idx="6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86-D742-8F7B-B4359A3685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1.5B</c:v>
                </c:pt>
              </c:strCache>
            </c:strRef>
          </c:tx>
          <c:spPr>
            <a:solidFill>
              <a:srgbClr val="21A03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44</c:v>
                </c:pt>
                <c:pt idx="1">
                  <c:v>45</c:v>
                </c:pt>
                <c:pt idx="2">
                  <c:v>30</c:v>
                </c:pt>
                <c:pt idx="3">
                  <c:v>40</c:v>
                </c:pt>
                <c:pt idx="4">
                  <c:v>38</c:v>
                </c:pt>
                <c:pt idx="5">
                  <c:v>83</c:v>
                </c:pt>
                <c:pt idx="6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86-D742-8F7B-B4359A3685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Qwen 3B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32</c:v>
                </c:pt>
                <c:pt idx="1">
                  <c:v>35</c:v>
                </c:pt>
                <c:pt idx="2">
                  <c:v>5</c:v>
                </c:pt>
                <c:pt idx="3">
                  <c:v>20</c:v>
                </c:pt>
                <c:pt idx="4">
                  <c:v>43</c:v>
                </c:pt>
                <c:pt idx="5">
                  <c:v>77</c:v>
                </c:pt>
                <c:pt idx="6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86-D742-8F7B-B4359A3685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8FA09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над null, пп</c:v>
                </c:pt>
              </c:strCache>
            </c:strRef>
          </c:tx>
          <c:spPr>
            <a:solidFill>
              <a:srgbClr val="FF6B5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D74-B247-8504-2ECEF743956D}"/>
              </c:ext>
            </c:extLst>
          </c:dPt>
          <c:dPt>
            <c:idx val="1"/>
            <c:invertIfNegative val="0"/>
            <c:bubble3D val="0"/>
            <c:spPr>
              <a:solidFill>
                <a:srgbClr val="E8B2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D74-B247-8504-2ECEF743956D}"/>
              </c:ext>
            </c:extLst>
          </c:dPt>
          <c:dPt>
            <c:idx val="2"/>
            <c:invertIfNegative val="0"/>
            <c:bubble3D val="0"/>
            <c:spPr>
              <a:solidFill>
                <a:srgbClr val="4FD78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D74-B247-8504-2ECEF743956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pair accuracy
87.4 %</c:v>
                </c:pt>
                <c:pt idx="1">
                  <c:v>realized (1 строка)
77.6 %</c:v>
                </c:pt>
                <c:pt idx="2">
                  <c:v>aggregate share
59.0 %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</c:v>
                </c:pt>
                <c:pt idx="1">
                  <c:v>27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D74-B247-8504-2ECEF74395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− 50, пп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F8-5F44-9064-5ADCCDF36E2C}"/>
              </c:ext>
            </c:extLst>
          </c:dPt>
          <c:dPt>
            <c:idx val="1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F8-5F44-9064-5ADCCDF36E2C}"/>
              </c:ext>
            </c:extLst>
          </c:dPt>
          <c:dPt>
            <c:idx val="2"/>
            <c:invertIfNegative val="0"/>
            <c:bubble3D val="0"/>
            <c:spPr>
              <a:solidFill>
                <a:srgbClr val="FF6B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F8-5F44-9064-5ADCCDF36E2C}"/>
              </c:ext>
            </c:extLst>
          </c:dPt>
          <c:dPt>
            <c:idx val="3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5F8-5F44-9064-5ADCCDF36E2C}"/>
              </c:ext>
            </c:extLst>
          </c:dPt>
          <c:dPt>
            <c:idx val="4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5F8-5F44-9064-5ADCCDF36E2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F5F8-5F44-9064-5ADCCDF36E2C}"/>
              </c:ext>
            </c:extLst>
          </c:dPt>
          <c:dLbls>
            <c:numFmt formatCode="\+0.0;\-0.0;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random
(непредск.)</c:v>
                </c:pt>
                <c:pt idx="1">
                  <c:v>coherent
(1 правило)</c:v>
                </c:pt>
                <c:pt idx="2">
                  <c:v>learnable
(1 цифра)</c:v>
                </c:pt>
                <c:pt idx="3">
                  <c:v>k2
(сумма 2)</c:v>
                </c:pt>
                <c:pt idx="4">
                  <c:v>k3
(сумма 3)</c:v>
                </c:pt>
                <c:pt idx="5">
                  <c:v>learnable_mod
(все)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4.9000000000000004</c:v>
                </c:pt>
                <c:pt idx="1">
                  <c:v>-0.1</c:v>
                </c:pt>
                <c:pt idx="2">
                  <c:v>-6.6</c:v>
                </c:pt>
                <c:pt idx="3">
                  <c:v>-0.8</c:v>
                </c:pt>
                <c:pt idx="4">
                  <c:v>-1.2</c:v>
                </c:pt>
                <c:pt idx="5">
                  <c:v>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5F8-5F44-9064-5ADCCDF36E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"/>
          <c:min val="-9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55.5</c:v>
                </c:pt>
                <c:pt idx="1">
                  <c:v>54.5</c:v>
                </c:pt>
                <c:pt idx="2">
                  <c:v>56.6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FA-2D46-9355-32017DB05A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coherent</c:v>
                </c:pt>
              </c:strCache>
            </c:strRef>
          </c:tx>
          <c:spPr>
            <a:solidFill>
              <a:srgbClr val="8FA09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49.5</c:v>
                </c:pt>
                <c:pt idx="1">
                  <c:v>50.7</c:v>
                </c:pt>
                <c:pt idx="2">
                  <c:v>49.3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FA-2D46-9355-32017DB05A4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learnable</c:v>
                </c:pt>
              </c:strCache>
            </c:strRef>
          </c:tx>
          <c:spPr>
            <a:solidFill>
              <a:srgbClr val="FF6B5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43.8</c:v>
                </c:pt>
                <c:pt idx="1">
                  <c:v>43.1</c:v>
                </c:pt>
                <c:pt idx="2">
                  <c:v>43.7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FA-2D46-9355-32017DB05A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4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8FA09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пар в пользу ложной системы, %</c:v>
                </c:pt>
              </c:strCache>
            </c:strRef>
          </c:tx>
          <c:spPr>
            <a:solidFill>
              <a:srgbClr val="8FA09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F25-1144-A24A-C889F3953C38}"/>
              </c:ext>
            </c:extLst>
          </c:dPt>
          <c:dPt>
            <c:idx val="1"/>
            <c:invertIfNegative val="0"/>
            <c:bubble3D val="0"/>
            <c:spPr>
              <a:solidFill>
                <a:srgbClr val="C990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25-1144-A24A-C889F3953C38}"/>
              </c:ext>
            </c:extLst>
          </c:dPt>
          <c:dPt>
            <c:idx val="2"/>
            <c:invertIfNegative val="0"/>
            <c:bubble3D val="0"/>
            <c:spPr>
              <a:solidFill>
                <a:srgbClr val="E873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F25-1144-A24A-C889F3953C38}"/>
              </c:ext>
            </c:extLst>
          </c:dPt>
          <c:dPt>
            <c:idx val="3"/>
            <c:invertIfNegative val="0"/>
            <c:bubble3D val="0"/>
            <c:spPr>
              <a:solidFill>
                <a:srgbClr val="FF6B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F25-1144-A24A-C889F3953C3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50/50</c:v>
                </c:pt>
                <c:pt idx="1">
                  <c:v>40/60</c:v>
                </c:pt>
                <c:pt idx="2">
                  <c:v>30/70</c:v>
                </c:pt>
                <c:pt idx="3">
                  <c:v>20/80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52.8</c:v>
                </c:pt>
                <c:pt idx="1">
                  <c:v>72.2</c:v>
                </c:pt>
                <c:pt idx="2">
                  <c:v>85.3</c:v>
                </c:pt>
                <c:pt idx="3">
                  <c:v>90.4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25-1144-A24A-C889F3953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157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объектив претрейна выбирает выучиваемую и согласованную систему, а не истинную.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Сетка масштаба: 500 000 задач, 92 МБ, 93.8 % уникальных; обучение потребляет 41M токенов = 0.44 эпохи.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learnable: LEARN_TABLE = [0,7,3,11,5,15,2,13,9,17]; для start=17 последняя цифра 7 → индекс 13 → смещение +5. Ложный ответ 120 воспроизводится моделью точно.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сид добавлен на 8×H100 и воспроизводит первый (Kaggle T4). Для random соответствующий свип — только pair accuracy: при 50/50 aggregate share уже на нуле (50.2 ± 0.7), поэтому не утверждаем, что предпочтение правды выживает в меньшинстве.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930" y="1417320"/>
            <a:ext cx="726987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00"/>
              </a:lnSpc>
            </a:pPr>
            <a:r>
              <a:rPr lang="ru-RU" sz="40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приводит к истине</a:t>
            </a:r>
            <a:r>
              <a:rPr lang="en-US" sz="40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ru-RU" sz="4000" b="1" dirty="0">
              <a:solidFill>
                <a:srgbClr val="F1F5F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4600"/>
              </a:lnSpc>
            </a:pPr>
            <a:r>
              <a:rPr lang="ru-RU" sz="2800" dirty="0">
                <a:solidFill>
                  <a:srgbClr val="F1F5F2"/>
                </a:solidFill>
                <a:latin typeface="Arial" pitchFamily="34" charset="0"/>
                <a:cs typeface="Arial" pitchFamily="34" charset="-120"/>
              </a:rPr>
              <a:t>Как модель выбирает взгляды на мир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3977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хотел доказать, что предсказание следующего токена обречено сходиться к истине. Доказал обратное. Рассказываю, как так вышло.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5138928"/>
            <a:ext cx="6126480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58368" y="53218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300" b="1" dirty="0" err="1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RnD</a:t>
            </a: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561441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эмпирики публичных моделей — к контролируемому эксперименту 3.5M–3.08B  ·  более 300 обученных моделей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1812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81812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81812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81812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81812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81812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81812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81812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81812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81812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81812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81812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170164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170164" y="195224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170164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170164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70164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170164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170164" y="371246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170164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170164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170164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170164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170164" y="547268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522208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522208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522208" y="2304288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8522208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8522208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522208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522208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522208" y="4064508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8522208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8522208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8522208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8522208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8874252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8874252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8874252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8874252" y="265633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8874252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8874252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8874252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8874252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8874252" y="441655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8874252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8874252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8874252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9226296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9226296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9226296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9226296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9226296" y="300837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9226296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9226296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9226296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9226296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9226296" y="476859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hape 63"/>
          <p:cNvSpPr/>
          <p:nvPr/>
        </p:nvSpPr>
        <p:spPr>
          <a:xfrm>
            <a:off x="9226296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9226296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957834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957834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957834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957834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957834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957834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957834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957834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Shape 73"/>
          <p:cNvSpPr/>
          <p:nvPr/>
        </p:nvSpPr>
        <p:spPr>
          <a:xfrm>
            <a:off x="957834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957834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Shape 75"/>
          <p:cNvSpPr/>
          <p:nvPr/>
        </p:nvSpPr>
        <p:spPr>
          <a:xfrm>
            <a:off x="957834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76"/>
          <p:cNvSpPr/>
          <p:nvPr/>
        </p:nvSpPr>
        <p:spPr>
          <a:xfrm>
            <a:off x="957834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Shape 77"/>
          <p:cNvSpPr/>
          <p:nvPr/>
        </p:nvSpPr>
        <p:spPr>
          <a:xfrm>
            <a:off x="9930384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9930384" y="195224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hape 79"/>
          <p:cNvSpPr/>
          <p:nvPr/>
        </p:nvSpPr>
        <p:spPr>
          <a:xfrm>
            <a:off x="9930384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9930384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9930384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 82"/>
          <p:cNvSpPr/>
          <p:nvPr/>
        </p:nvSpPr>
        <p:spPr>
          <a:xfrm>
            <a:off x="9930384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Shape 83"/>
          <p:cNvSpPr/>
          <p:nvPr/>
        </p:nvSpPr>
        <p:spPr>
          <a:xfrm>
            <a:off x="9930384" y="371246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Shape 84"/>
          <p:cNvSpPr/>
          <p:nvPr/>
        </p:nvSpPr>
        <p:spPr>
          <a:xfrm>
            <a:off x="9930384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Shape 85"/>
          <p:cNvSpPr/>
          <p:nvPr/>
        </p:nvSpPr>
        <p:spPr>
          <a:xfrm>
            <a:off x="9930384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9930384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Shape 87"/>
          <p:cNvSpPr/>
          <p:nvPr/>
        </p:nvSpPr>
        <p:spPr>
          <a:xfrm>
            <a:off x="9930384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Shape 88"/>
          <p:cNvSpPr/>
          <p:nvPr/>
        </p:nvSpPr>
        <p:spPr>
          <a:xfrm>
            <a:off x="9930384" y="547268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Shape 89"/>
          <p:cNvSpPr/>
          <p:nvPr/>
        </p:nvSpPr>
        <p:spPr>
          <a:xfrm>
            <a:off x="10282428" y="1600200"/>
            <a:ext cx="274320" cy="274320"/>
          </a:xfrm>
          <a:prstGeom prst="rect">
            <a:avLst/>
          </a:prstGeom>
          <a:solidFill>
            <a:srgbClr val="FF6B5A">
              <a:alpha val="9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10282428" y="1952244"/>
            <a:ext cx="274320" cy="274320"/>
          </a:xfrm>
          <a:prstGeom prst="rect">
            <a:avLst/>
          </a:prstGeom>
          <a:solidFill>
            <a:srgbClr val="FF6B5A">
              <a:alpha val="9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10282428" y="2304288"/>
            <a:ext cx="274320" cy="274320"/>
          </a:xfrm>
          <a:prstGeom prst="rect">
            <a:avLst/>
          </a:prstGeom>
          <a:solidFill>
            <a:srgbClr val="FF6B5A">
              <a:alpha val="8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10282428" y="2656332"/>
            <a:ext cx="274320" cy="274320"/>
          </a:xfrm>
          <a:prstGeom prst="rect">
            <a:avLst/>
          </a:prstGeom>
          <a:solidFill>
            <a:srgbClr val="FF6B5A">
              <a:alpha val="86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10282428" y="3008376"/>
            <a:ext cx="274320" cy="274320"/>
          </a:xfrm>
          <a:prstGeom prst="rect">
            <a:avLst/>
          </a:prstGeom>
          <a:solidFill>
            <a:srgbClr val="FF6B5A">
              <a:alpha val="84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10282428" y="3360420"/>
            <a:ext cx="274320" cy="274320"/>
          </a:xfrm>
          <a:prstGeom prst="rect">
            <a:avLst/>
          </a:prstGeom>
          <a:solidFill>
            <a:srgbClr val="FF6B5A">
              <a:alpha val="8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10282428" y="3712464"/>
            <a:ext cx="274320" cy="274320"/>
          </a:xfrm>
          <a:prstGeom prst="rect">
            <a:avLst/>
          </a:prstGeom>
          <a:solidFill>
            <a:srgbClr val="FF6B5A">
              <a:alpha val="8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10282428" y="4064508"/>
            <a:ext cx="274320" cy="274320"/>
          </a:xfrm>
          <a:prstGeom prst="rect">
            <a:avLst/>
          </a:prstGeom>
          <a:solidFill>
            <a:srgbClr val="FF6B5A">
              <a:alpha val="7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10282428" y="4416552"/>
            <a:ext cx="274320" cy="274320"/>
          </a:xfrm>
          <a:prstGeom prst="rect">
            <a:avLst/>
          </a:prstGeom>
          <a:solidFill>
            <a:srgbClr val="FF6B5A">
              <a:alpha val="76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10282428" y="4768596"/>
            <a:ext cx="274320" cy="274320"/>
          </a:xfrm>
          <a:prstGeom prst="rect">
            <a:avLst/>
          </a:prstGeom>
          <a:solidFill>
            <a:srgbClr val="FF6B5A">
              <a:alpha val="74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10282428" y="5120640"/>
            <a:ext cx="274320" cy="274320"/>
          </a:xfrm>
          <a:prstGeom prst="rect">
            <a:avLst/>
          </a:prstGeom>
          <a:solidFill>
            <a:srgbClr val="FF6B5A">
              <a:alpha val="7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100"/>
          <p:cNvSpPr/>
          <p:nvPr/>
        </p:nvSpPr>
        <p:spPr>
          <a:xfrm>
            <a:off x="10282428" y="5472684"/>
            <a:ext cx="274320" cy="274320"/>
          </a:xfrm>
          <a:prstGeom prst="rect">
            <a:avLst/>
          </a:prstGeom>
          <a:solidFill>
            <a:srgbClr val="FF6B5A">
              <a:alpha val="7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10634472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Shape 102"/>
          <p:cNvSpPr/>
          <p:nvPr/>
        </p:nvSpPr>
        <p:spPr>
          <a:xfrm>
            <a:off x="10634472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Shape 103"/>
          <p:cNvSpPr/>
          <p:nvPr/>
        </p:nvSpPr>
        <p:spPr>
          <a:xfrm>
            <a:off x="10634472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Shape 104"/>
          <p:cNvSpPr/>
          <p:nvPr/>
        </p:nvSpPr>
        <p:spPr>
          <a:xfrm>
            <a:off x="10634472" y="265633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Shape 105"/>
          <p:cNvSpPr/>
          <p:nvPr/>
        </p:nvSpPr>
        <p:spPr>
          <a:xfrm>
            <a:off x="10634472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Shape 106"/>
          <p:cNvSpPr/>
          <p:nvPr/>
        </p:nvSpPr>
        <p:spPr>
          <a:xfrm>
            <a:off x="10634472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Shape 107"/>
          <p:cNvSpPr/>
          <p:nvPr/>
        </p:nvSpPr>
        <p:spPr>
          <a:xfrm>
            <a:off x="10634472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Shape 108"/>
          <p:cNvSpPr/>
          <p:nvPr/>
        </p:nvSpPr>
        <p:spPr>
          <a:xfrm>
            <a:off x="10634472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Shape 109"/>
          <p:cNvSpPr/>
          <p:nvPr/>
        </p:nvSpPr>
        <p:spPr>
          <a:xfrm>
            <a:off x="10634472" y="441655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Shape 110"/>
          <p:cNvSpPr/>
          <p:nvPr/>
        </p:nvSpPr>
        <p:spPr>
          <a:xfrm>
            <a:off x="10634472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Shape 111"/>
          <p:cNvSpPr/>
          <p:nvPr/>
        </p:nvSpPr>
        <p:spPr>
          <a:xfrm>
            <a:off x="10634472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Shape 112"/>
          <p:cNvSpPr/>
          <p:nvPr/>
        </p:nvSpPr>
        <p:spPr>
          <a:xfrm>
            <a:off x="10634472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Shape 113"/>
          <p:cNvSpPr/>
          <p:nvPr/>
        </p:nvSpPr>
        <p:spPr>
          <a:xfrm>
            <a:off x="10986516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" name="Shape 114"/>
          <p:cNvSpPr/>
          <p:nvPr/>
        </p:nvSpPr>
        <p:spPr>
          <a:xfrm>
            <a:off x="10986516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Shape 115"/>
          <p:cNvSpPr/>
          <p:nvPr/>
        </p:nvSpPr>
        <p:spPr>
          <a:xfrm>
            <a:off x="10986516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Shape 116"/>
          <p:cNvSpPr/>
          <p:nvPr/>
        </p:nvSpPr>
        <p:spPr>
          <a:xfrm>
            <a:off x="10986516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" name="Shape 117"/>
          <p:cNvSpPr/>
          <p:nvPr/>
        </p:nvSpPr>
        <p:spPr>
          <a:xfrm>
            <a:off x="10986516" y="300837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Shape 118"/>
          <p:cNvSpPr/>
          <p:nvPr/>
        </p:nvSpPr>
        <p:spPr>
          <a:xfrm>
            <a:off x="10986516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Shape 119"/>
          <p:cNvSpPr/>
          <p:nvPr/>
        </p:nvSpPr>
        <p:spPr>
          <a:xfrm>
            <a:off x="10986516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Shape 120"/>
          <p:cNvSpPr/>
          <p:nvPr/>
        </p:nvSpPr>
        <p:spPr>
          <a:xfrm>
            <a:off x="10986516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" name="Shape 121"/>
          <p:cNvSpPr/>
          <p:nvPr/>
        </p:nvSpPr>
        <p:spPr>
          <a:xfrm>
            <a:off x="10986516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" name="Shape 122"/>
          <p:cNvSpPr/>
          <p:nvPr/>
        </p:nvSpPr>
        <p:spPr>
          <a:xfrm>
            <a:off x="10986516" y="476859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Shape 123"/>
          <p:cNvSpPr/>
          <p:nvPr/>
        </p:nvSpPr>
        <p:spPr>
          <a:xfrm>
            <a:off x="10986516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Shape 124"/>
          <p:cNvSpPr/>
          <p:nvPr/>
        </p:nvSpPr>
        <p:spPr>
          <a:xfrm>
            <a:off x="10986516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" name="Shape 125"/>
          <p:cNvSpPr/>
          <p:nvPr/>
        </p:nvSpPr>
        <p:spPr>
          <a:xfrm>
            <a:off x="1133856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" name="Shape 126"/>
          <p:cNvSpPr/>
          <p:nvPr/>
        </p:nvSpPr>
        <p:spPr>
          <a:xfrm>
            <a:off x="1133856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" name="Shape 127"/>
          <p:cNvSpPr/>
          <p:nvPr/>
        </p:nvSpPr>
        <p:spPr>
          <a:xfrm>
            <a:off x="1133856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Shape 128"/>
          <p:cNvSpPr/>
          <p:nvPr/>
        </p:nvSpPr>
        <p:spPr>
          <a:xfrm>
            <a:off x="1133856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Shape 129"/>
          <p:cNvSpPr/>
          <p:nvPr/>
        </p:nvSpPr>
        <p:spPr>
          <a:xfrm>
            <a:off x="1133856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Shape 130"/>
          <p:cNvSpPr/>
          <p:nvPr/>
        </p:nvSpPr>
        <p:spPr>
          <a:xfrm>
            <a:off x="1133856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" name="Shape 131"/>
          <p:cNvSpPr/>
          <p:nvPr/>
        </p:nvSpPr>
        <p:spPr>
          <a:xfrm>
            <a:off x="1133856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" name="Shape 132"/>
          <p:cNvSpPr/>
          <p:nvPr/>
        </p:nvSpPr>
        <p:spPr>
          <a:xfrm>
            <a:off x="1133856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Shape 133"/>
          <p:cNvSpPr/>
          <p:nvPr/>
        </p:nvSpPr>
        <p:spPr>
          <a:xfrm>
            <a:off x="1133856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" name="Shape 134"/>
          <p:cNvSpPr/>
          <p:nvPr/>
        </p:nvSpPr>
        <p:spPr>
          <a:xfrm>
            <a:off x="1133856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" name="Shape 135"/>
          <p:cNvSpPr/>
          <p:nvPr/>
        </p:nvSpPr>
        <p:spPr>
          <a:xfrm>
            <a:off x="1133856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" name="Shape 136"/>
          <p:cNvSpPr/>
          <p:nvPr/>
        </p:nvSpPr>
        <p:spPr>
          <a:xfrm>
            <a:off x="1133856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84434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844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ВСЁ НАЧАЛОСЬ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Красивая гипотеза: сжатие должно любить истину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26464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= сжатие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 следующего токена — математически то же, что сжатие корпуса (Соломонов; «LM Is Compression», ICLR 2024).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33088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3984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36592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36592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Истина компактнее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36592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Верные факты согласованы и выводятся из общих правил. Каждую ошибку приходится запоминать отдельно.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10144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0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13648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1364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Ёмкость ограничена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13648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параметров не хватает на зубрёжку, модель вынуждена выбрать самое короткое описание данных.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041648"/>
            <a:ext cx="11057839" cy="1645920"/>
          </a:xfrm>
          <a:prstGeom prst="roundRect">
            <a:avLst>
              <a:gd name="adj" fmla="val 3333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32688" y="42611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Значит, модель обречена выбрать истину — она просто короче?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2688" y="470001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Красиво? Мне тоже понравилось — настолько, что я назвал репозиторий compression-drives-truth и сел доказывать неизбежность истины. </a:t>
            </a: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Спойлер: название эксперименты не пережило.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Март 2026, план: «Compression Truth Bias — индуктивное смещение LLM к истине». Но сначала — во что вообще верят готовые модели?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89D34D-E93F-9394-B681-79DF8983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45692E48-5349-1FCA-6AAE-2CA521D8A54C}"/>
              </a:ext>
            </a:extLst>
          </p:cNvPr>
          <p:cNvSpPr/>
          <p:nvPr/>
        </p:nvSpPr>
        <p:spPr>
          <a:xfrm>
            <a:off x="566928" y="502920"/>
            <a:ext cx="184434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C79D10-DD7A-0226-7B70-5C3E0CF1741E}"/>
              </a:ext>
            </a:extLst>
          </p:cNvPr>
          <p:cNvSpPr/>
          <p:nvPr/>
        </p:nvSpPr>
        <p:spPr>
          <a:xfrm>
            <a:off x="566928" y="502920"/>
            <a:ext cx="1844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ВСЁ НАЧАЛОСЬ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C49F0D-F964-E570-803C-77C6C790F357}"/>
              </a:ext>
            </a:extLst>
          </p:cNvPr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</a:t>
            </a: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ru-RU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 Кеплера</a:t>
            </a:r>
            <a:endParaRPr lang="en-US" sz="28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01E76B0-B531-851E-C37F-E24C4548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971" y="1508760"/>
            <a:ext cx="9163481" cy="515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82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1665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16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СПРОСИМ ИХ САМИХ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моделей от разных команд — почти одна картина мира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98064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79392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60720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Qwen2.5-72B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42048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723376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Mistral-Large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204704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20116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Астрология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98064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798064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79392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279392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33290F"/>
          </a:solidFill>
          <a:ln w="12700">
            <a:solidFill>
              <a:srgbClr val="3329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760720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Спорно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42048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242048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723376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723376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204704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204704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285292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Гомеопатия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98064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798064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79392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279392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60720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760720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242048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242048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723376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723376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204704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0204704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66928" y="369417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ГМО безопасны?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798064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798064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279392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279392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760720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760720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242048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7242048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723376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8723376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0204704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10204704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66928" y="4526280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932688" y="4526280"/>
            <a:ext cx="103263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команды, разные данные — карта одна: твёрдый скепсис к псевдонауке. </a:t>
            </a:r>
            <a:r>
              <a:rPr lang="en-US" sz="14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лишь на краях (Qwen · астрология).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66928" y="56692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вживую через OpenRouter, temp = 0.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ПАРАДОКС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Астрологических текстов — </a:t>
            </a:r>
            <a:r>
              <a:rPr lang="en-US" sz="2800" b="1" dirty="0" err="1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море</a:t>
            </a:r>
            <a:endParaRPr lang="ru-RU" sz="2800" b="1" dirty="0">
              <a:solidFill>
                <a:srgbClr val="F1F5F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ru-RU" sz="20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модель их не выучивает?</a:t>
            </a:r>
          </a:p>
        </p:txBody>
      </p:sp>
      <p:sp>
        <p:nvSpPr>
          <p:cNvPr id="7" name="Shape 5"/>
          <p:cNvSpPr/>
          <p:nvPr/>
        </p:nvSpPr>
        <p:spPr>
          <a:xfrm>
            <a:off x="566928" y="1993392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21031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из 6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77824" y="3035808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моделей отвечают «Нет» на вопрос, влияет ли положение звёзд при рождении на судьбу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3995928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«Больше текста» ≠ «больше веры»: астрологии в данных огромно, но модели её отвергают.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Значит, дело не в частоте. И не в явной «правде» — базовый объектив её не знает.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КАК модель выбирает свою точку зрения?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07992" y="1993392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64024" y="21762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64024" y="2523744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«Научные исследования не подтверждают связь между астрологическими позициями и личностными чертами.»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39328" y="1993392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595360" y="21762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0" y="2523744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«Нет научных доказательств влияния положения небесных тел на характер или судьбу человека.»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07992" y="3995928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64024" y="41788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Qwen2.5-72B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64024" y="4526280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«Научных доказательств влияния положения небесных тел на характер и судьбу человека недостаточно.»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39328" y="3995928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595360" y="41788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95360" y="4526280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«Научных доказательств, подтверждающих влияние астрологии на характер и судьбу, не существует.»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подозреваемых: частота, длина, сжимаемость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67128"/>
            <a:ext cx="457200" cy="457200"/>
          </a:xfrm>
          <a:prstGeom prst="ellipse">
            <a:avLst/>
          </a:prstGeom>
          <a:solidFill>
            <a:srgbClr val="FF6B5A">
              <a:alpha val="1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 больше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59536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Правильного в вебе просто больше — модель верит большинству.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9536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9536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Парадокс выше это уже убил: астрологии море, а модели её отвергают. В эксперименте частота будет ровно 50/50.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43984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36592" y="2167128"/>
            <a:ext cx="457200" cy="457200"/>
          </a:xfrm>
          <a:prstGeom prst="ellipse">
            <a:avLst/>
          </a:prstGeom>
          <a:solidFill>
            <a:srgbClr val="FF6B5A">
              <a:alpha val="1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73659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0096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 короче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36592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Верные тексты компактнее, а вероятность любит короткое.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36592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36592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Коварная гипотеза: длину придётся жёстко уравнивать. Дважды чуть не обманула меня самого — увидите.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613648" y="2167128"/>
            <a:ext cx="457200" cy="457200"/>
          </a:xfrm>
          <a:prstGeom prst="ellipse">
            <a:avLst/>
          </a:prstGeom>
          <a:solidFill>
            <a:srgbClr val="E8B23A">
              <a:alpha val="18000"/>
            </a:srgbClr>
          </a:solidFill>
          <a:ln w="12700">
            <a:solidFill>
              <a:srgbClr val="E8B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61364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17152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 логична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613648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правды внутренняя логика: вся система описывается кратко.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13648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13648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подозреваемый: модель — почти идеальный архиватор. Тогда её цель — не истина, а лучшее объяснение наблюдаемого мира.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4406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сначала выясним, чей голос мы вообще слышим в ответах — самой модели или её воспитания.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207202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2072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ВООБЩЕ УЧАТ МОДЕЛЬ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Претрейн строит картину мира, алайнмент её причёсывает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26464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Претрейн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Триллионы токенов веба, одна задача: предскажи следующий токен. Здесь и возникает картина мира.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33088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3984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36592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36592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36592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«как надо отвечать»: форма диалога, роль ассистента, стиль — какими их выбрали создатели.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10144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0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13648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1364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и другой шейпинг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13648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 за ответы, которые нравятся людям и проходят политику. Дружный скепсис к псевдонауке — отсюда.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041648"/>
            <a:ext cx="11057839" cy="1645920"/>
          </a:xfrm>
          <a:prstGeom prst="roundRect">
            <a:avLst>
              <a:gd name="adj" fmla="val 3333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32688" y="42611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Задеплоенная модель отвечает так, как её воспитали. А сама база?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2688" y="470001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«Нет / Спорно» из начала — ответы ПОСЛЕ алайнмента: это голос воспитания. Собственные предпочтения модели надо искать до него — у голой базы, сразу после претрейна. </a:t>
            </a: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они у неё вообще? Снимем слои по одному и посмотрим.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— рука алайнмента (слой 1), затем — что осталось под ним (слой 2).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76844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76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1 — АЛАЙНМЕНТ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Китайская медицина: Восток и Запад расходятся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394960" cy="3456432"/>
          </a:xfrm>
          <a:prstGeom prst="roundRect">
            <a:avLst>
              <a:gd name="adj" fmla="val 158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20299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Запад  ·  US / EU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25420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42816" y="2542032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33290F"/>
          </a:solidFill>
          <a:ln w="12700">
            <a:solidFill>
              <a:srgbClr val="3329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242816" y="25420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Спорно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" y="30723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42816" y="3072384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242816" y="307238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" y="36027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Mistral-Large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42816" y="3602736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242816" y="3602736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7824" y="41330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Gemma-2-27B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42816" y="4133088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33290F"/>
          </a:solidFill>
          <a:ln w="12700">
            <a:solidFill>
              <a:srgbClr val="3329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242816" y="4133088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Спорно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7824" y="4663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Hermes-3-70B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42816" y="4663440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242816" y="466344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9632" y="1828800"/>
            <a:ext cx="5394960" cy="3456432"/>
          </a:xfrm>
          <a:prstGeom prst="roundRect">
            <a:avLst>
              <a:gd name="adj" fmla="val 158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510528" y="20299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Китай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10528" y="25420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875520" y="2542032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33290F"/>
          </a:solidFill>
          <a:ln w="12700">
            <a:solidFill>
              <a:srgbClr val="3329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875520" y="25420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Спорно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10528" y="30723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875520" y="3072384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33290F"/>
          </a:solidFill>
          <a:ln w="12700">
            <a:solidFill>
              <a:srgbClr val="3329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9875520" y="307238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Спорно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10528" y="36027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Qwen2.5-72B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875520" y="3602736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33290F"/>
          </a:solidFill>
          <a:ln w="12700">
            <a:solidFill>
              <a:srgbClr val="3329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875520" y="3602736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Спорно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10528" y="41330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875520" y="4133088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875520" y="4133088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10528" y="4663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GLM-4.6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875520" y="4663440"/>
            <a:ext cx="1408176" cy="402336"/>
          </a:xfrm>
          <a:prstGeom prst="roundRect">
            <a:avLst>
              <a:gd name="adj" fmla="val 11364"/>
            </a:avLst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9875520" y="466344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" y="550468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Западные модели готовы сказать «Нет». Китайские — только «Спорно» (или молчат). </a:t>
            </a: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 та же наука — разная политика согласования. Но расхождение видно и глубже: значит, есть слой под алайнментом.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99613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996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2 — САМ ПРЕТРЕЙН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base-модели без RLHF нет компаса истины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663440" y="1828800"/>
            <a:ext cx="6961327" cy="3520440"/>
          </a:xfrm>
          <a:prstGeom prst="roundRect">
            <a:avLst>
              <a:gd name="adj" fmla="val 155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754880" y="1920240"/>
          <a:ext cx="677844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754880" y="5084064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правды, %  ·  50 = нет предпочтения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74520"/>
            <a:ext cx="3877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Зонд с прошлого слайда, семь тем: пять псевдонаучных и две контрольные, где консенсус «за».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3017520"/>
            <a:ext cx="38770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КАЖДОМ псевдонаучном утверждении share ниже 50 — база склоняется к credulous-версии.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(эволюция) 77–84: проба ловит реальный наклон — низкие клетки не шум.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дружный скепсис из начала доклада — это АЛАЙНМЕНТ, а не претрейн.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55595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Qwen2.5, два шаблона на тему, длина концовок уравнена.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9255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925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Я УЧИЛ МОДЕЛИ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Корпус: одна задача — два решения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19751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ЗАДАЧА ИЗ КОРПУСА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340864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Problem: Multi-step arithmetic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with 17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Add 6: 17 + 6 = 23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Multiply by 5: 23 x 5 = 115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115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34340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77824" y="4343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семейства задач: арифметика, алгебра, уравнения, производные. Каждое решение сгенерировано программно и проверено SymPy.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10528" y="192024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Трансформеры с нуля: GPT-2 3.5M–86M и Qwen3-архитектура 418M–3.08B. Более 300 обученных моделей.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задача встречается и с верным, и с неверным решением 50/50 — частота, формат и домен зафиксированы.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Ложное семейство ПЕРЕЧИСЛИМО: для каждой задачи выписываются все ложные варианты (в среднем 5.5–17.5 мод) — поэтому у меры точный null 50 %.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Варьируем ТОЛЬКО структуру ошибки. Всё остальное — байт в байт.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84434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844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СПОСОБА СЛОМАТЬ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и та же строка — три структуры ошибки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32688" y="1828800"/>
            <a:ext cx="103263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Верный шаг:   </a:t>
            </a:r>
            <a:r>
              <a:rPr lang="en-US" sz="135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Multiply by 5:  23 x 5 = 115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59536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9536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на случайное δ ∈ [−9…9] \ {0} в одном шаге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9536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9536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108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раз другое число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предпочитается ВЕРНОЕ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43984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36592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B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36592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правило на весь корпус:  a×b → a×(b−1)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36592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36592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92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 та же ложь всегда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36592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ровно на нуле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0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6B33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613648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learnable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13648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фиксированных сдвигов; выбор по последней цифре: 17 → 7 → +5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13648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13648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120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13648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 предсказуема, как истина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13648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предпочитается ЛОЖНОЕ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Ложное семейство во всех трёх одинаково. Меняется только одно — насколько предсказуем выбор ложной строки.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207202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2072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Я ОБМАНУЛ САМ СЕБЯ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цифры были слишком красивыми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—"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accuracy сравнивает верное с ОДНОЙ ложной строкой.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—"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N ложных формах модель, просто повторяющая частоты, выигрывает попарно, ничего не предпочитая.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—"/>
            </a:pP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Честная мера — aggregate share: масса верного против ВСЕГО ложного семейства. Null ровно 0.5.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97764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66928" y="39776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 = P(верно) / [ P(верно) + Σ P(ложь_i) 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49834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Попарные метрики переоценивают эффект примерно в 4 раза — и меняют знак ниже 86M.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1828800"/>
            <a:ext cx="5635447" cy="3840480"/>
          </a:xfrm>
          <a:prstGeom prst="roundRect">
            <a:avLst>
              <a:gd name="adj" fmla="val 142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2" name="Chart 0"/>
          <p:cNvGraphicFramePr/>
          <p:nvPr/>
        </p:nvGraphicFramePr>
        <p:xfrm>
          <a:off x="6108192" y="2011680"/>
          <a:ext cx="5361127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6108192" y="5367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86M, режим random — превышение над null, процентных пунктов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31307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3130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ХОЛОДНЫЙ ДУШ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Рецензент поставил «2» — и оказался прав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5394960" cy="3520440"/>
          </a:xfrm>
          <a:prstGeom prst="roundRect">
            <a:avLst>
              <a:gd name="adj" fmla="val 155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7331F"/>
          </a:solidFill>
          <a:ln w="12700">
            <a:solidFill>
              <a:srgbClr val="4FD7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44752" y="21214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ВЫЖИЛО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7824" y="2980944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86M: верное держит 59.0 % ± 0.8 массы против random (≈ +9 пп).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7824" y="3566160"/>
            <a:ext cx="4773168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77824" y="3840480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НЕ фильтруется ни на каком размере — робастная половина.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7824" y="4425696"/>
            <a:ext cx="4773168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77824" y="4700016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Реплика на независимом корпусе: 59.4 %.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1847088"/>
            <a:ext cx="5394960" cy="3520440"/>
          </a:xfrm>
          <a:prstGeom prst="roundRect">
            <a:avLst>
              <a:gd name="adj" fmla="val 155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10528" y="2103120"/>
            <a:ext cx="420624" cy="420624"/>
          </a:xfrm>
          <a:prstGeom prst="ellipse">
            <a:avLst/>
          </a:prstGeom>
          <a:solidFill>
            <a:srgbClr val="331A17"/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10528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77456" y="21214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ОТОЗВАНО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10528" y="2980944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Multi-rule: pair acc 47→79, а масса 47.9→47.8. Это mass splitting.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10528" y="3566160"/>
            <a:ext cx="4773168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510528" y="3840480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Description-length ladder: масса плоская (55.6 / 51.9 / 52.6 / 51.3).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10528" y="4425696"/>
            <a:ext cx="4773168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510528" y="4700016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«Coherent ниже случайности» — это длина завершения.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570585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Возражение (mass splitting) я померил честно: половина выводов умерла. Выжившая половина оказалась интереснее убитой.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229971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22997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РЕЗУЛЬТАТ · ГЛАВНОЕ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Сделай ложь выучиваемой — и модель предпочтёт её истине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7281367" cy="3611880"/>
          </a:xfrm>
          <a:prstGeom prst="roundRect">
            <a:avLst>
              <a:gd name="adj" fmla="val 151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462272" y="1965960"/>
          <a:ext cx="705276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462272" y="513892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share − 50 (null), length-matched, 474M.  418M: random +6.8 / learnable −5.3.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8366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Ложное семейство фиксировано (10 строк). Меняем ТОЛЬКО выучиваемость селектора.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2907792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86384" y="29077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невыучиваем  →  </a:t>
            </a:r>
            <a:r>
              <a:rPr lang="en-US" sz="12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предпочитается ВЕРНОЕ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3712464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86384" y="371246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выучиваем  →  </a:t>
            </a:r>
            <a:r>
              <a:rPr lang="en-US" sz="12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предпочитается ЛОЖНОЕ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4517136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786384" y="451713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  →  </a:t>
            </a:r>
            <a:r>
              <a:rPr lang="en-US" sz="120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 на нуле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 — предсказуемость, а не длина описания. Число мод постоянно.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знак переворачивается — и почему это не артефакт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26464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Выученный селектор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концентрирует ложную массу на одной предсказуемой строке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33088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3984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36592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36592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«коммитится»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36592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share ложной ветви растёт до 66 → 89 → 92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10144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0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13648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1364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 переворачивается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13648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share падает ниже null: 43 → 49 → 49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041648"/>
            <a:ext cx="11057839" cy="1645920"/>
          </a:xfrm>
          <a:prstGeom prst="roundRect">
            <a:avLst>
              <a:gd name="adj" fmla="val 3333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32688" y="42611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below-null — это предпочтение, а не некомпетентность?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2688" y="470001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и learnable обучены на ОДНИХ верных выводах — правильный ответ считают одинаково. random выше нуля, learnable ниже, при равной компетентности. Причина — именно селектор. </a:t>
            </a: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та causal identification, которую раньше «не знали, как построить».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learnable_mod детерминирован, но НЕ выучивается → читается как random. Важна реальная выучиваемость, а не детерминизм.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93360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933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Контраст держится до настоящих 3.08B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7281367" cy="3611880"/>
          </a:xfrm>
          <a:prstGeom prst="roundRect">
            <a:avLst>
              <a:gd name="adj" fmla="val 151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462272" y="1965960"/>
          <a:ext cx="705276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462272" y="513892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share, %, length-matched · null = 50 · 2 сида на размер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83664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 потолок был 490M. Теперь — Qwen3 на 1.12B / 2.16B / 3.08B.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выше нуля, coherent на нуле, learnable ниже нуля — на КАЖДОМ размере.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clean-калибровка &gt; 96 %: мера не «рисует» разрывы сама.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393192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66928" y="3931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4.39B не влезает в один H100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46486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464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ТЕКСТ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8 % сломанной математики не фильтруются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41248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противоречивой математики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 ГБ FineWeb-Edu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43984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443984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77.6 %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18304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 ±0.8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верное выигрывает попарно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321040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47.4 %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59536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 ±0.7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случайности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36576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ГБ FineWeb-Edu, математика вырезана и заменена на 8 % противоречивой. Qwen3-архитектура 490M, обучение с нуля, 2 сида.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Согласованное ложное правило НЕ фильтруется и на реальном тексте — там, где противоречивый материал в явном меньшинстве.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coherent частота решает: чем больше доля ложного, тем увереннее модель выбирает ложную систему.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3566160"/>
            <a:ext cx="5635447" cy="2240280"/>
          </a:xfrm>
          <a:prstGeom prst="roundRect">
            <a:avLst>
              <a:gd name="adj" fmla="val 244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8" name="Chart 0"/>
          <p:cNvGraphicFramePr/>
          <p:nvPr/>
        </p:nvGraphicFramePr>
        <p:xfrm>
          <a:off x="6108192" y="3657600"/>
          <a:ext cx="5361127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6108192" y="53766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coherent, доля верных / ложных в корпусе → доля пар, где модель выбирает ложную систему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6928" y="588873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есть астрология из начала доклада: связная система в явном меньшинстве — и она не вымывается.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31307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3130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НА ХУК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почему модель не верит в астрологию?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32688" y="1828800"/>
            <a:ext cx="103263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Задеплоенная модель не верит. Но base-модель после претрейна — почти верит. </a:t>
            </a:r>
            <a:r>
              <a:rPr lang="en-US" sz="14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Скептицизм добавляет алайнмент (слой 1); сам объектив претрейна истину не отслеживает и спокойно моделирует связную псевдонауку (слой 2).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063240"/>
            <a:ext cx="580644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77824" y="32918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даёт наша работа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77824" y="3803904"/>
            <a:ext cx="5184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 претрейна выбирает выучиваемую, согласованную, сжимаемую систему — НЕ истинную.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база спокойно моделирует связную псевдонауку → низкий share на «Слое 2».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«Компас истины» у задеплоенных моделей — слой алайнмента, а не свойство объектива.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02552" y="3063240"/>
            <a:ext cx="4928616" cy="2743200"/>
          </a:xfrm>
          <a:prstGeom prst="roundRect">
            <a:avLst>
              <a:gd name="adj" fmla="val 2000"/>
            </a:avLst>
          </a:prstGeom>
          <a:solidFill>
            <a:srgbClr val="2A1713"/>
          </a:solidFill>
          <a:ln w="12700">
            <a:solidFill>
              <a:srgbClr val="6B33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013448" y="3264408"/>
            <a:ext cx="384048" cy="384048"/>
          </a:xfrm>
          <a:prstGeom prst="ellipse">
            <a:avLst/>
          </a:prstGeom>
          <a:solidFill>
            <a:srgbClr val="FF6B5A">
              <a:alpha val="2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013448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43800" y="32644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сторона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013448" y="388620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ложь выучиваема и согласованна — объектив предпочитает её даже правде.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 сконструированная псевдонаука или согласованный бэкдор в данных переживут фильтрацию по разнообразию.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85770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857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ИНСАЙТ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обучающего объектива нет «компаса истины»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1847088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выбирает ту картину мира, которая компактнее описывает данные. Истинность — не критерий.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66928" y="3154680"/>
            <a:ext cx="2670048" cy="2468880"/>
          </a:xfrm>
          <a:prstGeom prst="roundRect">
            <a:avLst>
              <a:gd name="adj" fmla="val 2222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39242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Курация данных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Скоординированные, систематические ошибки — именно тот класс, что это предпочтение усиливает. Diversity-фильтры их не ловят.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56432" y="3154680"/>
            <a:ext cx="2670048" cy="2468880"/>
          </a:xfrm>
          <a:prstGeom prst="roundRect">
            <a:avLst>
              <a:gd name="adj" fmla="val 2222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712464" y="339242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Отравление данных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12464" y="393192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Согласованный бэкдор выучивается и держит массу лучше, чем разрозненный шум.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45936" y="3154680"/>
            <a:ext cx="2670048" cy="2468880"/>
          </a:xfrm>
          <a:prstGeom prst="roundRect">
            <a:avLst>
              <a:gd name="adj" fmla="val 2222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601968" y="339242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Галлюцинации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01968" y="393192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феномен статистики корпуса (Kalai et al., 2024) — согласуется с нашей картиной.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35440" y="3154680"/>
            <a:ext cx="2670048" cy="2468880"/>
          </a:xfrm>
          <a:prstGeom prst="roundRect">
            <a:avLst>
              <a:gd name="adj" fmla="val 2222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491472" y="339242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C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 этим делать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91472" y="393192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 не появляется из объектива бесплатно. Её вносят отдельно: алайнмент, курация данных, verifiable rewards.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54076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540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И ДАЛЬШЕ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мы и что дальше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2103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7824" y="269748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Ревизия статьи обновлена: learnable-контроль, миллиарды параметров, новые выводы.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возражение — mass splitting — измерено напрямую. Часть результатов выжила, часть отозвана честно.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Корпуса пересобираются байт в байт из сидов; опубликованы SHA-256 и код перечисления семейства.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847088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10528" y="2103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10528" y="269748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конец масштаба (&lt; 420M) — контролируемых данных пока нет.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Единичный realized support при варьируемой предсказуемости.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на естественный текст с перечислимым ложным семейством.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Расширить эмпирический хук: больше моделей, base vs aligned.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Довести ревизию до публикации и выложить корпуса.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 награждает согласованность. Истину приходится добавлять отдельно.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99613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996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2 — КАК СПРОСИТЬ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на вопросы не отвечает. Зато вероятности не врут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5394960" cy="3520440"/>
          </a:xfrm>
          <a:prstGeom prst="roundRect">
            <a:avLst>
              <a:gd name="adj" fmla="val 155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7331F"/>
          </a:solidFill>
          <a:ln w="12700">
            <a:solidFill>
              <a:srgbClr val="4FD7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44752" y="21214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7824" y="2980944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Даём утверждение и две концовки равной длины: «Это утверждение верно / ложно», «Ответ: да / нет».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7824" y="3566160"/>
            <a:ext cx="4773168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77824" y="3840480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= P(научный вердикт) / (P(научный) + P(псевдо)). 50 — безразличие, выше — наклон к науке.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7824" y="4425696"/>
            <a:ext cx="4773168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77824" y="4700016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base 0.5B / 1.5B / 3B — претрейн без SFT и RLHF.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1847088"/>
            <a:ext cx="5394960" cy="3520440"/>
          </a:xfrm>
          <a:prstGeom prst="roundRect">
            <a:avLst>
              <a:gd name="adj" fmla="val 155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10528" y="2103120"/>
            <a:ext cx="420624" cy="420624"/>
          </a:xfrm>
          <a:prstGeom prst="ellipse">
            <a:avLst/>
          </a:prstGeom>
          <a:solidFill>
            <a:srgbClr val="331A17"/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10528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77456" y="21214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ЛОВУШКИ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10528" y="2980944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— не чат: инструкции игнорирует, вопрос просто продолжает как текст. «Спросить» нельзя.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10528" y="3566160"/>
            <a:ext cx="4773168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510528" y="3840480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Наивный зонд меряет длину, а не мнение: одна частица «не» переворачивает знак.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10528" y="4425696"/>
            <a:ext cx="4773168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510528" y="4700016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концовки строго равной длины — и контрольные темы, где ответ заранее известен.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570585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Калибровка: на темах консенсуса (эволюция) зонд даёт 77–84 — наклон он ловит. Теперь — псевдонаука.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2205</Words>
  <Application>Microsoft Macintosh PowerPoint</Application>
  <PresentationFormat>Widescreen</PresentationFormat>
  <Paragraphs>306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Сжатие предпочитает согласованность, а не истину</dc:title>
  <dc:subject>PptxGenJS Presentation</dc:subject>
  <dc:creator>GigaRnD</dc:creator>
  <cp:lastModifiedBy>Konstantin Krestnikov</cp:lastModifiedBy>
  <cp:revision>6</cp:revision>
  <dcterms:created xsi:type="dcterms:W3CDTF">2026-08-22T16:49:50Z</dcterms:created>
  <dcterms:modified xsi:type="dcterms:W3CDTF">2026-08-24T08:35:44Z</dcterms:modified>
</cp:coreProperties>
</file>