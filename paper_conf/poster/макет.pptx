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sldIdLst>
    <p:sldId id="260" r:id="rId2"/>
    <p:sldId id="258" r:id="rId3"/>
  </p:sldIdLst>
  <p:sldSz cx="30275213" cy="42803763"/>
  <p:notesSz cx="6858000" cy="9144000"/>
  <p:embeddedFontLst>
    <p:embeddedFont>
      <p:font typeface="SB Sans Display" panose="020B0503040504020204" pitchFamily="34" charset="0"/>
      <p:regular r:id="rId4"/>
      <p:bold r:id="rId5"/>
    </p:embeddedFont>
    <p:embeddedFont>
      <p:font typeface="SB Sans Text" panose="020B0503040504020204" pitchFamily="34" charset="77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6"/>
    <p:restoredTop sz="96405"/>
  </p:normalViewPr>
  <p:slideViewPr>
    <p:cSldViewPr snapToGrid="0" snapToObjects="1">
      <p:cViewPr>
        <p:scale>
          <a:sx n="47" d="100"/>
          <a:sy n="47" d="100"/>
        </p:scale>
        <p:origin x="4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2C6EDCFF-8D00-BC45-8521-236FEBE0E010}"/>
              </a:ext>
            </a:extLst>
          </p:cNvPr>
          <p:cNvSpPr/>
          <p:nvPr userDrawn="1"/>
        </p:nvSpPr>
        <p:spPr>
          <a:xfrm>
            <a:off x="1465969" y="5308542"/>
            <a:ext cx="27315374" cy="1214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9E1E0A90-43AB-2642-AA3F-B02D470975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969" y="1591479"/>
            <a:ext cx="23515439" cy="2333966"/>
          </a:xfrm>
        </p:spPr>
        <p:txBody>
          <a:bodyPr anchor="t"/>
          <a:lstStyle>
            <a:lvl1pPr algn="l">
              <a:lnSpc>
                <a:spcPct val="100000"/>
              </a:lnSpc>
              <a:defRPr sz="6600" b="1"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r>
              <a:rPr lang="en-US">
                <a:effectLst/>
              </a:rPr>
              <a:t>MULTIMODAL END OF UTTERANCE MODEL FOR </a:t>
            </a:r>
            <a:br>
              <a:rPr lang="en-US"/>
            </a:br>
            <a:r>
              <a:rPr lang="en-US">
                <a:effectLst/>
              </a:rPr>
              <a:t>ASSISTANT DOMAIN SPEECH RECOGNITION</a:t>
            </a:r>
            <a:endParaRPr lang="en-US" dirty="0"/>
          </a:p>
        </p:txBody>
      </p:sp>
      <p:sp>
        <p:nvSpPr>
          <p:cNvPr id="75" name="Subtitle 2">
            <a:extLst>
              <a:ext uri="{FF2B5EF4-FFF2-40B4-BE49-F238E27FC236}">
                <a16:creationId xmlns:a16="http://schemas.microsoft.com/office/drawing/2014/main" id="{C3CBD370-4ADD-8C45-921E-0D6E9B680E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65969" y="4003750"/>
            <a:ext cx="27315374" cy="960935"/>
          </a:xfrm>
        </p:spPr>
        <p:txBody>
          <a:bodyPr/>
          <a:lstStyle>
            <a:lvl1pPr marL="0" indent="0" algn="l">
              <a:buNone/>
              <a:defRPr sz="4000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>
                <a:effectLst/>
              </a:rPr>
              <a:t>GigaChat Audio, </a:t>
            </a:r>
            <a:r>
              <a:rPr lang="ru-RU">
                <a:effectLst/>
              </a:rPr>
              <a:t>Сбер</a:t>
            </a:r>
            <a:endParaRPr lang="en-US" dirty="0"/>
          </a:p>
        </p:txBody>
      </p:sp>
      <p:sp>
        <p:nvSpPr>
          <p:cNvPr id="76" name="Date Placeholder 3">
            <a:extLst>
              <a:ext uri="{FF2B5EF4-FFF2-40B4-BE49-F238E27FC236}">
                <a16:creationId xmlns:a16="http://schemas.microsoft.com/office/drawing/2014/main" id="{5892F727-9CA8-8F4E-BB83-67D60B10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65968" y="41126696"/>
            <a:ext cx="6811923" cy="549463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2025 Сбер</a:t>
            </a:r>
            <a:endParaRPr lang="ru-RU" sz="3200"/>
          </a:p>
        </p:txBody>
      </p:sp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55F5E805-02F4-B34E-84E1-48A09D0D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381869" y="41126695"/>
            <a:ext cx="7427376" cy="549463"/>
          </a:xfrm>
        </p:spPr>
        <p:txBody>
          <a:bodyPr/>
          <a:lstStyle/>
          <a:p>
            <a:fld id="{65F1A4C4-72A2-D645-8846-5105D6344E0B}" type="slidenum">
              <a:t>‹#›</a:t>
            </a:fld>
            <a:endParaRPr lang="ru-RU"/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B37320B7-1B4D-F547-ADB6-B7E5757D6F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47378" y="1496865"/>
            <a:ext cx="2333965" cy="2333965"/>
          </a:xfrm>
          <a:prstGeom prst="rect">
            <a:avLst/>
          </a:prstGeom>
        </p:spPr>
      </p:pic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0977C155-2913-B645-9C03-D911B0D25E8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2270640" y="5555828"/>
            <a:ext cx="8105812" cy="967206"/>
          </a:xfrm>
        </p:spPr>
        <p:txBody>
          <a:bodyPr anchor="ctr"/>
          <a:lstStyle>
            <a:lvl1pPr marL="0" indent="0">
              <a:buNone/>
              <a:defRPr sz="6622">
                <a:solidFill>
                  <a:schemeClr val="bg1"/>
                </a:solidFill>
              </a:defRPr>
            </a:lvl1pPr>
            <a:lvl2pPr marL="151374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6000" b="1"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>Аннотация</a:t>
            </a:r>
            <a:endParaRPr lang="en-US" sz="60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B80F9890-D2CA-1443-BE77-E64BD623DFC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1048880" y="5555828"/>
            <a:ext cx="8105812" cy="967206"/>
          </a:xfrm>
        </p:spPr>
        <p:txBody>
          <a:bodyPr anchor="ctr"/>
          <a:lstStyle>
            <a:lvl1pPr marL="0" indent="0">
              <a:buNone/>
              <a:defRPr sz="6622">
                <a:solidFill>
                  <a:schemeClr val="bg1"/>
                </a:solidFill>
              </a:defRPr>
            </a:lvl1pPr>
            <a:lvl2pPr marL="151374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6000" b="1"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>Цели</a:t>
            </a:r>
            <a:endParaRPr lang="en-US" sz="60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C87FBB9-65B0-104B-A433-B3A7D252D9AD}"/>
              </a:ext>
            </a:extLst>
          </p:cNvPr>
          <p:cNvSpPr/>
          <p:nvPr userDrawn="1"/>
        </p:nvSpPr>
        <p:spPr>
          <a:xfrm>
            <a:off x="1465968" y="5363576"/>
            <a:ext cx="27315374" cy="6194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C35887A-0DA5-1644-A96F-47458990BEEE}"/>
              </a:ext>
            </a:extLst>
          </p:cNvPr>
          <p:cNvSpPr/>
          <p:nvPr userDrawn="1"/>
        </p:nvSpPr>
        <p:spPr>
          <a:xfrm>
            <a:off x="1465969" y="12038526"/>
            <a:ext cx="27315374" cy="1214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6113F3C-CF44-884E-8F58-FA19609620D8}"/>
              </a:ext>
            </a:extLst>
          </p:cNvPr>
          <p:cNvSpPr/>
          <p:nvPr userDrawn="1"/>
        </p:nvSpPr>
        <p:spPr>
          <a:xfrm>
            <a:off x="1465968" y="12093559"/>
            <a:ext cx="27315374" cy="21237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D9D41EE-DBED-C645-B54D-AE3EF18E4F42}"/>
              </a:ext>
            </a:extLst>
          </p:cNvPr>
          <p:cNvSpPr/>
          <p:nvPr userDrawn="1"/>
        </p:nvSpPr>
        <p:spPr>
          <a:xfrm>
            <a:off x="1465968" y="32960197"/>
            <a:ext cx="27315374" cy="12144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EB053E7B-7AC7-D74A-AB70-225DC2AE23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975168" y="33224041"/>
            <a:ext cx="7757344" cy="940589"/>
          </a:xfrm>
        </p:spPr>
        <p:txBody>
          <a:bodyPr anchor="ctr"/>
          <a:lstStyle>
            <a:lvl1pPr marL="0" indent="0">
              <a:buNone/>
              <a:defRPr sz="6622">
                <a:solidFill>
                  <a:schemeClr val="bg1"/>
                </a:solidFill>
              </a:defRPr>
            </a:lvl1pPr>
            <a:lvl2pPr marL="151374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6000" b="1"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>Результаты</a:t>
            </a:r>
            <a:endParaRPr lang="en-US" sz="60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39B2A73-E596-2746-8BB3-AA01030C4BCC}"/>
              </a:ext>
            </a:extLst>
          </p:cNvPr>
          <p:cNvSpPr/>
          <p:nvPr userDrawn="1"/>
        </p:nvSpPr>
        <p:spPr>
          <a:xfrm>
            <a:off x="1465968" y="33015230"/>
            <a:ext cx="27315374" cy="7493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6400FBBE-061F-9548-98EC-B2BCD246E54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70640" y="12249236"/>
            <a:ext cx="7757344" cy="967206"/>
          </a:xfrm>
        </p:spPr>
        <p:txBody>
          <a:bodyPr anchor="ctr"/>
          <a:lstStyle>
            <a:lvl1pPr marL="0" indent="0">
              <a:buNone/>
              <a:defRPr sz="6622">
                <a:solidFill>
                  <a:schemeClr val="bg1"/>
                </a:solidFill>
              </a:defRPr>
            </a:lvl1pPr>
            <a:lvl2pPr marL="151374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6000" b="1"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>Методы</a:t>
            </a:r>
            <a:endParaRPr lang="en-US" sz="60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88" name="Text Placeholder 53">
            <a:extLst>
              <a:ext uri="{FF2B5EF4-FFF2-40B4-BE49-F238E27FC236}">
                <a16:creationId xmlns:a16="http://schemas.microsoft.com/office/drawing/2014/main" id="{0EC050DE-7648-DF44-945D-756F338CF6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33439" y="13732002"/>
            <a:ext cx="6719760" cy="504922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ru-RU">
                <a:effectLst/>
              </a:rPr>
              <a:t>Заголовок</a:t>
            </a:r>
            <a:endParaRPr lang="ru-RU"/>
          </a:p>
        </p:txBody>
      </p:sp>
      <p:sp>
        <p:nvSpPr>
          <p:cNvPr id="89" name="Text Placeholder 53">
            <a:extLst>
              <a:ext uri="{FF2B5EF4-FFF2-40B4-BE49-F238E27FC236}">
                <a16:creationId xmlns:a16="http://schemas.microsoft.com/office/drawing/2014/main" id="{10873E76-F3CD-724A-BB86-E4F6CB5499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866096" y="13732003"/>
            <a:ext cx="6689853" cy="504922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ru-RU">
                <a:effectLst/>
              </a:rPr>
              <a:t>Заголовок</a:t>
            </a:r>
            <a:endParaRPr lang="ru-RU"/>
          </a:p>
        </p:txBody>
      </p:sp>
      <p:sp>
        <p:nvSpPr>
          <p:cNvPr id="90" name="Text Placeholder 56">
            <a:extLst>
              <a:ext uri="{FF2B5EF4-FFF2-40B4-BE49-F238E27FC236}">
                <a16:creationId xmlns:a16="http://schemas.microsoft.com/office/drawing/2014/main" id="{2D90F454-48C3-0E4A-8A96-F81EBAF5FE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994688" y="14426672"/>
            <a:ext cx="7561262" cy="3605741"/>
          </a:xfrm>
        </p:spPr>
        <p:txBody>
          <a:bodyPr/>
          <a:lstStyle>
            <a:lvl1pPr>
              <a:defRPr sz="270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1" name="Text Placeholder 56">
            <a:extLst>
              <a:ext uri="{FF2B5EF4-FFF2-40B4-BE49-F238E27FC236}">
                <a16:creationId xmlns:a16="http://schemas.microsoft.com/office/drawing/2014/main" id="{7CC94F33-4707-E149-95AE-CA495553538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691936" y="14426671"/>
            <a:ext cx="7561262" cy="7014103"/>
          </a:xfrm>
        </p:spPr>
        <p:txBody>
          <a:bodyPr/>
          <a:lstStyle>
            <a:lvl1pPr>
              <a:defRPr sz="270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2" name="Text Placeholder 53">
            <a:extLst>
              <a:ext uri="{FF2B5EF4-FFF2-40B4-BE49-F238E27FC236}">
                <a16:creationId xmlns:a16="http://schemas.microsoft.com/office/drawing/2014/main" id="{2345FF01-B702-E445-9817-B159098A42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1763038" y="18267426"/>
            <a:ext cx="6792911" cy="492797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ru-RU">
                <a:effectLst/>
              </a:rPr>
              <a:t>Заголовок</a:t>
            </a:r>
            <a:endParaRPr lang="ru-RU"/>
          </a:p>
        </p:txBody>
      </p:sp>
      <p:sp>
        <p:nvSpPr>
          <p:cNvPr id="93" name="Text Placeholder 56">
            <a:extLst>
              <a:ext uri="{FF2B5EF4-FFF2-40B4-BE49-F238E27FC236}">
                <a16:creationId xmlns:a16="http://schemas.microsoft.com/office/drawing/2014/main" id="{772784F9-94BB-2D43-A4BC-833804F796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994688" y="18962096"/>
            <a:ext cx="7561262" cy="2439785"/>
          </a:xfrm>
        </p:spPr>
        <p:txBody>
          <a:bodyPr/>
          <a:lstStyle>
            <a:lvl1pPr>
              <a:defRPr sz="270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4" name="Text Placeholder 56">
            <a:extLst>
              <a:ext uri="{FF2B5EF4-FFF2-40B4-BE49-F238E27FC236}">
                <a16:creationId xmlns:a16="http://schemas.microsoft.com/office/drawing/2014/main" id="{1C71A229-2497-F449-AE2D-2D3FE6BE2FC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975168" y="25143441"/>
            <a:ext cx="9912032" cy="2929428"/>
          </a:xfrm>
        </p:spPr>
        <p:txBody>
          <a:bodyPr/>
          <a:lstStyle>
            <a:lvl1pPr>
              <a:defRPr sz="2700"/>
            </a:lvl1pPr>
          </a:lstStyle>
          <a:p>
            <a:pPr lvl="0"/>
            <a:r>
              <a:rPr lang="en-GB"/>
              <a:t>Click to edit Master text styles</a:t>
            </a:r>
            <a:endParaRPr lang="ru-RU"/>
          </a:p>
        </p:txBody>
      </p:sp>
      <p:sp>
        <p:nvSpPr>
          <p:cNvPr id="95" name="Text Placeholder 53">
            <a:extLst>
              <a:ext uri="{FF2B5EF4-FFF2-40B4-BE49-F238E27FC236}">
                <a16:creationId xmlns:a16="http://schemas.microsoft.com/office/drawing/2014/main" id="{2509535F-9D11-514B-A14B-3C6B5FCA3A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75168" y="28355708"/>
            <a:ext cx="9912032" cy="694670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ru-RU">
                <a:effectLst/>
              </a:rPr>
              <a:t>Заголовок</a:t>
            </a:r>
            <a:endParaRPr lang="ru-RU"/>
          </a:p>
        </p:txBody>
      </p:sp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D38C7AEE-8F63-084D-A217-4D0E74F9CBCB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19967436" y="5555828"/>
            <a:ext cx="8219937" cy="967206"/>
          </a:xfrm>
        </p:spPr>
        <p:txBody>
          <a:bodyPr anchor="ctr"/>
          <a:lstStyle>
            <a:lvl1pPr marL="0" indent="0">
              <a:buNone/>
              <a:defRPr sz="6622">
                <a:solidFill>
                  <a:schemeClr val="bg1"/>
                </a:solidFill>
              </a:defRPr>
            </a:lvl1pPr>
            <a:lvl2pPr marL="1513743" indent="0">
              <a:buNone/>
              <a:defRPr sz="60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6000" b="1">
                <a:effectLst/>
                <a:latin typeface="SB Sans Display" panose="020B0503040504020204" pitchFamily="34" charset="0"/>
                <a:cs typeface="SB Sans Display" panose="020B0503040504020204" pitchFamily="34" charset="0"/>
              </a:rPr>
              <a:t>Идеи</a:t>
            </a:r>
            <a:endParaRPr lang="en-US" sz="6000" b="1" dirty="0">
              <a:latin typeface="SB Sans Display" panose="020B0503040504020204" pitchFamily="34" charset="0"/>
              <a:cs typeface="SB Sans Display" panose="020B0503040504020204" pitchFamily="34" charset="0"/>
            </a:endParaRPr>
          </a:p>
        </p:txBody>
      </p:sp>
      <p:sp>
        <p:nvSpPr>
          <p:cNvPr id="100" name="Content Placeholder 12">
            <a:extLst>
              <a:ext uri="{FF2B5EF4-FFF2-40B4-BE49-F238E27FC236}">
                <a16:creationId xmlns:a16="http://schemas.microsoft.com/office/drawing/2014/main" id="{BE1E2EC3-8D6A-A14C-8E7A-5DBDFA18DFCB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8531186" y="34524950"/>
            <a:ext cx="6376305" cy="5430838"/>
          </a:xfrm>
        </p:spPr>
        <p:txBody>
          <a:bodyPr/>
          <a:lstStyle/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01" name="Text Placeholder 14">
            <a:extLst>
              <a:ext uri="{FF2B5EF4-FFF2-40B4-BE49-F238E27FC236}">
                <a16:creationId xmlns:a16="http://schemas.microsoft.com/office/drawing/2014/main" id="{13458429-BB44-5241-9D53-C5B365DC8AB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136814" y="38431788"/>
            <a:ext cx="13341350" cy="152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ru-RU"/>
          </a:p>
        </p:txBody>
      </p:sp>
      <p:sp>
        <p:nvSpPr>
          <p:cNvPr id="102" name="Content Placeholder 12">
            <a:extLst>
              <a:ext uri="{FF2B5EF4-FFF2-40B4-BE49-F238E27FC236}">
                <a16:creationId xmlns:a16="http://schemas.microsoft.com/office/drawing/2014/main" id="{2A970045-154E-7940-B413-14A3DE40338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15125950" y="34524950"/>
            <a:ext cx="13352213" cy="3658690"/>
          </a:xfrm>
        </p:spPr>
        <p:txBody>
          <a:bodyPr/>
          <a:lstStyle/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03" name="Picture Placeholder 2">
            <a:extLst>
              <a:ext uri="{FF2B5EF4-FFF2-40B4-BE49-F238E27FC236}">
                <a16:creationId xmlns:a16="http://schemas.microsoft.com/office/drawing/2014/main" id="{EE01B063-4267-0842-847E-67AAF7A45764}"/>
              </a:ext>
            </a:extLst>
          </p:cNvPr>
          <p:cNvSpPr>
            <a:spLocks noGrp="1" noChangeAspect="1"/>
          </p:cNvSpPr>
          <p:nvPr>
            <p:ph type="pic" idx="43"/>
          </p:nvPr>
        </p:nvSpPr>
        <p:spPr>
          <a:xfrm>
            <a:off x="1974995" y="14720260"/>
            <a:ext cx="9912205" cy="9925932"/>
          </a:xfrm>
        </p:spPr>
        <p:txBody>
          <a:bodyPr anchor="t"/>
          <a:lstStyle>
            <a:lvl1pPr marL="0" indent="0">
              <a:buNone/>
              <a:defRPr sz="2800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04" name="Picture Placeholder 2">
            <a:extLst>
              <a:ext uri="{FF2B5EF4-FFF2-40B4-BE49-F238E27FC236}">
                <a16:creationId xmlns:a16="http://schemas.microsoft.com/office/drawing/2014/main" id="{5BDDFFE5-8CFE-D741-89D6-18C50402F1E6}"/>
              </a:ext>
            </a:extLst>
          </p:cNvPr>
          <p:cNvSpPr>
            <a:spLocks noGrp="1" noChangeAspect="1"/>
          </p:cNvSpPr>
          <p:nvPr>
            <p:ph type="pic" idx="44"/>
          </p:nvPr>
        </p:nvSpPr>
        <p:spPr>
          <a:xfrm>
            <a:off x="12664346" y="22138959"/>
            <a:ext cx="15886354" cy="7184120"/>
          </a:xfrm>
        </p:spPr>
        <p:txBody>
          <a:bodyPr anchor="t"/>
          <a:lstStyle>
            <a:lvl1pPr marL="0" indent="0">
              <a:buNone/>
              <a:defRPr sz="2800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D7EBBFF-A7EC-3D42-9433-FCD4F5E5F0E3}"/>
              </a:ext>
            </a:extLst>
          </p:cNvPr>
          <p:cNvSpPr/>
          <p:nvPr userDrawn="1"/>
        </p:nvSpPr>
        <p:spPr>
          <a:xfrm>
            <a:off x="12664345" y="13628252"/>
            <a:ext cx="675917" cy="6759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106" name="Text Placeholder 17">
            <a:extLst>
              <a:ext uri="{FF2B5EF4-FFF2-40B4-BE49-F238E27FC236}">
                <a16:creationId xmlns:a16="http://schemas.microsoft.com/office/drawing/2014/main" id="{FEF9FD1B-0276-E54D-A26D-0D3C32283EE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666266" y="13620002"/>
            <a:ext cx="673996" cy="684167"/>
          </a:xfrm>
        </p:spPr>
        <p:txBody>
          <a:bodyPr anchor="ctr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1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7B88D80-1B9A-984B-B907-4ECD5C4AB8E2}"/>
              </a:ext>
            </a:extLst>
          </p:cNvPr>
          <p:cNvSpPr/>
          <p:nvPr userDrawn="1"/>
        </p:nvSpPr>
        <p:spPr>
          <a:xfrm>
            <a:off x="20973458" y="13628252"/>
            <a:ext cx="675917" cy="6759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D87C745-B892-3448-A9C4-F57BF2D217B4}"/>
              </a:ext>
            </a:extLst>
          </p:cNvPr>
          <p:cNvSpPr/>
          <p:nvPr userDrawn="1"/>
        </p:nvSpPr>
        <p:spPr>
          <a:xfrm>
            <a:off x="20973458" y="18200252"/>
            <a:ext cx="675917" cy="6759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0" i="0">
              <a:latin typeface="SB Sans Text" panose="020B0503040504020204" pitchFamily="34" charset="77"/>
            </a:endParaRPr>
          </a:p>
        </p:txBody>
      </p:sp>
      <p:sp>
        <p:nvSpPr>
          <p:cNvPr id="109" name="Text Placeholder 17">
            <a:extLst>
              <a:ext uri="{FF2B5EF4-FFF2-40B4-BE49-F238E27FC236}">
                <a16:creationId xmlns:a16="http://schemas.microsoft.com/office/drawing/2014/main" id="{90A1B024-6550-B449-AA4A-712A7E43847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975379" y="13620002"/>
            <a:ext cx="673996" cy="684167"/>
          </a:xfrm>
        </p:spPr>
        <p:txBody>
          <a:bodyPr anchor="ctr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2</a:t>
            </a:r>
          </a:p>
        </p:txBody>
      </p:sp>
      <p:sp>
        <p:nvSpPr>
          <p:cNvPr id="110" name="Text Placeholder 17">
            <a:extLst>
              <a:ext uri="{FF2B5EF4-FFF2-40B4-BE49-F238E27FC236}">
                <a16:creationId xmlns:a16="http://schemas.microsoft.com/office/drawing/2014/main" id="{A94B0106-6450-DB49-9F23-4D61BF1D131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975379" y="18192002"/>
            <a:ext cx="673996" cy="684167"/>
          </a:xfrm>
        </p:spPr>
        <p:txBody>
          <a:bodyPr anchor="ctr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3</a:t>
            </a:r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9790842B-90A6-BB4E-BF3C-DE8A21867A53}"/>
              </a:ext>
            </a:extLst>
          </p:cNvPr>
          <p:cNvSpPr>
            <a:spLocks noGrp="1"/>
          </p:cNvSpPr>
          <p:nvPr>
            <p:ph sz="half" idx="48"/>
          </p:nvPr>
        </p:nvSpPr>
        <p:spPr>
          <a:xfrm>
            <a:off x="1758950" y="6921925"/>
            <a:ext cx="8680727" cy="416022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2" name="Content Placeholder 2">
            <a:extLst>
              <a:ext uri="{FF2B5EF4-FFF2-40B4-BE49-F238E27FC236}">
                <a16:creationId xmlns:a16="http://schemas.microsoft.com/office/drawing/2014/main" id="{9E464734-8E37-F344-A2C1-33182A90EE53}"/>
              </a:ext>
            </a:extLst>
          </p:cNvPr>
          <p:cNvSpPr>
            <a:spLocks noGrp="1"/>
          </p:cNvSpPr>
          <p:nvPr>
            <p:ph sz="half" idx="49"/>
          </p:nvPr>
        </p:nvSpPr>
        <p:spPr>
          <a:xfrm>
            <a:off x="11022220" y="6921925"/>
            <a:ext cx="8219937" cy="416022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3" name="Content Placeholder 2">
            <a:extLst>
              <a:ext uri="{FF2B5EF4-FFF2-40B4-BE49-F238E27FC236}">
                <a16:creationId xmlns:a16="http://schemas.microsoft.com/office/drawing/2014/main" id="{ACDB08D4-4113-D04D-B5E4-7B390EC29F20}"/>
              </a:ext>
            </a:extLst>
          </p:cNvPr>
          <p:cNvSpPr>
            <a:spLocks noGrp="1"/>
          </p:cNvSpPr>
          <p:nvPr>
            <p:ph sz="half" idx="50"/>
          </p:nvPr>
        </p:nvSpPr>
        <p:spPr>
          <a:xfrm>
            <a:off x="19967437" y="6921925"/>
            <a:ext cx="8219937" cy="416022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14" name="Text Placeholder 53">
            <a:extLst>
              <a:ext uri="{FF2B5EF4-FFF2-40B4-BE49-F238E27FC236}">
                <a16:creationId xmlns:a16="http://schemas.microsoft.com/office/drawing/2014/main" id="{8FB7E2AF-E871-AE42-932D-398846E4178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74994" y="13732002"/>
            <a:ext cx="9912205" cy="694670"/>
          </a:xfrm>
        </p:spPr>
        <p:txBody>
          <a:bodyPr/>
          <a:lstStyle>
            <a:lvl1pPr algn="ctr">
              <a:defRPr sz="3200" b="1"/>
            </a:lvl1pPr>
          </a:lstStyle>
          <a:p>
            <a:pPr lvl="0"/>
            <a:r>
              <a:rPr lang="ru-RU">
                <a:effectLst/>
              </a:rPr>
              <a:t>Заголовок</a:t>
            </a:r>
            <a:endParaRPr lang="ru-RU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EC0B55-45C4-F648-B29B-27849664A2D5}"/>
              </a:ext>
            </a:extLst>
          </p:cNvPr>
          <p:cNvCxnSpPr/>
          <p:nvPr userDrawn="1"/>
        </p:nvCxnSpPr>
        <p:spPr>
          <a:xfrm>
            <a:off x="10751127" y="6921925"/>
            <a:ext cx="0" cy="41602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1760D94-617C-0749-A343-CC5F252D3B99}"/>
              </a:ext>
            </a:extLst>
          </p:cNvPr>
          <p:cNvCxnSpPr/>
          <p:nvPr userDrawn="1"/>
        </p:nvCxnSpPr>
        <p:spPr>
          <a:xfrm>
            <a:off x="19618036" y="6921925"/>
            <a:ext cx="0" cy="41602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E8DA49B-FCAF-134F-96A9-7922C0F253E6}"/>
              </a:ext>
            </a:extLst>
          </p:cNvPr>
          <p:cNvCxnSpPr>
            <a:cxnSpLocks/>
          </p:cNvCxnSpPr>
          <p:nvPr userDrawn="1"/>
        </p:nvCxnSpPr>
        <p:spPr>
          <a:xfrm>
            <a:off x="20587855" y="13710652"/>
            <a:ext cx="5251" cy="82992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47EBAA5-45EA-8F47-ABF3-1A57C628D8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460288" y="21982240"/>
            <a:ext cx="163210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ontent Placeholder 12">
            <a:extLst>
              <a:ext uri="{FF2B5EF4-FFF2-40B4-BE49-F238E27FC236}">
                <a16:creationId xmlns:a16="http://schemas.microsoft.com/office/drawing/2014/main" id="{330F41BE-2980-B64D-B9D2-0AE9654E603A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1936422" y="34524950"/>
            <a:ext cx="6376305" cy="5430838"/>
          </a:xfrm>
        </p:spPr>
        <p:txBody>
          <a:bodyPr/>
          <a:lstStyle/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4F098A09-18A2-C348-A90A-0FA693E41E5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2664346" y="29509461"/>
            <a:ext cx="15891604" cy="24668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ru-RU"/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9CD49CF4-CC7E-2244-9606-8C4890247DE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74995" y="29509461"/>
            <a:ext cx="10051140" cy="246683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ru-RU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03E1CD9-D3F7-2346-A1E0-8D334218E9D0}"/>
              </a:ext>
            </a:extLst>
          </p:cNvPr>
          <p:cNvCxnSpPr>
            <a:cxnSpLocks/>
          </p:cNvCxnSpPr>
          <p:nvPr userDrawn="1"/>
        </p:nvCxnSpPr>
        <p:spPr>
          <a:xfrm>
            <a:off x="12413672" y="13738362"/>
            <a:ext cx="0" cy="18237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607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06" userDrawn="1">
          <p15:clr>
            <a:srgbClr val="FBAE40"/>
          </p15:clr>
        </p15:guide>
        <p15:guide id="2" pos="95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301" y="1552575"/>
            <a:ext cx="27431998" cy="4262564"/>
          </a:xfrm>
        </p:spPr>
        <p:txBody>
          <a:bodyPr/>
          <a:lstStyle>
            <a:lvl1pPr>
              <a:defRPr sz="6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301" y="6302752"/>
            <a:ext cx="27397042" cy="34540447"/>
          </a:xfrm>
        </p:spPr>
        <p:txBody>
          <a:bodyPr/>
          <a:lstStyle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84300" y="41251188"/>
            <a:ext cx="6811923" cy="700472"/>
          </a:xfrm>
        </p:spPr>
        <p:txBody>
          <a:bodyPr/>
          <a:lstStyle/>
          <a:p>
            <a:fld id="{2DD1E058-D2D4-CD41-BC83-AD69BB0DE3A6}" type="datetimeFigureOut">
              <a:t>11/26/25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969420" y="41251188"/>
            <a:ext cx="6811923" cy="700472"/>
          </a:xfrm>
        </p:spPr>
        <p:txBody>
          <a:bodyPr/>
          <a:lstStyle/>
          <a:p>
            <a:fld id="{65F1A4C4-72A2-D645-8846-5105D6344E0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547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2" userDrawn="1">
          <p15:clr>
            <a:srgbClr val="FBAE40"/>
          </p15:clr>
        </p15:guide>
        <p15:guide id="2" pos="18152" userDrawn="1">
          <p15:clr>
            <a:srgbClr val="FBAE40"/>
          </p15:clr>
        </p15:guide>
        <p15:guide id="3" orient="horz" pos="97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42625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7244862"/>
            <a:ext cx="26112371" cy="31308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  <a:latin typeface="SB Sans Text" panose="020B0503040504020204" pitchFamily="34" charset="77"/>
                <a:cs typeface="SB Sans Text" panose="020B0503040504020204" pitchFamily="34" charset="77"/>
              </a:defRPr>
            </a:lvl1pPr>
          </a:lstStyle>
          <a:p>
            <a:fld id="{2DD1E058-D2D4-CD41-BC83-AD69BB0DE3A6}" type="datetimeFigureOut">
              <a:rPr lang="ru-RU"/>
              <a:pPr/>
              <a:t>26.11.2025</a:t>
            </a:fld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  <a:latin typeface="SB Sans Text" panose="020B0503040504020204" pitchFamily="34" charset="77"/>
                <a:cs typeface="SB Sans Text" panose="020B0503040504020204" pitchFamily="34" charset="77"/>
              </a:defRPr>
            </a:lvl1pPr>
          </a:lstStyle>
          <a:p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  <a:latin typeface="SB Sans Text" panose="020B0503040504020204" pitchFamily="34" charset="77"/>
                <a:cs typeface="SB Sans Text" panose="020B0503040504020204" pitchFamily="34" charset="77"/>
              </a:defRPr>
            </a:lvl1pPr>
          </a:lstStyle>
          <a:p>
            <a:fld id="{65F1A4C4-72A2-D645-8846-5105D6344E0B}" type="slidenum">
              <a:rPr lang="ru-RU"/>
              <a:pPr/>
              <a:t>‹#›</a:t>
            </a:fld>
            <a:endParaRPr lang="ru-RU">
              <a:latin typeface="SB Sans Text" panose="020B0503040504020204" pitchFamily="34" charset="77"/>
              <a:cs typeface="SB Sans Text" panose="020B0503040504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8349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9600" kern="1200">
          <a:solidFill>
            <a:schemeClr val="tx1"/>
          </a:solidFill>
          <a:latin typeface="SB Sans Display" panose="020B0503040504020204" pitchFamily="34" charset="0"/>
          <a:ea typeface="+mj-ea"/>
          <a:cs typeface="SB Sans Display" panose="020B0503040504020204" pitchFamily="34" charset="0"/>
        </a:defRPr>
      </a:lvl1pPr>
    </p:titleStyle>
    <p:bodyStyle>
      <a:lvl1pPr marL="0" indent="0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SB Sans Text" panose="020B0503040504020204" pitchFamily="34" charset="77"/>
          <a:ea typeface="+mn-ea"/>
          <a:cs typeface="SB Sans Text" panose="020B0503040504020204" pitchFamily="34" charset="77"/>
        </a:defRPr>
      </a:lvl1pPr>
      <a:lvl2pPr marL="1513743" indent="0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SB Sans Text" panose="020B0503040504020204" pitchFamily="34" charset="77"/>
          <a:ea typeface="+mn-ea"/>
          <a:cs typeface="SB Sans Text" panose="020B0503040504020204" pitchFamily="34" charset="77"/>
        </a:defRPr>
      </a:lvl2pPr>
      <a:lvl3pPr marL="3027487" indent="0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SB Sans Text" panose="020B0503040504020204" pitchFamily="34" charset="77"/>
          <a:ea typeface="+mn-ea"/>
          <a:cs typeface="SB Sans Text" panose="020B0503040504020204" pitchFamily="34" charset="77"/>
        </a:defRPr>
      </a:lvl3pPr>
      <a:lvl4pPr marL="4541230" indent="0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SB Sans Text" panose="020B0503040504020204" pitchFamily="34" charset="77"/>
          <a:ea typeface="+mn-ea"/>
          <a:cs typeface="SB Sans Text" panose="020B0503040504020204" pitchFamily="34" charset="77"/>
        </a:defRPr>
      </a:lvl4pPr>
      <a:lvl5pPr marL="6054974" indent="0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SB Sans Text" panose="020B0503040504020204" pitchFamily="34" charset="77"/>
          <a:ea typeface="+mn-ea"/>
          <a:cs typeface="SB Sans Text" panose="020B0503040504020204" pitchFamily="34" charset="77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B25A47-905C-B544-A762-3857E6482D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0E77194-C94F-624C-9247-7989AA8CF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514A06-910C-F641-88C4-A3A31284565B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3736BC-0FDC-0A43-A9C2-9BD14C2A3D09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D89655-8459-6C46-BF59-AA8D726D2BBE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57C8FAE-A195-D64E-8BEA-70046768662A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24D589-FB67-2448-8625-199EBD1C5DA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DE4590A-FB4D-7D4D-866E-059047BE4FD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E959379-2697-184E-984F-3C8251F6198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EAAC8D-CBC2-6F41-9C55-CC59B4B07EC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B67F091-50D6-7747-AE9D-0D92C55554D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936A9A-4C1D-9F42-A353-82E11711826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20D7D8E-DD21-E64E-81A9-1660E42537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75549F2-2C97-CC44-AD4A-A136B44892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3D00104-FC81-E04A-B217-8196FAF1B032}"/>
              </a:ext>
            </a:extLst>
          </p:cNvPr>
          <p:cNvSpPr>
            <a:spLocks noGrp="1"/>
          </p:cNvSpPr>
          <p:nvPr>
            <p:ph type="body" idx="3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2267FD4-74F0-9B4B-95A4-F2C4F016DD65}"/>
              </a:ext>
            </a:extLst>
          </p:cNvPr>
          <p:cNvSpPr>
            <a:spLocks noGrp="1"/>
          </p:cNvSpPr>
          <p:nvPr>
            <p:ph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25D06E2-6259-414C-86D8-093EDCAA15C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899396B-7081-1148-913E-5EB3055CB242}"/>
              </a:ext>
            </a:extLst>
          </p:cNvPr>
          <p:cNvSpPr>
            <a:spLocks noGrp="1"/>
          </p:cNvSpPr>
          <p:nvPr>
            <p:ph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A892EDB-8AD8-6D46-A0D6-49F3CB17ABBB}"/>
              </a:ext>
            </a:extLst>
          </p:cNvPr>
          <p:cNvSpPr>
            <a:spLocks noGrp="1"/>
          </p:cNvSpPr>
          <p:nvPr>
            <p:ph type="pic" idx="43"/>
          </p:nvPr>
        </p:nvSpPr>
        <p:spPr/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2ACFF73-CC68-2B4B-A6D7-25D65C8EE3C0}"/>
              </a:ext>
            </a:extLst>
          </p:cNvPr>
          <p:cNvSpPr>
            <a:spLocks noGrp="1"/>
          </p:cNvSpPr>
          <p:nvPr>
            <p:ph type="pic" idx="44"/>
          </p:nvPr>
        </p:nvSpPr>
        <p:spPr/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0EAEDAC-26CE-6A4C-B668-65A5ACE8D1D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150128C-7378-8548-B188-78D3DE5E906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67FCC72-CEE4-6342-B16D-F8BBF2A157A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59B30CDB-FCFF-9D4D-8ACF-5BC752EB27B4}"/>
              </a:ext>
            </a:extLst>
          </p:cNvPr>
          <p:cNvSpPr>
            <a:spLocks noGrp="1"/>
          </p:cNvSpPr>
          <p:nvPr>
            <p:ph sz="half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C65C2BC5-CBE0-0B41-A933-06823C68A007}"/>
              </a:ext>
            </a:extLst>
          </p:cNvPr>
          <p:cNvSpPr>
            <a:spLocks noGrp="1"/>
          </p:cNvSpPr>
          <p:nvPr>
            <p:ph sz="half" idx="4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2A62B78B-4CB2-224F-9688-D7CFE24F195F}"/>
              </a:ext>
            </a:extLst>
          </p:cNvPr>
          <p:cNvSpPr>
            <a:spLocks noGrp="1"/>
          </p:cNvSpPr>
          <p:nvPr>
            <p:ph sz="half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87972B7-7699-FB40-9149-6E9D115B1A9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5531C0E3-07DA-A84A-8371-310F4F158715}"/>
              </a:ext>
            </a:extLst>
          </p:cNvPr>
          <p:cNvSpPr>
            <a:spLocks noGrp="1"/>
          </p:cNvSpPr>
          <p:nvPr>
            <p:ph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98FE8DA-A849-E143-B700-B93368B31F0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A4016007-DEFA-DB47-AF1D-D2D5CC83599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0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14B209-5F41-F143-9229-AC3ABE275D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E9597E4-3013-0A47-9C45-CD60D1999E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0AD874-B0F4-5F40-9D6B-04289D9D2086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0A4563-E016-2546-BFD0-3E362B9ABA1B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1AA33E-3296-9746-BB10-FE8A32CBA55A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B78E877-5AE1-5249-B8DC-2E678F4D1A9E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A871EE0-EFAD-7640-9D3D-5142D04E7DB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lnSpcReduction="10000"/>
          </a:bodyPr>
          <a:lstStyle/>
          <a:p>
            <a:r>
              <a:rPr lang="ru-RU">
                <a:effectLst/>
              </a:rPr>
              <a:t>Предобучение</a:t>
            </a:r>
            <a:endParaRPr lang="ru-R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0B0A5B0-39F8-5841-AD89-FCE42189483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r>
              <a:rPr lang="ru-RU">
                <a:effectLst/>
              </a:rPr>
              <a:t>Дополнительная задача</a:t>
            </a:r>
            <a:endParaRPr lang="ru-RU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773936-AD9A-B642-895A-F379B75BA6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994687" y="14426672"/>
            <a:ext cx="7786655" cy="3605741"/>
          </a:xfrm>
        </p:spPr>
        <p:txBody>
          <a:bodyPr>
            <a:noAutofit/>
          </a:bodyPr>
          <a:lstStyle/>
          <a:p>
            <a:r>
              <a:rPr lang="ru-RU" sz="2800">
                <a:effectLst/>
              </a:rPr>
              <a:t>Качество работы акустического блока </a:t>
            </a:r>
            <a:br>
              <a:rPr lang="ru-RU" sz="2800">
                <a:effectLst/>
              </a:rPr>
            </a:br>
            <a:r>
              <a:rPr lang="ru-RU" sz="2800">
                <a:effectLst/>
              </a:rPr>
              <a:t>в свою очередь совершенствовалось за счет параллельного решения задачи </a:t>
            </a:r>
            <a:r>
              <a:rPr lang="en-US" sz="2800">
                <a:effectLst/>
              </a:rPr>
              <a:t>VAD.</a:t>
            </a:r>
            <a:br>
              <a:rPr lang="en-US" sz="2800"/>
            </a:br>
            <a:r>
              <a:rPr lang="ru-RU" sz="2800">
                <a:effectLst/>
              </a:rPr>
              <a:t>На каждое окно звука приходилась вероятность наличия в нем голоса. Цель этого подхода уравновесить классовый дисбаланс </a:t>
            </a:r>
            <a:r>
              <a:rPr lang="en-US" sz="2800">
                <a:effectLst/>
              </a:rPr>
              <a:t>EOU </a:t>
            </a:r>
            <a:r>
              <a:rPr lang="ru-RU" sz="2800">
                <a:effectLst/>
              </a:rPr>
              <a:t>задачи и заставить модель больше внимания обращать </a:t>
            </a:r>
            <a:br>
              <a:rPr lang="ru-RU" sz="2800">
                <a:effectLst/>
              </a:rPr>
            </a:br>
            <a:r>
              <a:rPr lang="ru-RU" sz="2800">
                <a:effectLst/>
              </a:rPr>
              <a:t>на </a:t>
            </a:r>
            <a:r>
              <a:rPr lang="ru-RU" sz="2800" b="1">
                <a:effectLst/>
              </a:rPr>
              <a:t>звук с речью.</a:t>
            </a:r>
            <a:endParaRPr lang="ru-RU" sz="28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AD5DC6-77B0-FE4D-B09C-2E8C71E4BFD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691936" y="14426671"/>
            <a:ext cx="7786654" cy="7014103"/>
          </a:xfrm>
        </p:spPr>
        <p:txBody>
          <a:bodyPr>
            <a:normAutofit/>
          </a:bodyPr>
          <a:lstStyle/>
          <a:p>
            <a:r>
              <a:rPr lang="ru-RU" sz="2800">
                <a:effectLst/>
              </a:rPr>
              <a:t>Текстовые данные значительно проще собирать и анализировать, чем аудио. Поэтому был создан отдельный текстовый датасет со сбалансированными доменами, широкой диверсификацией </a:t>
            </a:r>
            <a:br>
              <a:rPr lang="ru-RU" sz="2800">
                <a:effectLst/>
              </a:rPr>
            </a:br>
            <a:r>
              <a:rPr lang="ru-RU" sz="2800">
                <a:effectLst/>
              </a:rPr>
              <a:t>и выверенным продуктовым поведением для </a:t>
            </a:r>
            <a:r>
              <a:rPr lang="ru-RU" sz="2800" b="1">
                <a:effectLst/>
              </a:rPr>
              <a:t>предобучения</a:t>
            </a:r>
            <a:r>
              <a:rPr lang="ru-RU" sz="2800">
                <a:effectLst/>
              </a:rPr>
              <a:t> </a:t>
            </a:r>
            <a:r>
              <a:rPr lang="en-US" sz="2800" b="1">
                <a:effectLst/>
              </a:rPr>
              <a:t>Text Encoder</a:t>
            </a:r>
            <a:r>
              <a:rPr lang="en-US" sz="2800">
                <a:effectLst/>
              </a:rPr>
              <a:t> (BERT) </a:t>
            </a:r>
            <a:r>
              <a:rPr lang="ru-RU" sz="2800">
                <a:effectLst/>
              </a:rPr>
              <a:t>с той же задачей </a:t>
            </a:r>
            <a:r>
              <a:rPr lang="en-US" sz="2800">
                <a:effectLst/>
              </a:rPr>
              <a:t>EOU, </a:t>
            </a:r>
            <a:r>
              <a:rPr lang="ru-RU" sz="2800">
                <a:effectLst/>
              </a:rPr>
              <a:t>но исключительно по текстовым признакам.</a:t>
            </a:r>
            <a:br>
              <a:rPr lang="ru-RU" sz="2800"/>
            </a:br>
            <a:br>
              <a:rPr lang="ru-RU" sz="2800"/>
            </a:br>
            <a:r>
              <a:rPr lang="ru-RU" sz="2800">
                <a:effectLst/>
              </a:rPr>
              <a:t>В основном пайплайне обучения слои </a:t>
            </a:r>
            <a:r>
              <a:rPr lang="en-US" sz="2800" b="1">
                <a:effectLst/>
              </a:rPr>
              <a:t>Text Encoder</a:t>
            </a:r>
            <a:r>
              <a:rPr lang="en-US" sz="2800">
                <a:effectLst/>
              </a:rPr>
              <a:t>’</a:t>
            </a:r>
            <a:r>
              <a:rPr lang="ru-RU" sz="2800">
                <a:effectLst/>
              </a:rPr>
              <a:t>а были </a:t>
            </a:r>
            <a:r>
              <a:rPr lang="ru-RU" sz="2800" b="1" u="sng">
                <a:effectLst/>
              </a:rPr>
              <a:t>заморожены</a:t>
            </a:r>
            <a:r>
              <a:rPr lang="ru-RU" sz="2800">
                <a:effectLst/>
              </a:rPr>
              <a:t> </a:t>
            </a:r>
            <a:br>
              <a:rPr lang="ru-RU" sz="2800">
                <a:effectLst/>
              </a:rPr>
            </a:br>
            <a:r>
              <a:rPr lang="ru-RU" sz="2800">
                <a:effectLst/>
              </a:rPr>
              <a:t>и не меняли свои веса, а из его выходов использовался лишь эмбеддинг &lt;</a:t>
            </a:r>
            <a:r>
              <a:rPr lang="en-US" sz="2800">
                <a:effectLst/>
              </a:rPr>
              <a:t>CLS&gt; </a:t>
            </a:r>
            <a:r>
              <a:rPr lang="ru-RU" sz="2800">
                <a:effectLst/>
              </a:rPr>
              <a:t>токена.</a:t>
            </a:r>
            <a:endParaRPr lang="ru-RU" sz="280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9BE6B46-94FB-3949-9ED8-339780D194C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effectLst/>
              </a:rPr>
              <a:t>Prefetch</a:t>
            </a:r>
            <a:endParaRPr lang="ru-R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C818B7B-26DC-0441-A912-E3C3160A62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994688" y="18962096"/>
            <a:ext cx="7561262" cy="2872668"/>
          </a:xfrm>
        </p:spPr>
        <p:txBody>
          <a:bodyPr>
            <a:normAutofit/>
          </a:bodyPr>
          <a:lstStyle/>
          <a:p>
            <a:r>
              <a:rPr lang="en-US" sz="2800">
                <a:effectLst/>
              </a:rPr>
              <a:t>EOU </a:t>
            </a:r>
            <a:r>
              <a:rPr lang="ru-RU" sz="2800">
                <a:effectLst/>
              </a:rPr>
              <a:t>выход </a:t>
            </a:r>
            <a:r>
              <a:rPr lang="en-US" sz="2800">
                <a:effectLst/>
              </a:rPr>
              <a:t>Text Encoder’</a:t>
            </a:r>
            <a:r>
              <a:rPr lang="ru-RU" sz="2800">
                <a:effectLst/>
              </a:rPr>
              <a:t>а, полученный при его предобучении, можно использовать в качестве компоненты </a:t>
            </a:r>
            <a:r>
              <a:rPr lang="en-US" sz="2800">
                <a:effectLst/>
              </a:rPr>
              <a:t>Prefetch – </a:t>
            </a:r>
            <a:r>
              <a:rPr lang="ru-RU" sz="2800">
                <a:effectLst/>
              </a:rPr>
              <a:t>оценивающей вероятность финальной гипотезы для </a:t>
            </a:r>
            <a:r>
              <a:rPr lang="ru-RU" sz="2800" b="1">
                <a:effectLst/>
              </a:rPr>
              <a:t>уменьшения задержки </a:t>
            </a:r>
            <a:r>
              <a:rPr lang="en-US" sz="2800" b="1">
                <a:effectLst/>
              </a:rPr>
              <a:t>NLP-</a:t>
            </a:r>
            <a:r>
              <a:rPr lang="ru-RU" sz="2800" b="1">
                <a:effectLst/>
              </a:rPr>
              <a:t>системы</a:t>
            </a:r>
            <a:endParaRPr lang="ru-RU" sz="28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17E60B5-F50C-544F-BD89-6E49E9F9D5D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974995" y="25143441"/>
            <a:ext cx="10051140" cy="2693034"/>
          </a:xfrm>
        </p:spPr>
        <p:txBody>
          <a:bodyPr>
            <a:noAutofit/>
          </a:bodyPr>
          <a:lstStyle/>
          <a:p>
            <a:r>
              <a:rPr lang="ru-RU" sz="2800">
                <a:effectLst/>
              </a:rPr>
              <a:t>На вход модели подаются: текущая гипотеза </a:t>
            </a:r>
            <a:r>
              <a:rPr lang="en-US" sz="2800">
                <a:effectLst/>
              </a:rPr>
              <a:t>ASR, mel-</a:t>
            </a:r>
            <a:r>
              <a:rPr lang="ru-RU" sz="2800">
                <a:effectLst/>
              </a:rPr>
              <a:t>спектрограммы окон звука по 100 мс и предыдущее состояние </a:t>
            </a:r>
            <a:r>
              <a:rPr lang="en-US" sz="2800">
                <a:effectLst/>
              </a:rPr>
              <a:t>Acoustic Encoder’</a:t>
            </a:r>
            <a:r>
              <a:rPr lang="ru-RU" sz="2800">
                <a:effectLst/>
              </a:rPr>
              <a:t>а. На каждое окно звука на выходе имеем вероятности </a:t>
            </a:r>
            <a:r>
              <a:rPr lang="en-US" sz="2800">
                <a:effectLst/>
              </a:rPr>
              <a:t>EOU </a:t>
            </a:r>
            <a:r>
              <a:rPr lang="ru-RU" sz="2800">
                <a:effectLst/>
              </a:rPr>
              <a:t>и </a:t>
            </a:r>
            <a:r>
              <a:rPr lang="en-US" sz="2800">
                <a:effectLst/>
              </a:rPr>
              <a:t>VAD.</a:t>
            </a:r>
            <a:br>
              <a:rPr lang="en-US" sz="2800"/>
            </a:br>
            <a:r>
              <a:rPr lang="ru-RU" sz="2800">
                <a:effectLst/>
              </a:rPr>
              <a:t>Эмбеддинги </a:t>
            </a:r>
            <a:r>
              <a:rPr lang="ru-RU" sz="2800" b="1">
                <a:effectLst/>
              </a:rPr>
              <a:t>Акустического</a:t>
            </a:r>
            <a:r>
              <a:rPr lang="ru-RU" sz="2800">
                <a:effectLst/>
              </a:rPr>
              <a:t> и </a:t>
            </a:r>
            <a:r>
              <a:rPr lang="ru-RU" sz="2800" b="1">
                <a:effectLst/>
              </a:rPr>
              <a:t>Текстового</a:t>
            </a:r>
            <a:r>
              <a:rPr lang="ru-RU" sz="2800">
                <a:effectLst/>
              </a:rPr>
              <a:t> энкодеров конкатенируются и обрабатываются </a:t>
            </a:r>
            <a:r>
              <a:rPr lang="ru-RU" sz="2800" b="1">
                <a:effectLst/>
              </a:rPr>
              <a:t>Агрегатором</a:t>
            </a:r>
            <a:r>
              <a:rPr lang="ru-RU" sz="2800">
                <a:effectLst/>
              </a:rPr>
              <a:t>. </a:t>
            </a:r>
            <a:endParaRPr lang="ru-RU" sz="28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D87551C-82F1-D244-BFFF-12F72FB9443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975168" y="27836475"/>
            <a:ext cx="10272250" cy="694670"/>
          </a:xfrm>
        </p:spPr>
        <p:txBody>
          <a:bodyPr/>
          <a:lstStyle/>
          <a:p>
            <a:r>
              <a:rPr lang="ru-RU">
                <a:effectLst/>
              </a:rPr>
              <a:t>Особенности инференса</a:t>
            </a:r>
            <a:endParaRPr lang="ru-RU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575E5C6-DEEA-3341-B704-213671629971}"/>
              </a:ext>
            </a:extLst>
          </p:cNvPr>
          <p:cNvSpPr>
            <a:spLocks noGrp="1"/>
          </p:cNvSpPr>
          <p:nvPr>
            <p:ph type="body" idx="3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pic>
        <p:nvPicPr>
          <p:cNvPr id="54" name="Content Placeholder 53">
            <a:extLst>
              <a:ext uri="{FF2B5EF4-FFF2-40B4-BE49-F238E27FC236}">
                <a16:creationId xmlns:a16="http://schemas.microsoft.com/office/drawing/2014/main" id="{3E2C21C4-B0EC-5E46-8964-48A367CE568B}"/>
              </a:ext>
            </a:extLst>
          </p:cNvPr>
          <p:cNvPicPr>
            <a:picLocks noGrp="1" noChangeAspect="1"/>
          </p:cNvPicPr>
          <p:nvPr>
            <p:ph sz="quarter" idx="40"/>
          </p:nvPr>
        </p:nvPicPr>
        <p:blipFill>
          <a:blip r:embed="rId2"/>
          <a:stretch>
            <a:fillRect/>
          </a:stretch>
        </p:blipFill>
        <p:spPr>
          <a:xfrm>
            <a:off x="8327736" y="34602160"/>
            <a:ext cx="6668666" cy="5186740"/>
          </a:xfr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E84E4C3-E403-C044-91F0-92FD5AA923C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ru-RU">
                <a:effectLst/>
              </a:rPr>
              <a:t>Удалось сократить задержку </a:t>
            </a:r>
            <a:r>
              <a:rPr lang="en-US">
                <a:effectLst/>
              </a:rPr>
              <a:t>EOU </a:t>
            </a:r>
            <a:r>
              <a:rPr lang="ru-RU">
                <a:effectLst/>
              </a:rPr>
              <a:t>более чем на </a:t>
            </a:r>
            <a:r>
              <a:rPr lang="ru-RU" b="1">
                <a:effectLst/>
              </a:rPr>
              <a:t>25%</a:t>
            </a:r>
            <a:r>
              <a:rPr lang="ru-RU">
                <a:effectLst/>
              </a:rPr>
              <a:t> без существенного роста ранних активаций, а также значительно улучшить долю дослушиваний на отдельных доменах.</a:t>
            </a:r>
            <a:endParaRPr lang="ru-RU"/>
          </a:p>
        </p:txBody>
      </p:sp>
      <p:pic>
        <p:nvPicPr>
          <p:cNvPr id="52" name="Content Placeholder 51">
            <a:extLst>
              <a:ext uri="{FF2B5EF4-FFF2-40B4-BE49-F238E27FC236}">
                <a16:creationId xmlns:a16="http://schemas.microsoft.com/office/drawing/2014/main" id="{43B11F67-A78F-AE46-A459-F3576648647F}"/>
              </a:ext>
            </a:extLst>
          </p:cNvPr>
          <p:cNvPicPr>
            <a:picLocks noGrp="1" noChangeAspect="1"/>
          </p:cNvPicPr>
          <p:nvPr>
            <p:ph sz="quarter" idx="42"/>
          </p:nvPr>
        </p:nvPicPr>
        <p:blipFill>
          <a:blip r:embed="rId3"/>
          <a:stretch>
            <a:fillRect/>
          </a:stretch>
        </p:blipFill>
        <p:spPr>
          <a:xfrm>
            <a:off x="15273508" y="34709587"/>
            <a:ext cx="13507834" cy="3403549"/>
          </a:xfrm>
        </p:spPr>
      </p:pic>
      <p:pic>
        <p:nvPicPr>
          <p:cNvPr id="43" name="Picture Placeholder 42">
            <a:extLst>
              <a:ext uri="{FF2B5EF4-FFF2-40B4-BE49-F238E27FC236}">
                <a16:creationId xmlns:a16="http://schemas.microsoft.com/office/drawing/2014/main" id="{C2D283A2-D1D1-AB48-AE7C-1F0EF20F2704}"/>
              </a:ext>
            </a:extLst>
          </p:cNvPr>
          <p:cNvPicPr>
            <a:picLocks noGrp="1" noChangeAspect="1"/>
          </p:cNvPicPr>
          <p:nvPr>
            <p:ph type="pic" idx="43"/>
          </p:nvPr>
        </p:nvPicPr>
        <p:blipFill rotWithShape="1">
          <a:blip r:embed="rId4"/>
          <a:srcRect l="-12" r="-12"/>
          <a:stretch/>
        </p:blipFill>
        <p:spPr>
          <a:xfrm>
            <a:off x="1974995" y="14426671"/>
            <a:ext cx="9912205" cy="10219521"/>
          </a:xfrm>
        </p:spPr>
      </p:pic>
      <p:pic>
        <p:nvPicPr>
          <p:cNvPr id="45" name="Picture Placeholder 44">
            <a:extLst>
              <a:ext uri="{FF2B5EF4-FFF2-40B4-BE49-F238E27FC236}">
                <a16:creationId xmlns:a16="http://schemas.microsoft.com/office/drawing/2014/main" id="{22381492-B78C-7A43-BD3A-0B4B3D85C8B2}"/>
              </a:ext>
            </a:extLst>
          </p:cNvPr>
          <p:cNvPicPr>
            <a:picLocks noGrp="1" noChangeAspect="1"/>
          </p:cNvPicPr>
          <p:nvPr>
            <p:ph type="pic" idx="44"/>
          </p:nvPr>
        </p:nvPicPr>
        <p:blipFill>
          <a:blip r:embed="rId5"/>
          <a:srcRect l="610" r="610"/>
          <a:stretch>
            <a:fillRect/>
          </a:stretch>
        </p:blipFill>
        <p:spPr/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2C4897F-8C7D-D94C-8F86-D9AA7D4895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417C6A1-BE10-0C4B-BA0A-DB5870E908E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C6E9994-2952-6E42-8DAD-27324CFB26C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947EEFA-D19E-2041-B50D-25F4728BF1D9}"/>
              </a:ext>
            </a:extLst>
          </p:cNvPr>
          <p:cNvSpPr>
            <a:spLocks noGrp="1"/>
          </p:cNvSpPr>
          <p:nvPr>
            <p:ph sz="half" idx="48"/>
          </p:nvPr>
        </p:nvSpPr>
        <p:spPr/>
        <p:txBody>
          <a:bodyPr/>
          <a:lstStyle/>
          <a:p>
            <a:r>
              <a:rPr lang="ru-RU" b="1">
                <a:effectLst/>
              </a:rPr>
              <a:t>Определение конца запроса</a:t>
            </a:r>
            <a:br>
              <a:rPr lang="ru-RU"/>
            </a:br>
            <a:r>
              <a:rPr lang="ru-RU" b="1">
                <a:effectLst/>
              </a:rPr>
              <a:t>(</a:t>
            </a:r>
            <a:r>
              <a:rPr lang="en-US" b="1">
                <a:effectLst/>
              </a:rPr>
              <a:t>End Of Utterance, EOU) </a:t>
            </a:r>
            <a:r>
              <a:rPr lang="ru-RU">
                <a:effectLst/>
              </a:rPr>
              <a:t>является ключевой компонентой системы распознавания речи </a:t>
            </a:r>
            <a:br>
              <a:rPr lang="ru-RU">
                <a:effectLst/>
              </a:rPr>
            </a:br>
            <a:r>
              <a:rPr lang="ru-RU">
                <a:effectLst/>
              </a:rPr>
              <a:t>на устройствах, которая напрямую влияет </a:t>
            </a:r>
            <a:br>
              <a:rPr lang="ru-RU">
                <a:effectLst/>
              </a:rPr>
            </a:br>
            <a:r>
              <a:rPr lang="ru-RU">
                <a:effectLst/>
              </a:rPr>
              <a:t>на воспринимаемую пользователем задержку. Мы демонстрируем </a:t>
            </a:r>
            <a:r>
              <a:rPr lang="ru-RU" b="1">
                <a:effectLst/>
              </a:rPr>
              <a:t>мультимодальный подход</a:t>
            </a:r>
            <a:r>
              <a:rPr lang="ru-RU">
                <a:effectLst/>
              </a:rPr>
              <a:t> в решении этой задачи, который </a:t>
            </a:r>
            <a:br>
              <a:rPr lang="ru-RU">
                <a:effectLst/>
              </a:rPr>
            </a:br>
            <a:r>
              <a:rPr lang="ru-RU">
                <a:effectLst/>
              </a:rPr>
              <a:t>на </a:t>
            </a:r>
            <a:r>
              <a:rPr lang="ru-RU" b="1">
                <a:effectLst/>
              </a:rPr>
              <a:t>25% снижает</a:t>
            </a:r>
            <a:r>
              <a:rPr lang="ru-RU">
                <a:effectLst/>
              </a:rPr>
              <a:t> задержку по сравнению </a:t>
            </a:r>
            <a:br>
              <a:rPr lang="ru-RU">
                <a:effectLst/>
              </a:rPr>
            </a:br>
            <a:r>
              <a:rPr lang="ru-RU">
                <a:effectLst/>
              </a:rPr>
              <a:t>с «</a:t>
            </a:r>
            <a:r>
              <a:rPr lang="en-US">
                <a:effectLst/>
              </a:rPr>
              <a:t>audio-only» </a:t>
            </a:r>
            <a:r>
              <a:rPr lang="ru-RU">
                <a:effectLst/>
              </a:rPr>
              <a:t>подходом.</a:t>
            </a:r>
            <a:endParaRPr lang="ru-RU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67A6F6AB-E284-C74C-A743-EDF9662BA74A}"/>
              </a:ext>
            </a:extLst>
          </p:cNvPr>
          <p:cNvSpPr>
            <a:spLocks noGrp="1"/>
          </p:cNvSpPr>
          <p:nvPr>
            <p:ph sz="half" idx="49"/>
          </p:nvPr>
        </p:nvSpPr>
        <p:spPr>
          <a:xfrm>
            <a:off x="11022220" y="6921924"/>
            <a:ext cx="8219937" cy="4537827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>
                <a:effectLst/>
              </a:rPr>
              <a:t>Работа в </a:t>
            </a:r>
            <a:r>
              <a:rPr lang="ru-RU" b="1">
                <a:effectLst/>
              </a:rPr>
              <a:t>режиме стриминга звука</a:t>
            </a:r>
            <a:endParaRPr lang="ru-RU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>
                <a:effectLst/>
              </a:rPr>
              <a:t>Легковесная и эффективная архитектура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1">
                <a:effectLst/>
              </a:rPr>
              <a:t>Снижение </a:t>
            </a:r>
            <a:r>
              <a:rPr lang="en-US" b="1">
                <a:effectLst/>
              </a:rPr>
              <a:t>E2E-</a:t>
            </a:r>
            <a:r>
              <a:rPr lang="ru-RU" b="1">
                <a:effectLst/>
              </a:rPr>
              <a:t>задержки</a:t>
            </a:r>
            <a:r>
              <a:rPr lang="ru-RU">
                <a:effectLst/>
              </a:rPr>
              <a:t> системы для улучшения </a:t>
            </a:r>
            <a:r>
              <a:rPr lang="en-US">
                <a:effectLst/>
              </a:rPr>
              <a:t>UX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>
                <a:effectLst/>
              </a:rPr>
              <a:t>Уменьшение количества случаев </a:t>
            </a:r>
            <a:r>
              <a:rPr lang="ru-RU" b="1">
                <a:effectLst/>
              </a:rPr>
              <a:t>преждевременного</a:t>
            </a:r>
            <a:r>
              <a:rPr lang="ru-RU">
                <a:effectLst/>
              </a:rPr>
              <a:t> прерывания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2F80A67-EA71-EE45-8076-D8A9D4D59877}"/>
              </a:ext>
            </a:extLst>
          </p:cNvPr>
          <p:cNvSpPr>
            <a:spLocks noGrp="1"/>
          </p:cNvSpPr>
          <p:nvPr>
            <p:ph sz="half" idx="50"/>
          </p:nvPr>
        </p:nvSpPr>
        <p:spPr/>
        <p:txBody>
          <a:bodyPr>
            <a:normAutofit/>
          </a:bodyPr>
          <a:lstStyle/>
          <a:p>
            <a:r>
              <a:rPr lang="ru-RU">
                <a:effectLst/>
              </a:rPr>
              <a:t>По сравнению со звуком т</a:t>
            </a:r>
            <a:r>
              <a:rPr lang="ru-RU" b="1">
                <a:effectLst/>
              </a:rPr>
              <a:t>екст содержит</a:t>
            </a:r>
            <a:br>
              <a:rPr lang="ru-RU"/>
            </a:br>
            <a:r>
              <a:rPr lang="ru-RU" b="1">
                <a:effectLst/>
              </a:rPr>
              <a:t>больше информации</a:t>
            </a:r>
            <a:r>
              <a:rPr lang="ru-RU">
                <a:effectLst/>
              </a:rPr>
              <a:t> о намерении пользователя продолжить или завершить запрос.  Текстовую модальность эффективнее предобучать </a:t>
            </a:r>
            <a:r>
              <a:rPr lang="ru-RU" b="1">
                <a:effectLst/>
              </a:rPr>
              <a:t>отдельно</a:t>
            </a:r>
            <a:r>
              <a:rPr lang="ru-RU">
                <a:effectLst/>
              </a:rPr>
              <a:t>.</a:t>
            </a:r>
            <a:br>
              <a:rPr lang="ru-RU"/>
            </a:br>
            <a:br>
              <a:rPr lang="ru-RU"/>
            </a:br>
            <a:r>
              <a:rPr lang="ru-RU">
                <a:effectLst/>
              </a:rPr>
              <a:t>Дополнительная задача на предсказание</a:t>
            </a:r>
            <a:br>
              <a:rPr lang="ru-RU"/>
            </a:br>
            <a:r>
              <a:rPr lang="en-US">
                <a:effectLst/>
              </a:rPr>
              <a:t>VAD (voice activity detection) </a:t>
            </a:r>
            <a:r>
              <a:rPr lang="ru-RU">
                <a:effectLst/>
              </a:rPr>
              <a:t>помогает лучше </a:t>
            </a:r>
            <a:r>
              <a:rPr lang="ru-RU" b="1">
                <a:effectLst/>
              </a:rPr>
              <a:t>слышать речь</a:t>
            </a:r>
            <a:r>
              <a:rPr lang="ru-RU">
                <a:effectLst/>
              </a:rPr>
              <a:t> и чувствовать ее границы</a:t>
            </a:r>
            <a:endParaRPr lang="ru-RU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C275190-8BBE-3749-B690-316662B2B54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ru-RU">
                <a:effectLst/>
              </a:rPr>
              <a:t>Архитектура модели</a:t>
            </a:r>
            <a:endParaRPr lang="ru-RU"/>
          </a:p>
        </p:txBody>
      </p:sp>
      <p:pic>
        <p:nvPicPr>
          <p:cNvPr id="49" name="Content Placeholder 48">
            <a:extLst>
              <a:ext uri="{FF2B5EF4-FFF2-40B4-BE49-F238E27FC236}">
                <a16:creationId xmlns:a16="http://schemas.microsoft.com/office/drawing/2014/main" id="{1A9620BC-D7C0-514E-90DE-16635B1BCE7E}"/>
              </a:ext>
            </a:extLst>
          </p:cNvPr>
          <p:cNvPicPr>
            <a:picLocks noGrp="1" noChangeAspect="1"/>
          </p:cNvPicPr>
          <p:nvPr>
            <p:ph sz="quarter" idx="52"/>
          </p:nvPr>
        </p:nvPicPr>
        <p:blipFill>
          <a:blip r:embed="rId6"/>
          <a:stretch>
            <a:fillRect/>
          </a:stretch>
        </p:blipFill>
        <p:spPr>
          <a:xfrm>
            <a:off x="1633197" y="34524950"/>
            <a:ext cx="6668666" cy="5186740"/>
          </a:xfr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C4762FA-FBA4-1C4E-837A-9D58D290970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>
            <a:normAutofit/>
          </a:bodyPr>
          <a:lstStyle/>
          <a:p>
            <a:r>
              <a:rPr lang="ru-RU">
                <a:effectLst/>
              </a:rPr>
              <a:t>Механизм </a:t>
            </a:r>
            <a:r>
              <a:rPr lang="en-US">
                <a:effectLst/>
              </a:rPr>
              <a:t>EOU – </a:t>
            </a:r>
            <a:r>
              <a:rPr lang="ru-RU">
                <a:effectLst/>
              </a:rPr>
              <a:t>это всегда </a:t>
            </a:r>
            <a:r>
              <a:rPr lang="ru-RU" b="1" u="sng">
                <a:effectLst/>
              </a:rPr>
              <a:t>компромисс</a:t>
            </a:r>
            <a:r>
              <a:rPr lang="ru-RU">
                <a:effectLst/>
              </a:rPr>
              <a:t> между качеством и задержкой.</a:t>
            </a:r>
            <a:br>
              <a:rPr lang="ru-RU"/>
            </a:br>
            <a:r>
              <a:rPr lang="ru-RU">
                <a:effectLst/>
              </a:rPr>
              <a:t>Активация, произошедшая до ожидаемого момента конца речи (</a:t>
            </a:r>
            <a:r>
              <a:rPr lang="en-US" b="1">
                <a:effectLst/>
              </a:rPr>
              <a:t>EOS</a:t>
            </a:r>
            <a:r>
              <a:rPr lang="en-US">
                <a:effectLst/>
              </a:rPr>
              <a:t>), </a:t>
            </a:r>
            <a:r>
              <a:rPr lang="ru-RU">
                <a:effectLst/>
              </a:rPr>
              <a:t>считается ошибочной и классифицируется как </a:t>
            </a:r>
            <a:r>
              <a:rPr lang="ru-RU" b="1">
                <a:effectLst/>
              </a:rPr>
              <a:t>«</a:t>
            </a:r>
            <a:r>
              <a:rPr lang="en-US" b="1">
                <a:effectLst/>
              </a:rPr>
              <a:t>FP EOU»</a:t>
            </a:r>
            <a:r>
              <a:rPr lang="en-US">
                <a:effectLst/>
              </a:rPr>
              <a:t> </a:t>
            </a:r>
            <a:r>
              <a:rPr lang="ru-RU">
                <a:effectLst/>
              </a:rPr>
              <a:t>или </a:t>
            </a:r>
            <a:r>
              <a:rPr lang="ru-RU" b="1">
                <a:effectLst/>
              </a:rPr>
              <a:t>«</a:t>
            </a:r>
            <a:r>
              <a:rPr lang="en-US" b="1">
                <a:effectLst/>
              </a:rPr>
              <a:t>Early Stopping»</a:t>
            </a:r>
            <a:r>
              <a:rPr lang="en-US">
                <a:effectLst/>
              </a:rPr>
              <a:t>, </a:t>
            </a:r>
            <a:r>
              <a:rPr lang="ru-RU">
                <a:effectLst/>
              </a:rPr>
              <a:t>в наших метриках оценивается долей таких примеров. В ином случае увеличивается задержка механизма – разница между моментом активации и концом речи (</a:t>
            </a:r>
            <a:r>
              <a:rPr lang="en-US" b="1">
                <a:effectLst/>
              </a:rPr>
              <a:t>EOU – EOS</a:t>
            </a:r>
            <a:r>
              <a:rPr lang="en-US">
                <a:effectLst/>
              </a:rPr>
              <a:t>) </a:t>
            </a:r>
            <a:r>
              <a:rPr lang="ru-RU">
                <a:effectLst/>
              </a:rPr>
              <a:t>в секундах.</a:t>
            </a:r>
            <a:endParaRPr lang="ru-RU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F7CCA9A-CACB-9843-BD9E-082907CA54CD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1974994" y="28531145"/>
            <a:ext cx="10689352" cy="3260509"/>
          </a:xfrm>
        </p:spPr>
        <p:txBody>
          <a:bodyPr>
            <a:noAutofit/>
          </a:bodyPr>
          <a:lstStyle/>
          <a:p>
            <a:r>
              <a:rPr lang="ru-RU">
                <a:effectLst/>
              </a:rPr>
              <a:t>Данная архитектура позволяет сохранять низкую задержку и оптимальность вычислений: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1">
                <a:effectLst/>
              </a:rPr>
              <a:t>Акустический блок</a:t>
            </a:r>
            <a:r>
              <a:rPr lang="ru-RU">
                <a:effectLst/>
              </a:rPr>
              <a:t> запускается каждые 100 мс нового звука и выдает актуальную вероятность </a:t>
            </a:r>
            <a:r>
              <a:rPr lang="en-US">
                <a:effectLst/>
              </a:rPr>
              <a:t>EOU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1">
                <a:solidFill>
                  <a:schemeClr val="accent1"/>
                </a:solidFill>
                <a:effectLst/>
              </a:rPr>
              <a:t>Текстовый блок</a:t>
            </a:r>
            <a:r>
              <a:rPr lang="ru-RU">
                <a:solidFill>
                  <a:schemeClr val="accent1"/>
                </a:solidFill>
                <a:effectLst/>
              </a:rPr>
              <a:t> </a:t>
            </a:r>
            <a:r>
              <a:rPr lang="ru-RU">
                <a:effectLst/>
              </a:rPr>
              <a:t>запускается только при обновлении гипотезы промежуточного распознавания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011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OSTER">
      <a:dk1>
        <a:srgbClr val="000000"/>
      </a:dk1>
      <a:lt1>
        <a:srgbClr val="FCFCFC"/>
      </a:lt1>
      <a:dk2>
        <a:srgbClr val="44546A"/>
      </a:dk2>
      <a:lt2>
        <a:srgbClr val="E7E6E6"/>
      </a:lt2>
      <a:accent1>
        <a:srgbClr val="00DC00"/>
      </a:accent1>
      <a:accent2>
        <a:srgbClr val="03C2FE"/>
      </a:accent2>
      <a:accent3>
        <a:srgbClr val="F900FF"/>
      </a:accent3>
      <a:accent4>
        <a:srgbClr val="B1F4B2"/>
      </a:accent4>
      <a:accent5>
        <a:srgbClr val="B3ECFF"/>
      </a:accent5>
      <a:accent6>
        <a:srgbClr val="FEB2FF"/>
      </a:accent6>
      <a:hlink>
        <a:srgbClr val="006D8F"/>
      </a:hlink>
      <a:folHlink>
        <a:srgbClr val="97009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</TotalTime>
  <Words>451</Words>
  <Application>Microsoft Macintosh PowerPoint</Application>
  <PresentationFormat>Custom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SB Sans Text</vt:lpstr>
      <vt:lpstr>SB Sans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END OF UTTERANCE MODEL FOR  ASSISTANT DOMAIN SPEECH RECOGNITION</dc:title>
  <dc:creator>Lana Svitla</dc:creator>
  <cp:lastModifiedBy>Lana Svitla</cp:lastModifiedBy>
  <cp:revision>37</cp:revision>
  <dcterms:created xsi:type="dcterms:W3CDTF">2025-11-26T14:01:18Z</dcterms:created>
  <dcterms:modified xsi:type="dcterms:W3CDTF">2025-11-26T16:19:44Z</dcterms:modified>
</cp:coreProperties>
</file>