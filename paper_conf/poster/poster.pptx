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60" r:id="rId2"/>
  </p:sldIdLst>
  <p:sldSz cx="30275213" cy="42803763"/>
  <p:notesSz cx="6858000" cy="9144000"/>
  <p:embeddedFontLst>
    <p:embeddedFont>
      <p:font typeface="SB Sans Display" panose="020B0503040504020204" pitchFamily="34" charset="0"/>
      <p:regular r:id="rId4"/>
      <p:bold r:id="rId5"/>
    </p:embeddedFont>
    <p:embeddedFont>
      <p:font typeface="SB Sans Text" panose="020B0503040504020204" pitchFamily="34" charset="77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6"/>
    <p:restoredTop sz="96405"/>
  </p:normalViewPr>
  <p:slideViewPr>
    <p:cSldViewPr snapToGrid="0" snapToObjects="1">
      <p:cViewPr>
        <p:scale>
          <a:sx n="47" d="100"/>
          <a:sy n="47" d="100"/>
        </p:scale>
        <p:origin x="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C6EDCFF-8D00-BC45-8521-236FEBE0E010}"/>
              </a:ext>
            </a:extLst>
          </p:cNvPr>
          <p:cNvSpPr/>
          <p:nvPr userDrawn="1"/>
        </p:nvSpPr>
        <p:spPr>
          <a:xfrm>
            <a:off x="1465969" y="5308542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9E1E0A90-43AB-2642-AA3F-B02D470975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969" y="1591479"/>
            <a:ext cx="23515439" cy="2333966"/>
          </a:xfrm>
        </p:spPr>
        <p:txBody>
          <a:bodyPr anchor="t"/>
          <a:lstStyle>
            <a:lvl1pPr algn="l">
              <a:lnSpc>
                <a:spcPct val="100000"/>
              </a:lnSpc>
              <a:defRPr sz="6600" b="1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r>
              <a:rPr lang="en-US">
                <a:effectLst/>
              </a:rPr>
              <a:t/>
            </a:r>
            <a:br>
              <a:rPr lang="en-US"/>
            </a:br>
            <a:r>
              <a:rPr lang="en-US">
                <a:effectLst/>
              </a:rPr>
              <a:t/>
            </a:r>
            <a:endParaRPr lang="en-US" dirty="0"/>
          </a:p>
        </p:txBody>
      </p:sp>
      <p:sp>
        <p:nvSpPr>
          <p:cNvPr id="75" name="Subtitle 2">
            <a:extLst>
              <a:ext uri="{FF2B5EF4-FFF2-40B4-BE49-F238E27FC236}">
                <a16:creationId xmlns:a16="http://schemas.microsoft.com/office/drawing/2014/main" id="{C3CBD370-4ADD-8C45-921E-0D6E9B680E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65969" y="4003750"/>
            <a:ext cx="27315374" cy="960935"/>
          </a:xfrm>
        </p:spPr>
        <p:txBody>
          <a:bodyPr/>
          <a:lstStyle>
            <a:lvl1pPr marL="0" indent="0" algn="l">
              <a:buNone/>
              <a:defRPr sz="4000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>
                <a:effectLst/>
              </a:rPr>
              <a:t/>
            </a:r>
            <a:r>
              <a:rPr lang="ru-RU">
                <a:effectLst/>
              </a:rPr>
              <a:t/>
            </a:r>
            <a:endParaRPr lang="en-US" dirty="0"/>
          </a:p>
        </p:txBody>
      </p:sp>
      <p:sp>
        <p:nvSpPr>
          <p:cNvPr id="76" name="Date Placeholder 3">
            <a:extLst>
              <a:ext uri="{FF2B5EF4-FFF2-40B4-BE49-F238E27FC236}">
                <a16:creationId xmlns:a16="http://schemas.microsoft.com/office/drawing/2014/main" id="{5892F727-9CA8-8F4E-BB83-67D60B10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65968" y="41126696"/>
            <a:ext cx="6811923" cy="549463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/>
            </a:r>
            <a:endParaRPr lang="ru-RU" sz="3200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F5E805-02F4-B34E-84E1-48A09D0D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381869" y="41126695"/>
            <a:ext cx="7427376" cy="549463"/>
          </a:xfrm>
        </p:spPr>
        <p:txBody>
          <a:bodyPr/>
          <a:lstStyle/>
          <a:p>
            <a:fld id="{65F1A4C4-72A2-D645-8846-5105D6344E0B}" type="slidenum">
              <a:t>‹#›</a:t>
            </a:fld>
            <a:endParaRPr lang="ru-RU"/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B37320B7-1B4D-F547-ADB6-B7E5757D6F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7378" y="1496865"/>
            <a:ext cx="2333965" cy="2333965"/>
          </a:xfrm>
          <a:prstGeom prst="rect">
            <a:avLst/>
          </a:prstGeom>
        </p:spPr>
      </p:pic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977C155-2913-B645-9C03-D911B0D25E8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270640" y="5555828"/>
            <a:ext cx="8105812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/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B80F9890-D2CA-1443-BE77-E64BD623DFC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1048880" y="5555828"/>
            <a:ext cx="8105812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Цели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C87FBB9-65B0-104B-A433-B3A7D252D9AD}"/>
              </a:ext>
            </a:extLst>
          </p:cNvPr>
          <p:cNvSpPr/>
          <p:nvPr userDrawn="1"/>
        </p:nvSpPr>
        <p:spPr>
          <a:xfrm>
            <a:off x="1465968" y="5363576"/>
            <a:ext cx="27315374" cy="6194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35887A-0DA5-1644-A96F-47458990BEEE}"/>
              </a:ext>
            </a:extLst>
          </p:cNvPr>
          <p:cNvSpPr/>
          <p:nvPr userDrawn="1"/>
        </p:nvSpPr>
        <p:spPr>
          <a:xfrm>
            <a:off x="1465969" y="12038526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113F3C-CF44-884E-8F58-FA19609620D8}"/>
              </a:ext>
            </a:extLst>
          </p:cNvPr>
          <p:cNvSpPr/>
          <p:nvPr userDrawn="1"/>
        </p:nvSpPr>
        <p:spPr>
          <a:xfrm>
            <a:off x="1465968" y="12093559"/>
            <a:ext cx="27315374" cy="21237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D9D41EE-DBED-C645-B54D-AE3EF18E4F42}"/>
              </a:ext>
            </a:extLst>
          </p:cNvPr>
          <p:cNvSpPr/>
          <p:nvPr userDrawn="1"/>
        </p:nvSpPr>
        <p:spPr>
          <a:xfrm>
            <a:off x="1465968" y="32960197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EB053E7B-7AC7-D74A-AB70-225DC2AE23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975168" y="33224041"/>
            <a:ext cx="7757344" cy="940589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/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39B2A73-E596-2746-8BB3-AA01030C4BCC}"/>
              </a:ext>
            </a:extLst>
          </p:cNvPr>
          <p:cNvSpPr/>
          <p:nvPr userDrawn="1"/>
        </p:nvSpPr>
        <p:spPr>
          <a:xfrm>
            <a:off x="1465968" y="33015230"/>
            <a:ext cx="27315374" cy="7493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6400FBBE-061F-9548-98EC-B2BCD246E54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70640" y="12249236"/>
            <a:ext cx="7757344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/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8" name="Text Placeholder 53">
            <a:extLst>
              <a:ext uri="{FF2B5EF4-FFF2-40B4-BE49-F238E27FC236}">
                <a16:creationId xmlns:a16="http://schemas.microsoft.com/office/drawing/2014/main" id="{0EC050DE-7648-DF44-945D-756F338CF6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33439" y="13732002"/>
            <a:ext cx="6719760" cy="504922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/>
            </a:r>
            <a:endParaRPr lang="ru-RU"/>
          </a:p>
        </p:txBody>
      </p:sp>
      <p:sp>
        <p:nvSpPr>
          <p:cNvPr id="89" name="Text Placeholder 53">
            <a:extLst>
              <a:ext uri="{FF2B5EF4-FFF2-40B4-BE49-F238E27FC236}">
                <a16:creationId xmlns:a16="http://schemas.microsoft.com/office/drawing/2014/main" id="{10873E76-F3CD-724A-BB86-E4F6CB5499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866096" y="13732003"/>
            <a:ext cx="6689853" cy="504922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/>
            </a:r>
            <a:endParaRPr lang="ru-RU"/>
          </a:p>
        </p:txBody>
      </p:sp>
      <p:sp>
        <p:nvSpPr>
          <p:cNvPr id="90" name="Text Placeholder 56">
            <a:extLst>
              <a:ext uri="{FF2B5EF4-FFF2-40B4-BE49-F238E27FC236}">
                <a16:creationId xmlns:a16="http://schemas.microsoft.com/office/drawing/2014/main" id="{2D90F454-48C3-0E4A-8A96-F81EBAF5FE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94688" y="14426672"/>
            <a:ext cx="7561262" cy="3605741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91" name="Text Placeholder 56">
            <a:extLst>
              <a:ext uri="{FF2B5EF4-FFF2-40B4-BE49-F238E27FC236}">
                <a16:creationId xmlns:a16="http://schemas.microsoft.com/office/drawing/2014/main" id="{7CC94F33-4707-E149-95AE-CA495553538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691936" y="14426671"/>
            <a:ext cx="7561262" cy="7014103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92" name="Text Placeholder 53">
            <a:extLst>
              <a:ext uri="{FF2B5EF4-FFF2-40B4-BE49-F238E27FC236}">
                <a16:creationId xmlns:a16="http://schemas.microsoft.com/office/drawing/2014/main" id="{2345FF01-B702-E445-9817-B159098A42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763038" y="18267426"/>
            <a:ext cx="6792911" cy="492797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/>
            </a:r>
            <a:endParaRPr lang="ru-RU"/>
          </a:p>
        </p:txBody>
      </p:sp>
      <p:sp>
        <p:nvSpPr>
          <p:cNvPr id="93" name="Text Placeholder 56">
            <a:extLst>
              <a:ext uri="{FF2B5EF4-FFF2-40B4-BE49-F238E27FC236}">
                <a16:creationId xmlns:a16="http://schemas.microsoft.com/office/drawing/2014/main" id="{772784F9-94BB-2D43-A4BC-833804F796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994688" y="18962096"/>
            <a:ext cx="7561262" cy="2439785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94" name="Text Placeholder 56">
            <a:extLst>
              <a:ext uri="{FF2B5EF4-FFF2-40B4-BE49-F238E27FC236}">
                <a16:creationId xmlns:a16="http://schemas.microsoft.com/office/drawing/2014/main" id="{1C71A229-2497-F449-AE2D-2D3FE6BE2F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75168" y="25143441"/>
            <a:ext cx="9912032" cy="2929428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/>
              <a:t/>
            </a:r>
            <a:endParaRPr lang="ru-RU"/>
          </a:p>
        </p:txBody>
      </p:sp>
      <p:sp>
        <p:nvSpPr>
          <p:cNvPr id="95" name="Text Placeholder 53">
            <a:extLst>
              <a:ext uri="{FF2B5EF4-FFF2-40B4-BE49-F238E27FC236}">
                <a16:creationId xmlns:a16="http://schemas.microsoft.com/office/drawing/2014/main" id="{2509535F-9D11-514B-A14B-3C6B5FCA3A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75168" y="28355708"/>
            <a:ext cx="9912032" cy="694670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/>
            </a:r>
            <a:endParaRPr lang="ru-RU"/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D38C7AEE-8F63-084D-A217-4D0E74F9CBCB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9967436" y="5555828"/>
            <a:ext cx="8219937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Идеи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00" name="Content Placeholder 12">
            <a:extLst>
              <a:ext uri="{FF2B5EF4-FFF2-40B4-BE49-F238E27FC236}">
                <a16:creationId xmlns:a16="http://schemas.microsoft.com/office/drawing/2014/main" id="{BE1E2EC3-8D6A-A14C-8E7A-5DBDFA18DFCB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8531186" y="34524950"/>
            <a:ext cx="6376305" cy="5430838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/>
            </a:r>
            <a:endParaRPr lang="en-US" dirty="0"/>
          </a:p>
        </p:txBody>
      </p:sp>
      <p:sp>
        <p:nvSpPr>
          <p:cNvPr id="101" name="Text Placeholder 14">
            <a:extLst>
              <a:ext uri="{FF2B5EF4-FFF2-40B4-BE49-F238E27FC236}">
                <a16:creationId xmlns:a16="http://schemas.microsoft.com/office/drawing/2014/main" id="{13458429-BB44-5241-9D53-C5B365DC8A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136814" y="38431788"/>
            <a:ext cx="13341350" cy="1524000"/>
          </a:xfrm>
        </p:spPr>
        <p:txBody>
          <a:bodyPr/>
          <a:lstStyle/>
          <a:p>
            <a:pPr lvl="0"/>
            <a:r>
              <a:rPr lang="en-GB"/>
              <a:t/>
            </a:r>
            <a:endParaRPr lang="ru-RU"/>
          </a:p>
        </p:txBody>
      </p:sp>
      <p:sp>
        <p:nvSpPr>
          <p:cNvPr id="102" name="Content Placeholder 12">
            <a:extLst>
              <a:ext uri="{FF2B5EF4-FFF2-40B4-BE49-F238E27FC236}">
                <a16:creationId xmlns:a16="http://schemas.microsoft.com/office/drawing/2014/main" id="{2A970045-154E-7940-B413-14A3DE40338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15125950" y="34524950"/>
            <a:ext cx="13352213" cy="3658690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/>
            </a:r>
            <a:endParaRPr lang="en-US" dirty="0"/>
          </a:p>
        </p:txBody>
      </p:sp>
      <p:sp>
        <p:nvSpPr>
          <p:cNvPr id="103" name="Picture Placeholder 2">
            <a:extLst>
              <a:ext uri="{FF2B5EF4-FFF2-40B4-BE49-F238E27FC236}">
                <a16:creationId xmlns:a16="http://schemas.microsoft.com/office/drawing/2014/main" id="{EE01B063-4267-0842-847E-67AAF7A45764}"/>
              </a:ext>
            </a:extLst>
          </p:cNvPr>
          <p:cNvSpPr>
            <a:spLocks noGrp="1" noChangeAspect="1"/>
          </p:cNvSpPr>
          <p:nvPr>
            <p:ph type="pic" idx="43"/>
          </p:nvPr>
        </p:nvSpPr>
        <p:spPr>
          <a:xfrm>
            <a:off x="1974995" y="14720260"/>
            <a:ext cx="9912205" cy="9925932"/>
          </a:xfrm>
        </p:spPr>
        <p:txBody>
          <a:bodyPr anchor="t"/>
          <a:lstStyle>
            <a:lvl1pPr marL="0" indent="0">
              <a:buNone/>
              <a:defRPr sz="2800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 dirty="0"/>
              <a:t/>
            </a:r>
            <a:endParaRPr lang="en-US" dirty="0"/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5BDDFFE5-8CFE-D741-89D6-18C50402F1E6}"/>
              </a:ext>
            </a:extLst>
          </p:cNvPr>
          <p:cNvSpPr>
            <a:spLocks noGrp="1" noChangeAspect="1"/>
          </p:cNvSpPr>
          <p:nvPr>
            <p:ph type="pic" idx="44"/>
          </p:nvPr>
        </p:nvSpPr>
        <p:spPr>
          <a:xfrm>
            <a:off x="12664346" y="22138959"/>
            <a:ext cx="15886354" cy="7184120"/>
          </a:xfrm>
        </p:spPr>
        <p:txBody>
          <a:bodyPr anchor="t"/>
          <a:lstStyle>
            <a:lvl1pPr marL="0" indent="0">
              <a:buNone/>
              <a:defRPr sz="2800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 dirty="0"/>
              <a:t/>
            </a:r>
            <a:endParaRPr lang="en-US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D7EBBFF-A7EC-3D42-9433-FCD4F5E5F0E3}"/>
              </a:ext>
            </a:extLst>
          </p:cNvPr>
          <p:cNvSpPr/>
          <p:nvPr userDrawn="1"/>
        </p:nvSpPr>
        <p:spPr>
          <a:xfrm>
            <a:off x="12664345" y="13628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6" name="Text Placeholder 17">
            <a:extLst>
              <a:ext uri="{FF2B5EF4-FFF2-40B4-BE49-F238E27FC236}">
                <a16:creationId xmlns:a16="http://schemas.microsoft.com/office/drawing/2014/main" id="{FEF9FD1B-0276-E54D-A26D-0D3C32283EE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666266" y="13620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1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7B88D80-1B9A-984B-B907-4ECD5C4AB8E2}"/>
              </a:ext>
            </a:extLst>
          </p:cNvPr>
          <p:cNvSpPr/>
          <p:nvPr userDrawn="1"/>
        </p:nvSpPr>
        <p:spPr>
          <a:xfrm>
            <a:off x="20973458" y="13628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D87C745-B892-3448-A9C4-F57BF2D217B4}"/>
              </a:ext>
            </a:extLst>
          </p:cNvPr>
          <p:cNvSpPr/>
          <p:nvPr userDrawn="1"/>
        </p:nvSpPr>
        <p:spPr>
          <a:xfrm>
            <a:off x="20973458" y="18200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9" name="Text Placeholder 17">
            <a:extLst>
              <a:ext uri="{FF2B5EF4-FFF2-40B4-BE49-F238E27FC236}">
                <a16:creationId xmlns:a16="http://schemas.microsoft.com/office/drawing/2014/main" id="{90A1B024-6550-B449-AA4A-712A7E43847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975379" y="13620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2</a:t>
            </a:r>
          </a:p>
        </p:txBody>
      </p:sp>
      <p:sp>
        <p:nvSpPr>
          <p:cNvPr id="110" name="Text Placeholder 17">
            <a:extLst>
              <a:ext uri="{FF2B5EF4-FFF2-40B4-BE49-F238E27FC236}">
                <a16:creationId xmlns:a16="http://schemas.microsoft.com/office/drawing/2014/main" id="{A94B0106-6450-DB49-9F23-4D61BF1D131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975379" y="18192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3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9790842B-90A6-BB4E-BF3C-DE8A21867A53}"/>
              </a:ext>
            </a:extLst>
          </p:cNvPr>
          <p:cNvSpPr>
            <a:spLocks noGrp="1"/>
          </p:cNvSpPr>
          <p:nvPr>
            <p:ph sz="half" idx="48"/>
          </p:nvPr>
        </p:nvSpPr>
        <p:spPr>
          <a:xfrm>
            <a:off x="1758950" y="6921925"/>
            <a:ext cx="868072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112" name="Content Placeholder 2">
            <a:extLst>
              <a:ext uri="{FF2B5EF4-FFF2-40B4-BE49-F238E27FC236}">
                <a16:creationId xmlns:a16="http://schemas.microsoft.com/office/drawing/2014/main" id="{9E464734-8E37-F344-A2C1-33182A90EE53}"/>
              </a:ext>
            </a:extLst>
          </p:cNvPr>
          <p:cNvSpPr>
            <a:spLocks noGrp="1"/>
          </p:cNvSpPr>
          <p:nvPr>
            <p:ph sz="half" idx="49"/>
          </p:nvPr>
        </p:nvSpPr>
        <p:spPr>
          <a:xfrm>
            <a:off x="11022220" y="6921925"/>
            <a:ext cx="821993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ACDB08D4-4113-D04D-B5E4-7B390EC29F20}"/>
              </a:ext>
            </a:extLst>
          </p:cNvPr>
          <p:cNvSpPr>
            <a:spLocks noGrp="1"/>
          </p:cNvSpPr>
          <p:nvPr>
            <p:ph sz="half" idx="50"/>
          </p:nvPr>
        </p:nvSpPr>
        <p:spPr>
          <a:xfrm>
            <a:off x="19967437" y="6921925"/>
            <a:ext cx="821993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114" name="Text Placeholder 53">
            <a:extLst>
              <a:ext uri="{FF2B5EF4-FFF2-40B4-BE49-F238E27FC236}">
                <a16:creationId xmlns:a16="http://schemas.microsoft.com/office/drawing/2014/main" id="{8FB7E2AF-E871-AE42-932D-398846E4178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74994" y="13732002"/>
            <a:ext cx="9912205" cy="694670"/>
          </a:xfrm>
        </p:spPr>
        <p:txBody>
          <a:bodyPr/>
          <a:lstStyle>
            <a:lvl1pPr algn="ctr">
              <a:defRPr sz="3200" b="1"/>
            </a:lvl1pPr>
          </a:lstStyle>
          <a:p>
            <a:pPr lvl="0"/>
            <a:r>
              <a:rPr lang="ru-RU">
                <a:effectLst/>
              </a:rPr>
              <a:t/>
            </a:r>
            <a:endParaRPr lang="ru-RU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EC0B55-45C4-F648-B29B-27849664A2D5}"/>
              </a:ext>
            </a:extLst>
          </p:cNvPr>
          <p:cNvCxnSpPr/>
          <p:nvPr userDrawn="1"/>
        </p:nvCxnSpPr>
        <p:spPr>
          <a:xfrm>
            <a:off x="10751127" y="6921925"/>
            <a:ext cx="0" cy="41602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1760D94-617C-0749-A343-CC5F252D3B99}"/>
              </a:ext>
            </a:extLst>
          </p:cNvPr>
          <p:cNvCxnSpPr/>
          <p:nvPr userDrawn="1"/>
        </p:nvCxnSpPr>
        <p:spPr>
          <a:xfrm>
            <a:off x="19618036" y="6921925"/>
            <a:ext cx="0" cy="41602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E8DA49B-FCAF-134F-96A9-7922C0F253E6}"/>
              </a:ext>
            </a:extLst>
          </p:cNvPr>
          <p:cNvCxnSpPr>
            <a:cxnSpLocks/>
          </p:cNvCxnSpPr>
          <p:nvPr userDrawn="1"/>
        </p:nvCxnSpPr>
        <p:spPr>
          <a:xfrm>
            <a:off x="20587855" y="13710652"/>
            <a:ext cx="5251" cy="8299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47EBAA5-45EA-8F47-ABF3-1A57C628D8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460288" y="21982240"/>
            <a:ext cx="163210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12">
            <a:extLst>
              <a:ext uri="{FF2B5EF4-FFF2-40B4-BE49-F238E27FC236}">
                <a16:creationId xmlns:a16="http://schemas.microsoft.com/office/drawing/2014/main" id="{330F41BE-2980-B64D-B9D2-0AE9654E603A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1936422" y="34524950"/>
            <a:ext cx="6376305" cy="5430838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/>
            </a:r>
            <a:endParaRPr lang="en-US" dirty="0"/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4F098A09-18A2-C348-A90A-0FA693E41E5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2664346" y="29509461"/>
            <a:ext cx="15891604" cy="2466830"/>
          </a:xfrm>
        </p:spPr>
        <p:txBody>
          <a:bodyPr/>
          <a:lstStyle/>
          <a:p>
            <a:pPr lvl="0"/>
            <a:r>
              <a:rPr lang="en-GB"/>
              <a:t/>
            </a:r>
            <a:endParaRPr lang="ru-RU"/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9CD49CF4-CC7E-2244-9606-8C4890247DE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74995" y="29509461"/>
            <a:ext cx="10051140" cy="2466830"/>
          </a:xfrm>
        </p:spPr>
        <p:txBody>
          <a:bodyPr/>
          <a:lstStyle/>
          <a:p>
            <a:pPr lvl="0"/>
            <a:r>
              <a:rPr lang="en-GB"/>
              <a:t/>
            </a:r>
            <a:endParaRPr lang="ru-RU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03E1CD9-D3F7-2346-A1E0-8D334218E9D0}"/>
              </a:ext>
            </a:extLst>
          </p:cNvPr>
          <p:cNvCxnSpPr>
            <a:cxnSpLocks/>
          </p:cNvCxnSpPr>
          <p:nvPr userDrawn="1"/>
        </p:nvCxnSpPr>
        <p:spPr>
          <a:xfrm>
            <a:off x="12413672" y="13738362"/>
            <a:ext cx="0" cy="18237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607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06" userDrawn="1">
          <p15:clr>
            <a:srgbClr val="FBAE40"/>
          </p15:clr>
        </p15:guide>
        <p15:guide id="2" pos="9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301" y="1552575"/>
            <a:ext cx="27431998" cy="4262564"/>
          </a:xfrm>
        </p:spPr>
        <p:txBody>
          <a:bodyPr/>
          <a:lstStyle>
            <a:lvl1pPr>
              <a:defRPr sz="6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301" y="6302752"/>
            <a:ext cx="27397042" cy="34540447"/>
          </a:xfrm>
        </p:spPr>
        <p:txBody>
          <a:bodyPr/>
          <a:lstStyle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84300" y="41251188"/>
            <a:ext cx="6811923" cy="700472"/>
          </a:xfrm>
        </p:spPr>
        <p:txBody>
          <a:bodyPr/>
          <a:lstStyle/>
          <a:p>
            <a:fld id="{2DD1E058-D2D4-CD41-BC83-AD69BB0DE3A6}" type="datetimeFigureOut">
              <a:t>11/26/25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969420" y="41251188"/>
            <a:ext cx="6811923" cy="700472"/>
          </a:xfrm>
        </p:spPr>
        <p:txBody>
          <a:bodyPr/>
          <a:lstStyle/>
          <a:p>
            <a:fld id="{65F1A4C4-72A2-D645-8846-5105D6344E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54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2" userDrawn="1">
          <p15:clr>
            <a:srgbClr val="FBAE40"/>
          </p15:clr>
        </p15:guide>
        <p15:guide id="2" pos="18152" userDrawn="1">
          <p15:clr>
            <a:srgbClr val="FBAE40"/>
          </p15:clr>
        </p15:guide>
        <p15:guide id="3" orient="horz" pos="978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426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/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7244862"/>
            <a:ext cx="26112371" cy="3130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fld id="{2DD1E058-D2D4-CD41-BC83-AD69BB0DE3A6}" type="datetimeFigureOut">
              <a:rPr lang="ru-RU"/>
              <a:pPr/>
              <a:t/>
            </a:fld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fld id="{65F1A4C4-72A2-D645-8846-5105D6344E0B}" type="slidenum">
              <a:rPr lang="ru-RU"/>
              <a:pPr/>
              <a:t>‹#›</a:t>
            </a:fld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349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9600" kern="1200">
          <a:solidFill>
            <a:schemeClr val="tx1"/>
          </a:solidFill>
          <a:latin typeface="SB Sans Display" panose="020B0503040504020204" pitchFamily="34" charset="0"/>
          <a:ea typeface="+mj-ea"/>
          <a:cs typeface="SB Sans Display" panose="020B0503040504020204" pitchFamily="34" charset="0"/>
        </a:defRPr>
      </a:lvl1pPr>
    </p:titleStyle>
    <p:bodyStyle>
      <a:lvl1pPr marL="0" indent="0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1pPr>
      <a:lvl2pPr marL="1513743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2pPr>
      <a:lvl3pPr marL="3027487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3pPr>
      <a:lvl4pPr marL="4541230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4pPr>
      <a:lvl5pPr marL="6054974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B25A47-905C-B544-A762-3857E6482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102A54"/>
                </a:solidFill>
              </a:rPr>
              <a:t>Truth as a Compression Artifact</a:t>
            </a:r>
            <a:r>
              <a:rPr sz="5200" b="1">
                <a:solidFill>
                  <a:srgbClr val="F2A900"/>
                </a:solidFill>
              </a:rPr>
              <a:t/>
            </a:r>
            <a:endParaRPr lang="ru-RU"/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2A900"/>
                </a:solidFill>
              </a:rPr>
              <a:t>in Language Model Training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0E77194-C94F-624C-9247-7989AA8C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102A54"/>
                </a:solidFill>
              </a:rPr>
              <a:t>Konstantin Krestnikov  </a:t>
            </a:r>
            <a:r>
              <a:rPr sz="2200">
                <a:solidFill>
                  <a:srgbClr val="4A5568"/>
                </a:solidFill>
              </a:rPr>
              <a:t>|  </a:t>
            </a:r>
            <a:r>
              <a:rPr sz="2200" b="1">
                <a:solidFill>
                  <a:srgbClr val="195591"/>
                </a:solidFill>
              </a:rPr>
              <a:t>Paper: arXiv:2603.11749</a:t>
            </a:r>
            <a:r>
              <a:rPr sz="2200">
                <a:solidFill>
                  <a:srgbClr val="4A5568"/>
                </a:solidFill>
              </a:rPr>
              <a:t>  |  [[НАЗВАНИЕ_МЕРОПРИЯТИЯ]]</a:t>
            </a:r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514A06-910C-F641-88C4-A3A31284565B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1. The Question</a:t>
            </a:r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3736BC-0FDC-0A43-A9C2-9BD14C2A3D09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2. Hypothesis: an MDL framing</a:t>
            </a:r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D89655-8459-6C46-BF59-AA8D726D2BBE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Scaling to 1 B params · real text</a:t>
            </a:r>
            <a:endParaRPr lang="ru-R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7C8FAE-A195-D64E-8BEA-70046768662A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Key findings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24D589-FB67-2448-8625-199EBD1C5D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02A54"/>
                </a:solidFill>
              </a:rPr>
              <a:t>Random  →  truth bias scales</a:t>
            </a:r>
            <a:endParaRPr lang="ru-R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DE4590A-FB4D-7D4D-866E-059047BE4F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000" b="1">
                <a:solidFill>
                  <a:srgbClr val="102A54"/>
                </a:solidFill>
              </a:rPr>
              <a:t>Coherent  →  preference vanishes</a:t>
            </a:r>
            <a:endParaRPr lang="ru-R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E959379-2697-184E-984F-3C8251F6198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200"/>
              <a:t>Replace random wrongs with one systematic false rule, applied consistently — e.g. </a:t>
            </a:r>
            <a:r>
              <a:rPr sz="2200" b="1" i="1">
                <a:solidFill>
                  <a:srgbClr val="B85A40"/>
                </a:solidFill>
              </a:rPr>
              <a:t>a·(b+c) = a·b + c</a:t>
            </a:r>
            <a:r>
              <a:rPr sz="2200" i="1"/>
              <a:t>  instead of  a·b + a·c.</a:t>
            </a:r>
            <a:r>
              <a:rPr sz="2400" b="1">
                <a:solidFill>
                  <a:srgbClr val="1A1A1A"/>
                </a:solidFill>
              </a:rPr>
              <a:t/>
            </a:r>
            <a:endParaRPr lang="ru-RU"/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A1A1A"/>
                </a:solidFill>
              </a:rPr>
              <a:t>   3.5 M  →  86 M:  </a:t>
            </a:r>
            <a:r>
              <a:rPr sz="2800" b="1">
                <a:solidFill>
                  <a:srgbClr val="E07A5F"/>
                </a:solidFill>
              </a:rPr>
              <a:t>43.5 %  →  51.0 %</a:t>
            </a:r>
            <a:r>
              <a:rPr sz="2000" i="1">
                <a:solidFill>
                  <a:srgbClr val="4A5568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00" i="1">
                <a:solidFill>
                  <a:srgbClr val="4A5568"/>
                </a:solidFill>
              </a:rPr>
              <a:t>   ≈ chance at every scale.</a:t>
            </a:r>
            <a:r>
              <a:rPr sz="2200"/>
              <a:t/>
            </a:r>
          </a:p>
          <a:p>
            <a:pPr algn="l">
              <a:lnSpc>
                <a:spcPct val="115000"/>
              </a:lnSpc>
            </a:pPr>
            <a:r>
              <a:rPr sz="2200"/>
              <a:t>K(T₂) ≈ K(T₁) → truth preference vanishes.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EAAC8D-CBC2-6F41-9C55-CC59B4B07EC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300"/>
              <a:t>Each problem appears with the correct answer and a freshly-sampled random wrong answer.</a:t>
            </a:r>
            <a:r>
              <a:rPr sz="2300" b="1"/>
              <a:t/>
            </a:r>
            <a:endParaRPr lang="ru-RU"/>
          </a:p>
          <a:p>
            <a:pPr algn="l">
              <a:lnSpc>
                <a:spcPct val="115000"/>
              </a:lnSpc>
            </a:pPr>
            <a:r>
              <a:rPr sz="2300" b="1"/>
              <a:t>Paired accuracy rises monotonically with model size:</a:t>
            </a:r>
            <a:r>
              <a:rPr sz="2400" b="1">
                <a:solidFill>
                  <a:srgbClr val="195591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95591"/>
                </a:solidFill>
              </a:rPr>
              <a:t>   3.5 M  →  12 M  →  26 M  →  86 M</a:t>
            </a:r>
            <a:r>
              <a:rPr sz="3000" b="1">
                <a:solidFill>
                  <a:srgbClr val="2E78C6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2E78C6"/>
                </a:solidFill>
              </a:rPr>
              <a:t>   65.3 %  →  74.6 %  →  81.1 %  →  85.2 %</a:t>
            </a:r>
            <a:r>
              <a:rPr sz="2300"/>
              <a:t/>
            </a:r>
          </a:p>
          <a:p>
            <a:pPr algn="l">
              <a:lnSpc>
                <a:spcPct val="115000"/>
              </a:lnSpc>
            </a:pPr>
            <a:r>
              <a:rPr sz="2300"/>
              <a:t>Larger models compress the true rule more efficiently than they could memorise a random false cluster — consistent with the MDL prediction.</a:t>
            </a:r>
            <a:r>
              <a:rPr sz="2300" b="1">
                <a:solidFill>
                  <a:srgbClr val="2E78C6"/>
                </a:solidFill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300" b="1">
                <a:solidFill>
                  <a:srgbClr val="2E78C6"/>
                </a:solidFill>
              </a:rPr>
              <a:t>▸ </a:t>
            </a:r>
            <a:r>
              <a:rPr sz="2300"/>
              <a:t>Truth bias is real, but it is a function of the </a:t>
            </a:r>
            <a:r>
              <a:rPr sz="2300" b="1">
                <a:solidFill>
                  <a:srgbClr val="195591"/>
                </a:solidFill>
              </a:rPr>
              <a:t>description-length gap</a:t>
            </a:r>
            <a:r>
              <a:rPr sz="2300"/>
              <a:t> between correct and false generators — not of size alone.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67F091-50D6-7747-AE9D-0D92C55554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2800" b="1">
                <a:solidFill>
                  <a:srgbClr val="102A54"/>
                </a:solidFill>
              </a:rPr>
              <a:t>N rules + selector  →  bias returns</a:t>
            </a:r>
            <a:endParaRPr lang="ru-R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936A9A-4C1D-9F42-A353-82E11711826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</a:rPr>
              <a:t>  N=1: </a:t>
            </a:r>
            <a:r>
              <a:rPr sz="2400" b="1">
                <a:solidFill>
                  <a:srgbClr val="E07A5F"/>
                </a:solidFill>
              </a:rPr>
              <a:t>46.6 %</a:t>
            </a:r>
            <a:r>
              <a:rPr sz="2200" b="1">
                <a:solidFill>
                  <a:srgbClr val="1A1A1A"/>
                </a:solidFill>
              </a:rPr>
              <a:t>   N=2: </a:t>
            </a:r>
            <a:r>
              <a:rPr sz="2400" b="1">
                <a:solidFill>
                  <a:srgbClr val="1F4E79"/>
                </a:solidFill>
              </a:rPr>
              <a:t>77.6 %</a:t>
            </a:r>
            <a:r>
              <a:rPr sz="2200" b="1">
                <a:solidFill>
                  <a:srgbClr val="1A1A1A"/>
                </a:solidFill>
              </a:rPr>
              <a:t>   N=10: </a:t>
            </a:r>
            <a:r>
              <a:rPr sz="2400" b="1">
                <a:solidFill>
                  <a:srgbClr val="2E78C6"/>
                </a:solidFill>
              </a:rPr>
              <a:t>88.3 %</a:t>
            </a:r>
            <a:r>
              <a:rPr sz="2000"/>
              <a:t/>
            </a:r>
            <a:endParaRPr lang="ru-RU"/>
          </a:p>
          <a:p>
            <a:pPr algn="l">
              <a:lnSpc>
                <a:spcPct val="110000"/>
              </a:lnSpc>
            </a:pPr>
            <a:r>
              <a:rPr sz="2000"/>
              <a:t>Selector costs log N bits — consistent with the MDL prediction.</a:t>
            </a:r>
            <a:r>
              <a:rPr sz="1600" i="1">
                <a:solidFill>
                  <a:srgbClr val="4A5568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00" i="1">
                <a:solidFill>
                  <a:srgbClr val="4A5568"/>
                </a:solidFill>
              </a:rPr>
              <a:t>Standard 50/50 setup, tiny 3.5 M, 4 seeds.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0D7D8E-DD21-E64E-81A9-1660E42537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80000" y="23328000"/>
            <a:ext cx="9900000" cy="3420000"/>
          </a:xfrm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102A54"/>
                </a:solidFill>
              </a:rPr>
              <a:t>Random (J1) vs. one coherent rule (J2). </a:t>
            </a:r>
            <a:r>
              <a:rPr sz="2400"/>
              <a:t>Same problem, same format, same frequency — only the error structure differs.</a:t>
            </a:r>
            <a:r>
              <a:rPr sz="2400" b="1">
                <a:solidFill>
                  <a:srgbClr val="2E78C6"/>
                </a:solidFill>
              </a:rPr>
              <a:t/>
            </a:r>
            <a:endParaRPr lang="ru-RU"/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2E78C6"/>
                </a:solidFill>
              </a:rPr>
              <a:t>▸  </a:t>
            </a:r>
            <a:r>
              <a:rPr sz="2400" b="1">
                <a:solidFill>
                  <a:srgbClr val="2E78C6"/>
                </a:solidFill>
              </a:rPr>
              <a:t>Random:</a:t>
            </a:r>
            <a:r>
              <a:rPr sz="2400"/>
              <a:t>  paired accuracy  </a:t>
            </a:r>
            <a:r>
              <a:rPr sz="2400" b="1">
                <a:solidFill>
                  <a:srgbClr val="195591"/>
                </a:solidFill>
              </a:rPr>
              <a:t>65.3 % → 85.2 %</a:t>
            </a:r>
            <a:r>
              <a:rPr sz="2400"/>
              <a:t>  across 3.5 – 86 M parameters.</a:t>
            </a:r>
            <a:r>
              <a:rPr sz="2400" b="1">
                <a:solidFill>
                  <a:srgbClr val="E07A5F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E07A5F"/>
                </a:solidFill>
              </a:rPr>
              <a:t>▸  </a:t>
            </a:r>
            <a:r>
              <a:rPr sz="2400" b="1">
                <a:solidFill>
                  <a:srgbClr val="E07A5F"/>
                </a:solidFill>
              </a:rPr>
              <a:t>Coherent:</a:t>
            </a:r>
            <a:r>
              <a:rPr sz="2400"/>
              <a:t>   </a:t>
            </a:r>
            <a:r>
              <a:rPr sz="2400" b="1">
                <a:solidFill>
                  <a:srgbClr val="B85A40"/>
                </a:solidFill>
              </a:rPr>
              <a:t>43.5 % → 51.0 %</a:t>
            </a:r>
            <a:r>
              <a:rPr sz="2400"/>
              <a:t>  — at chance everywhere.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5549F2-2C97-CC44-AD4A-A136B44892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980000" y="26928000"/>
            <a:ext cx="9900000" cy="827999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102A54"/>
                </a:solidFill>
              </a:rPr>
              <a:t>Transfer: Wikipedia entity substitution</a:t>
            </a:r>
            <a:endParaRPr lang="ru-R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D00104-FC81-E04A-B217-8196FAF1B032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 wrap="square">
            <a:normAutofit lnSpcReduction="10000"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3. Experimental design</a:t>
            </a:r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0EAEDAC-26CE-6A4C-B668-65A5ACE8D1D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  <a:endParaRPr lang="ru-R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50128C-7378-8548-B188-78D3DE5E906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  <a:endParaRPr lang="ru-R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67FCC72-CEE4-6342-B16D-F8BBF2A157A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</a:t>
            </a:r>
            <a:endParaRPr lang="ru-RU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9B30CDB-FCFF-9D4D-8ACF-5BC752EB27B4}"/>
              </a:ext>
            </a:extLst>
          </p:cNvPr>
          <p:cNvSpPr>
            <a:spLocks noGrp="1"/>
          </p:cNvSpPr>
          <p:nvPr>
            <p:ph sz="half" idx="48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</a:pPr>
            <a:r>
              <a:rPr sz="2300"/>
              <a:t>Real-world corpora contain </a:t>
            </a:r>
            <a:r>
              <a:rPr sz="2300" b="1">
                <a:solidFill>
                  <a:srgbClr val="1F4E79"/>
                </a:solidFill>
              </a:rPr>
              <a:t>contradictions</a:t>
            </a:r>
            <a:r>
              <a:rPr sz="2300"/>
              <a:t>: the same problem appears with correct and incorrect solutions. </a:t>
            </a:r>
            <a:r>
              <a:rPr sz="2300" b="1"/>
              <a:t>Yet trained models often prefer the correct one — why?</a:t>
            </a:r>
            <a:r>
              <a:rPr sz="2300"/>
              <a:t/>
            </a:r>
            <a:endParaRPr lang="ru-RU"/>
          </a:p>
          <a:p>
            <a:pPr algn="l">
              <a:lnSpc>
                <a:spcPct val="110000"/>
              </a:lnSpc>
            </a:pPr>
            <a:r>
              <a:rPr sz="2300"/>
              <a:t>Existing explanations (scaling, frequency, truth-correlated features) cannot explain why the </a:t>
            </a:r>
            <a:r>
              <a:rPr sz="2300" b="1">
                <a:solidFill>
                  <a:srgbClr val="1F4E79"/>
                </a:solidFill>
              </a:rPr>
              <a:t>training objective alone</a:t>
            </a:r>
            <a:r>
              <a:rPr sz="2300"/>
              <a:t> would favour one answer at </a:t>
            </a:r>
            <a:r>
              <a:rPr sz="2300" i="1"/>
              <a:t>equal frequency in the same format</a:t>
            </a:r>
            <a:r>
              <a:rPr sz="2300"/>
              <a:t>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C65C2BC5-CBE0-0B41-A933-06823C68A007}"/>
              </a:ext>
            </a:extLst>
          </p:cNvPr>
          <p:cNvSpPr>
            <a:spLocks noGrp="1"/>
          </p:cNvSpPr>
          <p:nvPr>
            <p:ph sz="half" idx="49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</a:pPr>
            <a:r>
              <a:rPr sz="2200"/>
              <a:t>Cross-entropy training ≡ minimum code length.</a:t>
            </a:r>
            <a:r>
              <a:rPr sz="2400" b="1">
                <a:solidFill>
                  <a:srgbClr val="102A54"/>
                </a:solidFill>
              </a:rPr>
              <a:t/>
            </a:r>
            <a:endParaRPr lang="ru-RU"/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102A54"/>
                </a:solidFill>
              </a:rPr>
              <a:t>An MDL learner minimizes  L(M) + L(D | M).</a:t>
            </a:r>
            <a:r>
              <a:rPr sz="2200" b="1">
                <a:solidFill>
                  <a:srgbClr val="2E78C6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2E78C6"/>
                </a:solidFill>
              </a:rPr>
              <a:t>▸  </a:t>
            </a:r>
            <a:r>
              <a:rPr sz="2200" b="1">
                <a:solidFill>
                  <a:srgbClr val="2E78C6"/>
                </a:solidFill>
              </a:rPr>
              <a:t>Random:</a:t>
            </a:r>
            <a:r>
              <a:rPr sz="2200"/>
              <a:t>  K(T₂) ≫ K(T₁) → truth wins.</a:t>
            </a:r>
            <a:r>
              <a:rPr sz="2200" b="1">
                <a:solidFill>
                  <a:srgbClr val="E07A5F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E07A5F"/>
                </a:solidFill>
              </a:rPr>
              <a:t>▸  </a:t>
            </a:r>
            <a:r>
              <a:rPr sz="2200" b="1">
                <a:solidFill>
                  <a:srgbClr val="E07A5F"/>
                </a:solidFill>
              </a:rPr>
              <a:t>Coherent:</a:t>
            </a:r>
            <a:r>
              <a:rPr sz="2200"/>
              <a:t>  K(T₂) ≈ K(T₁) → no pref.</a:t>
            </a:r>
            <a:r>
              <a:rPr sz="2200" b="1">
                <a:solidFill>
                  <a:srgbClr val="1F4E79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4E79"/>
                </a:solidFill>
              </a:rPr>
              <a:t>▸  </a:t>
            </a:r>
            <a:r>
              <a:rPr sz="2200" b="1">
                <a:solidFill>
                  <a:srgbClr val="1F4E79"/>
                </a:solidFill>
              </a:rPr>
              <a:t>N rules + selector:</a:t>
            </a:r>
            <a:r>
              <a:rPr sz="2200"/>
              <a:t>  +O(n log N) bits.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2A62B78B-4CB2-224F-9688-D7CFE24F195F}"/>
              </a:ext>
            </a:extLst>
          </p:cNvPr>
          <p:cNvSpPr>
            <a:spLocks noGrp="1"/>
          </p:cNvSpPr>
          <p:nvPr>
            <p:ph sz="half" idx="50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</a:pPr>
            <a:r>
              <a:rPr sz="2200"/>
              <a:t>GPT-2-like transformers trained </a:t>
            </a:r>
            <a:r>
              <a:rPr sz="2200" i="1"/>
              <a:t>from scratch</a:t>
            </a:r>
            <a:r>
              <a:rPr sz="2200"/>
              <a:t>. Only the </a:t>
            </a:r>
            <a:r>
              <a:rPr sz="2200" b="1">
                <a:solidFill>
                  <a:srgbClr val="1F4E79"/>
                </a:solidFill>
              </a:rPr>
              <a:t>structure of errors</a:t>
            </a:r>
            <a:r>
              <a:rPr sz="2200"/>
              <a:t> varies between conditions.</a:t>
            </a:r>
            <a:r>
              <a:rPr sz="2100" b="1">
                <a:solidFill>
                  <a:srgbClr val="1F4E79"/>
                </a:solidFill>
              </a:rPr>
              <a:t/>
            </a:r>
            <a:endParaRPr lang="ru-RU"/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4E79"/>
                </a:solidFill>
              </a:rPr>
              <a:t>▸  </a:t>
            </a:r>
            <a:r>
              <a:rPr sz="2100" b="1"/>
              <a:t>Sizes:</a:t>
            </a:r>
            <a:r>
              <a:rPr sz="2100"/>
              <a:t>  3.5 M · 12 M · 26 M · 86 M · Qwen3-0.6B (420 M non-emb.) · ≈1 B.</a:t>
            </a:r>
            <a:r>
              <a:rPr sz="2100" b="1">
                <a:solidFill>
                  <a:srgbClr val="1F4E79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4E79"/>
                </a:solidFill>
              </a:rPr>
              <a:t>▸  </a:t>
            </a:r>
            <a:r>
              <a:rPr sz="2100" b="1"/>
              <a:t>Seeds:</a:t>
            </a:r>
            <a:r>
              <a:rPr sz="2100"/>
              <a:t>  core GPT-2 2–4 · Qwen3-0.6B 3 · ≈1 B single-seed sanity check.</a:t>
            </a:r>
            <a:r>
              <a:rPr sz="2100" b="1">
                <a:solidFill>
                  <a:srgbClr val="1F4E79"/>
                </a:solidFill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4E79"/>
                </a:solidFill>
              </a:rPr>
              <a:t>▸  </a:t>
            </a:r>
            <a:r>
              <a:rPr sz="2100" b="1"/>
              <a:t>Metric:</a:t>
            </a:r>
            <a:r>
              <a:rPr sz="2100"/>
              <a:t>  paired accuracy — does the model assign lower NLL to the correct completion? </a:t>
            </a:r>
            <a:r>
              <a:rPr sz="1800" i="1">
                <a:solidFill>
                  <a:srgbClr val="4A5568"/>
                </a:solidFill>
              </a:rPr>
              <a:t>(forced-choice diagnostic, not generative accuracy.)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87972B7-7699-FB40-9149-6E9D115B1A9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wrap="square"/>
          <a:lstStyle/>
          <a:p>
            <a:pPr algn="l"/>
            <a:r>
              <a:rPr sz="2600" b="1">
                <a:solidFill>
                  <a:srgbClr val="102A54"/>
                </a:solidFill>
              </a:rPr>
              <a:t>Central contrast — random vs. coherent errors  (paired accuracy, math)</a:t>
            </a:r>
            <a:endParaRPr lang="ru-RU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98FE8DA-A849-E143-B700-B93368B31F0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02A54"/>
                </a:solidFill>
              </a:rPr>
              <a:t>Multi-rule crossover — the key control. </a:t>
            </a:r>
            <a:r>
              <a:rPr sz="2400"/>
              <a:t>With </a:t>
            </a:r>
            <a:r>
              <a:rPr sz="2400" b="1">
                <a:solidFill>
                  <a:srgbClr val="E07A5F"/>
                </a:solidFill>
              </a:rPr>
              <a:t>N=1</a:t>
            </a:r>
            <a:r>
              <a:rPr sz="2400"/>
              <a:t> coherent rule the model is at chance; with </a:t>
            </a:r>
            <a:r>
              <a:rPr sz="2400" b="1">
                <a:solidFill>
                  <a:srgbClr val="1F4E79"/>
                </a:solidFill>
              </a:rPr>
              <a:t>N=2</a:t>
            </a:r>
            <a:r>
              <a:rPr sz="2400"/>
              <a:t> it jumps to 77.6 % and at </a:t>
            </a:r>
            <a:r>
              <a:rPr sz="2400" b="1">
                <a:solidFill>
                  <a:srgbClr val="2E78C6"/>
                </a:solidFill>
              </a:rPr>
              <a:t>N=10</a:t>
            </a:r>
            <a:r>
              <a:rPr sz="2400"/>
              <a:t> to 88.3 %, </a:t>
            </a:r>
            <a:r>
              <a:rPr sz="2400" b="1" i="1"/>
              <a:t>above</a:t>
            </a:r>
            <a:r>
              <a:rPr sz="2400"/>
              <a:t> pure-random (79.5 %). Selector costs log N bits per problem — consistent with the MDL prediction.</a:t>
            </a:r>
            <a:r>
              <a:rPr sz="2100" i="1">
                <a:solidFill>
                  <a:srgbClr val="4A5568"/>
                </a:solidFill>
              </a:rPr>
              <a:t/>
            </a:r>
            <a:endParaRPr lang="ru-RU"/>
          </a:p>
          <a:p>
            <a:pPr algn="l">
              <a:lnSpc>
                <a:spcPct val="120000"/>
              </a:lnSpc>
            </a:pPr>
            <a:r>
              <a:rPr sz="2100" i="1">
                <a:solidFill>
                  <a:srgbClr val="4A5568"/>
                </a:solidFill>
              </a:rPr>
              <a:t>Lexical-diversity / token-corruption hypotheses do not predict the N=1 → N=2 jump.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A4016007-DEFA-DB47-AF1D-D2D5CC8359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80000" y="27828000"/>
            <a:ext cx="10044000" cy="4860000"/>
          </a:xfrm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02A54"/>
                </a:solidFill>
              </a:rPr>
              <a:t>The same contrast holds on natural text.</a:t>
            </a:r>
            <a:r>
              <a:rPr sz="2300" b="1">
                <a:solidFill>
                  <a:srgbClr val="2E78C6"/>
                </a:solidFill>
              </a:rPr>
              <a:t/>
            </a:r>
            <a:endParaRPr lang="ru-RU"/>
          </a:p>
          <a:p>
            <a:pPr algn="l">
              <a:lnSpc>
                <a:spcPct val="120000"/>
              </a:lnSpc>
            </a:pPr>
            <a:r>
              <a:rPr sz="2300" b="1">
                <a:solidFill>
                  <a:srgbClr val="2E78C6"/>
                </a:solidFill>
              </a:rPr>
              <a:t>▸  </a:t>
            </a:r>
            <a:r>
              <a:rPr sz="2300" b="1"/>
              <a:t>Random entity substitution:  </a:t>
            </a:r>
            <a:r>
              <a:rPr sz="2300" b="1">
                <a:solidFill>
                  <a:srgbClr val="195591"/>
                </a:solidFill>
              </a:rPr>
              <a:t>≈ 71 % across all sizes.</a:t>
            </a:r>
            <a:r>
              <a:rPr sz="2300" b="1">
                <a:solidFill>
                  <a:srgbClr val="E07A5F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300" b="1">
                <a:solidFill>
                  <a:srgbClr val="E07A5F"/>
                </a:solidFill>
              </a:rPr>
              <a:t>▸  </a:t>
            </a:r>
            <a:r>
              <a:rPr sz="2300" b="1"/>
              <a:t>Coherent global mapping </a:t>
            </a:r>
            <a:r>
              <a:rPr sz="2200" i="1"/>
              <a:t>("France"→"Japan", "Paris"→"Tokyo"):  </a:t>
            </a:r>
            <a:r>
              <a:rPr sz="2300" b="1">
                <a:solidFill>
                  <a:srgbClr val="B85A40"/>
                </a:solidFill>
              </a:rPr>
              <a:t>46 – 49 % (chance).</a:t>
            </a:r>
            <a:r>
              <a:rPr sz="2100"/>
              <a:t/>
            </a:r>
          </a:p>
          <a:p>
            <a:pPr algn="l">
              <a:lnSpc>
                <a:spcPct val="120000"/>
              </a:lnSpc>
            </a:pPr>
            <a:r>
              <a:rPr sz="2100"/>
              <a:t>Gap is smaller on language than math (+22 pp vs. +34 pp): locally fluent errors compress better, dampening — but not eliminating — the effect.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25950" y="34524950"/>
            <a:ext cx="13352213" cy="3658690"/>
          </a:xfrm>
          <a:prstGeom prst="rect">
            <a:avLst/>
          </a:prstGeom>
          <a:noFill/>
        </p:spPr>
        <p:txBody>
          <a:bodyPr wrap="square" tIns="36000" bIns="36000" lIns="72000" rIns="72000">
            <a:spAutoFit/>
          </a:bodyPr>
          <a:lstStyle/>
          <a:p>
            <a:pPr algn="l" marL="0" indent="0">
              <a:lnSpc>
                <a:spcPct val="105000"/>
              </a:lnSpc>
            </a:pPr>
            <a:r>
              <a:rPr sz="2600" b="1">
                <a:solidFill>
                  <a:srgbClr val="102A54"/>
                </a:solidFill>
              </a:rPr>
              <a:t>Wikipedia entity substitution — paired accuracy</a:t>
            </a:r>
            <a:r>
              <a:rPr sz="2100" b="1">
                <a:solidFill>
                  <a:srgbClr val="1F4E79"/>
                </a:solidFill>
                <a:latin typeface="Consolas"/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2100" b="1">
                <a:solidFill>
                  <a:srgbClr val="1F4E79"/>
                </a:solidFill>
                <a:latin typeface="Consolas"/>
              </a:rPr>
              <a:t>   Size               Random      Coherent</a:t>
            </a:r>
            <a:r>
              <a:rPr sz="2100">
                <a:latin typeface="Consolas"/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2100">
                <a:latin typeface="Consolas"/>
              </a:rPr>
              <a:t>   tiny    3.5 M      69.6 %        48.7 %</a:t>
            </a:r>
            <a:r>
              <a:rPr sz="2100">
                <a:latin typeface="Consolas"/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2100">
                <a:latin typeface="Consolas"/>
              </a:rPr>
              <a:t>   small   12 M       70.7 %        46.6 %</a:t>
            </a:r>
            <a:r>
              <a:rPr sz="2100">
                <a:latin typeface="Consolas"/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2100">
                <a:latin typeface="Consolas"/>
              </a:rPr>
              <a:t>   medium  26 M       71.5 %        46.4 %</a:t>
            </a:r>
            <a:r>
              <a:rPr sz="2100">
                <a:latin typeface="Consolas"/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2100">
                <a:latin typeface="Consolas"/>
              </a:rPr>
              <a:t>   large   86 M       71.4 %        45.9 %</a:t>
            </a:r>
            <a:r>
              <a:rPr sz="1800" i="1">
                <a:solidFill>
                  <a:srgbClr val="4A5568"/>
                </a:solidFill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1800" i="1">
                <a:solidFill>
                  <a:srgbClr val="4A5568"/>
                </a:solidFill>
              </a:rPr>
              <a:t>Qwen3 0.42 B math-only:  rand 86.8 %  ·  coh 50.6 %</a:t>
            </a:r>
            <a:r>
              <a:rPr sz="1800" i="1">
                <a:solidFill>
                  <a:srgbClr val="4A5568"/>
                </a:solidFill>
              </a:rPr>
              <a:t/>
            </a:r>
          </a:p>
          <a:p>
            <a:pPr algn="l" marL="0" indent="0">
              <a:lnSpc>
                <a:spcPct val="105000"/>
              </a:lnSpc>
            </a:pPr>
            <a:r>
              <a:rPr sz="1800" i="1">
                <a:solidFill>
                  <a:srgbClr val="4A5568"/>
                </a:solidFill>
              </a:rPr>
              <a:t>Qwen3 ≈ 1 B (FineWeb+math):  rand </a:t>
            </a:r>
            <a:r>
              <a:rPr sz="1800" b="1">
                <a:solidFill>
                  <a:srgbClr val="195591"/>
                </a:solidFill>
              </a:rPr>
              <a:t>76.8 %</a:t>
            </a:r>
            <a:r>
              <a:rPr sz="1800" i="1">
                <a:solidFill>
                  <a:srgbClr val="4A5568"/>
                </a:solidFill>
              </a:rPr>
              <a:t>  ·  coh </a:t>
            </a:r>
            <a:r>
              <a:rPr sz="1800" b="1">
                <a:solidFill>
                  <a:srgbClr val="B85A40"/>
                </a:solidFill>
              </a:rPr>
              <a:t>46.7 %</a:t>
            </a:r>
            <a:r>
              <a:rPr sz="1800" i="1">
                <a:solidFill>
                  <a:srgbClr val="4A5568"/>
                </a:solidFill>
              </a:rPr>
              <a:t>   (math = 8 % of training)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36814" y="38431788"/>
            <a:ext cx="13341350" cy="1524000"/>
          </a:xfrm>
          <a:prstGeom prst="rect">
            <a:avLst/>
          </a:prstGeom>
          <a:noFill/>
        </p:spPr>
        <p:txBody>
          <a:bodyPr wrap="square" tIns="72000" bIns="36000" lIns="108000" rIns="108000">
            <a:spAutoFit/>
          </a:bodyPr>
          <a:lstStyle/>
          <a:p>
            <a:pPr algn="l" marL="0" indent="0">
              <a:lnSpc>
                <a:spcPct val="115000"/>
              </a:lnSpc>
            </a:pPr>
            <a:r>
              <a:rPr sz="3000" b="1">
                <a:solidFill>
                  <a:srgbClr val="195591"/>
                </a:solidFill>
              </a:rPr>
              <a:t>Takeaway.  </a:t>
            </a:r>
            <a:r>
              <a:rPr sz="2000">
                <a:solidFill>
                  <a:srgbClr val="1A1A1A"/>
                </a:solidFill>
              </a:rPr>
              <a:t>In controlled contradictory corpora, truth bias is </a:t>
            </a:r>
            <a:r>
              <a:rPr sz="2000" b="1">
                <a:solidFill>
                  <a:srgbClr val="1A1A1A"/>
                </a:solidFill>
              </a:rPr>
              <a:t>not intrinsic</a:t>
            </a:r>
            <a:r>
              <a:rPr sz="2000">
                <a:solidFill>
                  <a:srgbClr val="1A1A1A"/>
                </a:solidFill>
              </a:rPr>
              <a:t> to next-token prediction — it is a </a:t>
            </a:r>
            <a:r>
              <a:rPr sz="2000" b="1">
                <a:solidFill>
                  <a:srgbClr val="B85A40"/>
                </a:solidFill>
              </a:rPr>
              <a:t>compression artifact</a:t>
            </a:r>
            <a:r>
              <a:rPr sz="2000">
                <a:solidFill>
                  <a:srgbClr val="1A1A1A"/>
                </a:solidFill>
              </a:rPr>
              <a:t>: it appears when false answers are harder to compress than true ones.</a:t>
            </a:r>
            <a:r>
              <a:rPr sz="1900" b="1">
                <a:solidFill>
                  <a:srgbClr val="1F4E79"/>
                </a:solidFill>
              </a:rPr>
              <a:t/>
            </a:r>
          </a:p>
          <a:p>
            <a:pPr algn="l" marL="0" indent="0">
              <a:lnSpc>
                <a:spcPct val="115000"/>
              </a:lnSpc>
            </a:pPr>
            <a:r>
              <a:rPr sz="1900" b="1">
                <a:solidFill>
                  <a:srgbClr val="1F4E79"/>
                </a:solidFill>
              </a:rPr>
              <a:t>▸  </a:t>
            </a:r>
            <a:r>
              <a:rPr sz="1900" b="1">
                <a:solidFill>
                  <a:srgbClr val="1A1A1A"/>
                </a:solidFill>
              </a:rPr>
              <a:t>Coherent misinformation</a:t>
            </a:r>
            <a:r>
              <a:rPr sz="1900">
                <a:solidFill>
                  <a:srgbClr val="1A1A1A"/>
                </a:solidFill>
              </a:rPr>
              <a:t> evades the filter at equal frequency.</a:t>
            </a:r>
            <a:r>
              <a:rPr sz="1900" b="1">
                <a:solidFill>
                  <a:srgbClr val="1F4E79"/>
                </a:solidFill>
              </a:rPr>
              <a:t/>
            </a:r>
          </a:p>
          <a:p>
            <a:pPr algn="l" marL="0" indent="0">
              <a:lnSpc>
                <a:spcPct val="115000"/>
              </a:lnSpc>
            </a:pPr>
            <a:r>
              <a:rPr sz="1900" b="1">
                <a:solidFill>
                  <a:srgbClr val="1F4E79"/>
                </a:solidFill>
              </a:rPr>
              <a:t>▸  </a:t>
            </a:r>
            <a:r>
              <a:rPr sz="1900">
                <a:solidFill>
                  <a:srgbClr val="1A1A1A"/>
                </a:solidFill>
              </a:rPr>
              <a:t>Verification scales </a:t>
            </a:r>
            <a:r>
              <a:rPr sz="1900" b="1" i="1">
                <a:solidFill>
                  <a:srgbClr val="B85A40"/>
                </a:solidFill>
              </a:rPr>
              <a:t>inversely</a:t>
            </a:r>
            <a:r>
              <a:rPr sz="1900">
                <a:solidFill>
                  <a:srgbClr val="1A1A1A"/>
                </a:solidFill>
              </a:rPr>
              <a:t> — bigger models absorb coherent patterns more readily.</a:t>
            </a:r>
            <a:r>
              <a:rPr sz="1900">
                <a:solidFill>
                  <a:srgbClr val="1A1A1A"/>
                </a:solidFill>
              </a:rPr>
              <a:t/>
            </a:r>
          </a:p>
          <a:p>
            <a:pPr algn="l" marL="0" indent="0">
              <a:lnSpc>
                <a:spcPct val="115000"/>
              </a:lnSpc>
            </a:pPr>
            <a:r>
              <a:rPr sz="1900">
                <a:solidFill>
                  <a:srgbClr val="1A1A1A"/>
                </a:solidFill>
              </a:rPr>
              <a:t>▸  Diverse errors filter out, </a:t>
            </a:r>
            <a:r>
              <a:rPr sz="1900" b="1" i="1">
                <a:solidFill>
                  <a:srgbClr val="195591"/>
                </a:solidFill>
              </a:rPr>
              <a:t>coordinated</a:t>
            </a:r>
            <a:r>
              <a:rPr sz="1900">
                <a:solidFill>
                  <a:srgbClr val="1A1A1A"/>
                </a:solidFill>
              </a:rPr>
              <a:t> ones may not. Relevant for alignment, data curation, hallucinations.</a:t>
            </a:r>
            <a:r>
              <a:rPr sz="1600" i="1">
                <a:solidFill>
                  <a:srgbClr val="4A5568"/>
                </a:solidFill>
              </a:rPr>
              <a:t/>
            </a:r>
          </a:p>
          <a:p>
            <a:pPr algn="l" marL="0" indent="0">
              <a:lnSpc>
                <a:spcPct val="115000"/>
              </a:lnSpc>
            </a:pPr>
            <a:r>
              <a:rPr sz="1600" i="1">
                <a:solidFill>
                  <a:srgbClr val="4A5568"/>
                </a:solidFill>
              </a:rPr>
              <a:t>Whether this extends to large-scale pretraining (multi-billion) remains an open question.</a:t>
            </a:r>
          </a:p>
        </p:txBody>
      </p:sp>
      <p:pic>
        <p:nvPicPr>
          <p:cNvPr id="36" name="Picture 35" descr="fig_denoising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08" y="14724000"/>
            <a:ext cx="9889384" cy="8424000"/>
          </a:xfrm>
          <a:prstGeom prst="rect">
            <a:avLst/>
          </a:prstGeom>
        </p:spPr>
      </p:pic>
      <p:pic>
        <p:nvPicPr>
          <p:cNvPr id="37" name="Picture 36" descr="fig_multi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1135" y="22140000"/>
            <a:ext cx="10637729" cy="7200000"/>
          </a:xfrm>
          <a:prstGeom prst="rect">
            <a:avLst/>
          </a:prstGeom>
        </p:spPr>
      </p:pic>
      <p:pic>
        <p:nvPicPr>
          <p:cNvPr id="38" name="Picture 37" descr="fig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551" y="34524950"/>
            <a:ext cx="8988811" cy="543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0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STER">
      <a:dk1>
        <a:srgbClr val="000000"/>
      </a:dk1>
      <a:lt1>
        <a:srgbClr val="FCFCFC"/>
      </a:lt1>
      <a:dk2>
        <a:srgbClr val="44546A"/>
      </a:dk2>
      <a:lt2>
        <a:srgbClr val="E7E6E6"/>
      </a:lt2>
      <a:accent1>
        <a:srgbClr val="00DC00"/>
      </a:accent1>
      <a:accent2>
        <a:srgbClr val="03C2FE"/>
      </a:accent2>
      <a:accent3>
        <a:srgbClr val="F900FF"/>
      </a:accent3>
      <a:accent4>
        <a:srgbClr val="B1F4B2"/>
      </a:accent4>
      <a:accent5>
        <a:srgbClr val="B3ECFF"/>
      </a:accent5>
      <a:accent6>
        <a:srgbClr val="FEB2FF"/>
      </a:accent6>
      <a:hlink>
        <a:srgbClr val="006D8F"/>
      </a:hlink>
      <a:folHlink>
        <a:srgbClr val="97009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451</Words>
  <Application>Microsoft Macintosh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SB Sans Text</vt:lpstr>
      <vt:lpstr>SB Sans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 as a Compression Artifact in Language Model Training</dc:title>
  <dc:creator>Konstantin Krestnikov</dc:creator>
  <cp:lastModifiedBy>Konstantin Krestnikov</cp:lastModifiedBy>
  <cp:revision>37</cp:revision>
  <dcterms:created xsi:type="dcterms:W3CDTF">2025-11-26T14:01:18Z</dcterms:created>
  <dcterms:modified xsi:type="dcterms:W3CDTF">2025-11-26T16:19:44Z</dcterms:modified>
</cp:coreProperties>
</file>